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Model Accuracy Comparison</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4A6FA5"/>
            </a:solidFill>
            <a:effectLst/>
          </c:spPr>
          <c:invertIfNegative val="0"/>
          <c:dLbls>
            <c:numFmt formatCode="#,##0" sourceLinked="0"/>
            <c:txPr>
              <a:bodyPr/>
              <a:lstStyle/>
              <a:p>
                <a:pPr>
                  <a:defRPr b="1" i="0" strike="noStrike" sz="1000" u="none">
                    <a:solidFill>
                      <a:srgbClr val="1B2430"/>
                    </a:solidFill>
                    <a:latin typeface="Arial"/>
                  </a:defRPr>
                </a:pPr>
              </a:p>
            </c:txPr>
            <c:showLegendKey val="0"/>
            <c:showVal val="1"/>
            <c:showCatName val="0"/>
            <c:showSerName val="0"/>
            <c:showPercent val="0"/>
            <c:showBubbleSize val="0"/>
            <c:showLeaderLines val="0"/>
          </c:dLbls>
          <c:dPt>
            <c:idx val="0"/>
            <c:invertIfNegative val="0"/>
            <c:bubble3D val="0"/>
            <c:spPr>
              <a:solidFill>
                <a:srgbClr val="4A6FA5"/>
              </a:solidFill>
              <a:effectLst/>
            </c:spPr>
          </c:dPt>
          <c:dPt>
            <c:idx val="1"/>
            <c:invertIfNegative val="0"/>
            <c:bubble3D val="0"/>
            <c:spPr>
              <a:solidFill>
                <a:srgbClr val="8FA8D6"/>
              </a:solidFill>
              <a:effectLst/>
            </c:spPr>
          </c:dPt>
          <c:dPt>
            <c:idx val="2"/>
            <c:invertIfNegative val="0"/>
            <c:bubble3D val="0"/>
            <c:spPr>
              <a:solidFill>
                <a:srgbClr val="E8A33D"/>
              </a:solidFill>
              <a:effectLst/>
            </c:spPr>
          </c:dPt>
          <c:cat>
            <c:multiLvlStrRef>
              <c:f>Sheet1!$A$2:$A$4</c:f>
              <c:multiLvlStrCache>
                <c:ptCount val="3"/>
                <c:lvl>
                  <c:pt idx="0">
                    <c:v>Decision Tree</c:v>
                  </c:pt>
                  <c:pt idx="1">
                    <c:v>Logistic Regression</c:v>
                  </c:pt>
                  <c:pt idx="2">
                    <c:v>XGBoost</c:v>
                  </c:pt>
                </c:lvl>
              </c:multiLvlStrCache>
            </c:multiLvlStrRef>
          </c:cat>
          <c:val>
            <c:numRef>
              <c:f>Sheet1!$B$2:$B$4</c:f>
              <c:numCache>
                <c:formatCode>General</c:formatCode>
                <c:ptCount val="3"/>
                <c:pt idx="0">
                  <c:v>0.8716</c:v>
                </c:pt>
                <c:pt idx="1">
                  <c:v>0.8955</c:v>
                </c:pt>
                <c:pt idx="2">
                  <c:v>0.9224</c:v>
                </c:pt>
              </c:numCache>
            </c:numRef>
          </c:val>
        </c:ser>
        <c:dLbls>
          <c:numFmt formatCode="#,##0" sourceLinked="0"/>
          <c:txPr>
            <a:bodyPr/>
            <a:lstStyle/>
            <a:p>
              <a:pPr>
                <a:defRPr b="1" i="0" strike="noStrike" sz="10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2"/>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9525" cap="flat">
              <a:solidFill>
                <a:srgbClr val="E2E8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Model F1-Score Comparison</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6B4A9E"/>
            </a:solidFill>
            <a:effectLst/>
          </c:spPr>
          <c:invertIfNegative val="0"/>
          <c:dLbls>
            <c:numFmt formatCode="#,##0" sourceLinked="0"/>
            <c:txPr>
              <a:bodyPr/>
              <a:lstStyle/>
              <a:p>
                <a:pPr>
                  <a:defRPr b="1" i="0" strike="noStrike" sz="1000" u="none">
                    <a:solidFill>
                      <a:srgbClr val="1B2430"/>
                    </a:solidFill>
                    <a:latin typeface="Arial"/>
                  </a:defRPr>
                </a:pPr>
              </a:p>
            </c:txPr>
            <c:showLegendKey val="0"/>
            <c:showVal val="1"/>
            <c:showCatName val="0"/>
            <c:showSerName val="0"/>
            <c:showPercent val="0"/>
            <c:showBubbleSize val="0"/>
            <c:showLeaderLines val="0"/>
          </c:dLbls>
          <c:dPt>
            <c:idx val="0"/>
            <c:invertIfNegative val="0"/>
            <c:bubble3D val="0"/>
            <c:spPr>
              <a:solidFill>
                <a:srgbClr val="6B4A9E"/>
              </a:solidFill>
              <a:effectLst/>
            </c:spPr>
          </c:dPt>
          <c:dPt>
            <c:idx val="1"/>
            <c:invertIfNegative val="0"/>
            <c:bubble3D val="0"/>
            <c:spPr>
              <a:solidFill>
                <a:srgbClr val="A98FD6"/>
              </a:solidFill>
              <a:effectLst/>
            </c:spPr>
          </c:dPt>
          <c:dPt>
            <c:idx val="2"/>
            <c:invertIfNegative val="0"/>
            <c:bubble3D val="0"/>
            <c:spPr>
              <a:solidFill>
                <a:srgbClr val="E8A33D"/>
              </a:solidFill>
              <a:effectLst/>
            </c:spPr>
          </c:dPt>
          <c:cat>
            <c:multiLvlStrRef>
              <c:f>Sheet1!$A$2:$A$4</c:f>
              <c:multiLvlStrCache>
                <c:ptCount val="3"/>
                <c:lvl>
                  <c:pt idx="0">
                    <c:v>Decision Tree</c:v>
                  </c:pt>
                  <c:pt idx="1">
                    <c:v>Logistic Regression</c:v>
                  </c:pt>
                  <c:pt idx="2">
                    <c:v>XGBoost</c:v>
                  </c:pt>
                </c:lvl>
              </c:multiLvlStrCache>
            </c:multiLvlStrRef>
          </c:cat>
          <c:val>
            <c:numRef>
              <c:f>Sheet1!$B$2:$B$4</c:f>
              <c:numCache>
                <c:formatCode>General</c:formatCode>
                <c:ptCount val="3"/>
                <c:pt idx="0">
                  <c:v>0.8706</c:v>
                </c:pt>
                <c:pt idx="1">
                  <c:v>0.8948</c:v>
                </c:pt>
                <c:pt idx="2">
                  <c:v>0.9212</c:v>
                </c:pt>
              </c:numCache>
            </c:numRef>
          </c:val>
        </c:ser>
        <c:dLbls>
          <c:numFmt formatCode="#,##0" sourceLinked="0"/>
          <c:txPr>
            <a:bodyPr/>
            <a:lstStyle/>
            <a:p>
              <a:pPr>
                <a:defRPr b="1" i="0" strike="noStrike" sz="10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2"/>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9525" cap="flat">
              <a:solidFill>
                <a:srgbClr val="E2E8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830"/>
        </a:solidFill>
      </p:bgPr>
    </p:bg>
    <p:spTree>
      <p:nvGrpSpPr>
        <p:cNvPr id="1" name=""/>
        <p:cNvGrpSpPr/>
        <p:nvPr/>
      </p:nvGrpSpPr>
      <p:grpSpPr>
        <a:xfrm>
          <a:off x="0" y="0"/>
          <a:ext cx="0" cy="0"/>
          <a:chOff x="0" y="0"/>
          <a:chExt cx="0" cy="0"/>
        </a:xfrm>
      </p:grpSpPr>
      <p:sp>
        <p:nvSpPr>
          <p:cNvPr id="2" name="Shape 0"/>
          <p:cNvSpPr/>
          <p:nvPr/>
        </p:nvSpPr>
        <p:spPr>
          <a:xfrm>
            <a:off x="9692640" y="2926080"/>
            <a:ext cx="4754880" cy="4754880"/>
          </a:xfrm>
          <a:prstGeom prst="ellipse">
            <a:avLst/>
          </a:prstGeom>
          <a:solidFill>
            <a:srgbClr val="1F3A63">
              <a:alpha val="45000"/>
            </a:srgbClr>
          </a:solidFill>
          <a:ln/>
        </p:spPr>
      </p:sp>
      <p:sp>
        <p:nvSpPr>
          <p:cNvPr id="3" name="Shape 1"/>
          <p:cNvSpPr/>
          <p:nvPr/>
        </p:nvSpPr>
        <p:spPr>
          <a:xfrm>
            <a:off x="10424160" y="3657600"/>
            <a:ext cx="3291840" cy="3291840"/>
          </a:xfrm>
          <a:prstGeom prst="ellipse">
            <a:avLst/>
          </a:prstGeom>
          <a:solidFill>
            <a:srgbClr val="1F3A63">
              <a:alpha val="65000"/>
            </a:srgbClr>
          </a:solidFill>
          <a:ln/>
        </p:spPr>
      </p:sp>
      <p:sp>
        <p:nvSpPr>
          <p:cNvPr id="4" name="Shape 2"/>
          <p:cNvSpPr/>
          <p:nvPr/>
        </p:nvSpPr>
        <p:spPr>
          <a:xfrm>
            <a:off x="11109960" y="4343400"/>
            <a:ext cx="1920240" cy="1920240"/>
          </a:xfrm>
          <a:prstGeom prst="ellipse">
            <a:avLst/>
          </a:prstGeom>
          <a:solidFill>
            <a:srgbClr val="E8A33D">
              <a:alpha val="45000"/>
            </a:srgbClr>
          </a:solidFill>
          <a:ln/>
        </p:spPr>
      </p:sp>
      <p:sp>
        <p:nvSpPr>
          <p:cNvPr id="5" name="Text 3"/>
          <p:cNvSpPr/>
          <p:nvPr/>
        </p:nvSpPr>
        <p:spPr>
          <a:xfrm>
            <a:off x="548640" y="1965960"/>
            <a:ext cx="82296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DATA SCIENCE FINAL PROJECT</a:t>
            </a:r>
            <a:endParaRPr lang="en-US" sz="1400" dirty="0"/>
          </a:p>
        </p:txBody>
      </p:sp>
      <p:sp>
        <p:nvSpPr>
          <p:cNvPr id="6" name="Text 4"/>
          <p:cNvSpPr/>
          <p:nvPr/>
        </p:nvSpPr>
        <p:spPr>
          <a:xfrm>
            <a:off x="548640" y="2331720"/>
            <a:ext cx="868680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Responsible AI for</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Predictive Underwriting</a:t>
            </a:r>
            <a:endParaRPr lang="en-US" sz="4400" dirty="0"/>
          </a:p>
        </p:txBody>
      </p:sp>
      <p:sp>
        <p:nvSpPr>
          <p:cNvPr id="7" name="Text 5"/>
          <p:cNvSpPr/>
          <p:nvPr/>
        </p:nvSpPr>
        <p:spPr>
          <a:xfrm>
            <a:off x="548640" y="4114800"/>
            <a:ext cx="7589520" cy="640080"/>
          </a:xfrm>
          <a:prstGeom prst="rect">
            <a:avLst/>
          </a:prstGeom>
          <a:noFill/>
          <a:ln/>
        </p:spPr>
        <p:txBody>
          <a:bodyPr wrap="square" lIns="0" tIns="0" rIns="0" bIns="0" rtlCol="0" anchor="ctr"/>
          <a:lstStyle/>
          <a:p>
            <a:pPr indent="0" marL="0">
              <a:buNone/>
            </a:pPr>
            <a:r>
              <a:rPr lang="en-US" sz="1400" i="1" dirty="0">
                <a:solidFill>
                  <a:srgbClr val="8FA8D6"/>
                </a:solidFill>
                <a:latin typeface="Calibri" pitchFamily="34" charset="0"/>
                <a:ea typeface="Calibri" pitchFamily="34" charset="-122"/>
                <a:cs typeface="Calibri" pitchFamily="34" charset="-120"/>
              </a:rPr>
              <a:t>Building guardrails for algorithmic risk pricing — accuracy, explainability, and fairness as named pipeline stages, not afterthoughts.</a:t>
            </a:r>
            <a:endParaRPr lang="en-US" sz="1400" dirty="0"/>
          </a:p>
        </p:txBody>
      </p:sp>
      <p:sp>
        <p:nvSpPr>
          <p:cNvPr id="8" name="Shape 6"/>
          <p:cNvSpPr/>
          <p:nvPr/>
        </p:nvSpPr>
        <p:spPr>
          <a:xfrm>
            <a:off x="548640" y="5074920"/>
            <a:ext cx="2926080" cy="0"/>
          </a:xfrm>
          <a:prstGeom prst="line">
            <a:avLst/>
          </a:prstGeom>
          <a:noFill/>
          <a:ln w="12700">
            <a:solidFill>
              <a:srgbClr val="3A507A"/>
            </a:solidFill>
            <a:prstDash val="solid"/>
          </a:ln>
        </p:spPr>
      </p:sp>
      <p:sp>
        <p:nvSpPr>
          <p:cNvPr id="9" name="Text 7"/>
          <p:cNvSpPr/>
          <p:nvPr/>
        </p:nvSpPr>
        <p:spPr>
          <a:xfrm>
            <a:off x="548640" y="5257800"/>
            <a:ext cx="6400800" cy="1005840"/>
          </a:xfrm>
          <a:prstGeom prst="rect">
            <a:avLst/>
          </a:prstGeom>
          <a:noFill/>
          <a:ln/>
        </p:spPr>
        <p:txBody>
          <a:bodyPr wrap="square" lIns="0" tIns="0" rIns="0" bIns="0" rtlCol="0" anchor="ctr"/>
          <a:lstStyle/>
          <a:p>
            <a:pPr indent="0" marL="0">
              <a:lnSpc>
                <a:spcPct val="130000"/>
              </a:lnSpc>
              <a:buNone/>
            </a:pPr>
            <a:r>
              <a:rPr lang="en-US" sz="1300" b="1" dirty="0">
                <a:solidFill>
                  <a:srgbClr val="C7D2E8"/>
                </a:solidFill>
                <a:latin typeface="Calibri" pitchFamily="34" charset="0"/>
                <a:ea typeface="Calibri" pitchFamily="34" charset="-122"/>
                <a:cs typeface="Calibri" pitchFamily="34" charset="-120"/>
              </a:rPr>
              <a:t>Joazil Giscard  &amp;  Ziauddin Habibi</a:t>
            </a:r>
            <a:endParaRPr lang="en-US" sz="1300" dirty="0"/>
          </a:p>
          <a:p>
            <a:pPr indent="0" marL="0">
              <a:lnSpc>
                <a:spcPct val="130000"/>
              </a:lnSpc>
              <a:buNone/>
            </a:pPr>
            <a:r>
              <a:rPr lang="en-US" sz="1300" dirty="0">
                <a:solidFill>
                  <a:srgbClr val="C7D2E8"/>
                </a:solidFill>
                <a:latin typeface="Calibri" pitchFamily="34" charset="0"/>
                <a:ea typeface="Calibri" pitchFamily="34" charset="-122"/>
                <a:cs typeface="Calibri" pitchFamily="34" charset="-120"/>
              </a:rPr>
              <a:t>MLA  |  6/16/2026</a:t>
            </a:r>
            <a:endParaRPr lang="en-US" sz="1300" dirty="0"/>
          </a:p>
          <a:p>
            <a:pPr indent="0" marL="0">
              <a:lnSpc>
                <a:spcPct val="130000"/>
              </a:lnSpc>
              <a:buNone/>
            </a:pPr>
            <a:r>
              <a:rPr lang="en-US" sz="1300" dirty="0">
                <a:solidFill>
                  <a:srgbClr val="C7D2E8"/>
                </a:solidFill>
                <a:latin typeface="Calibri" pitchFamily="34" charset="0"/>
                <a:ea typeface="Calibri" pitchFamily="34" charset="-122"/>
                <a:cs typeface="Calibri" pitchFamily="34" charset="-120"/>
              </a:rPr>
              <a:t>Instructors: Milan McGraw &amp; Jujuan McGee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CONTEXT</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Background</a:t>
            </a:r>
            <a:endParaRPr lang="en-US" sz="3000" dirty="0"/>
          </a:p>
        </p:txBody>
      </p:sp>
      <p:sp>
        <p:nvSpPr>
          <p:cNvPr id="4" name="Text 2"/>
          <p:cNvSpPr/>
          <p:nvPr/>
        </p:nvSpPr>
        <p:spPr>
          <a:xfrm>
            <a:off x="548640" y="1417320"/>
            <a:ext cx="10789920" cy="457200"/>
          </a:xfrm>
          <a:prstGeom prst="rect">
            <a:avLst/>
          </a:prstGeom>
          <a:noFill/>
          <a:ln/>
        </p:spPr>
        <p:txBody>
          <a:bodyPr wrap="square" lIns="0" tIns="0" rIns="0" bIns="0" rtlCol="0" anchor="ctr"/>
          <a:lstStyle/>
          <a:p>
            <a:pPr indent="0" marL="0">
              <a:buNone/>
            </a:pPr>
            <a:r>
              <a:rPr lang="en-US" sz="1500" i="1" dirty="0">
                <a:solidFill>
                  <a:srgbClr val="5B6B82"/>
                </a:solidFill>
                <a:latin typeface="Calibri" pitchFamily="34" charset="0"/>
                <a:ea typeface="Calibri" pitchFamily="34" charset="-122"/>
                <a:cs typeface="Calibri" pitchFamily="34" charset="-120"/>
              </a:rPr>
              <a:t>Underwriting has always priced risk from data — the question is how, and how fast.</a:t>
            </a:r>
            <a:endParaRPr lang="en-US" sz="1500" dirty="0"/>
          </a:p>
        </p:txBody>
      </p:sp>
      <p:sp>
        <p:nvSpPr>
          <p:cNvPr id="5" name="Shape 3"/>
          <p:cNvSpPr/>
          <p:nvPr/>
        </p:nvSpPr>
        <p:spPr>
          <a:xfrm>
            <a:off x="548640" y="2331720"/>
            <a:ext cx="2331720" cy="1737360"/>
          </a:xfrm>
          <a:prstGeom prst="roundRect">
            <a:avLst>
              <a:gd name="adj" fmla="val 4211"/>
            </a:avLst>
          </a:prstGeom>
          <a:solidFill>
            <a:srgbClr val="F7FAFD"/>
          </a:solidFill>
          <a:ln/>
          <a:effectLst>
            <a:outerShdw sx="100000" sy="100000" kx="0" ky="0" algn="bl" rotWithShape="0" blurRad="127000" dist="38100" dir="5400000">
              <a:srgbClr val="14213D">
                <a:alpha val="12000"/>
              </a:srgbClr>
            </a:outerShdw>
          </a:effectLst>
        </p:spPr>
      </p:sp>
      <p:sp>
        <p:nvSpPr>
          <p:cNvPr id="6" name="Shape 4"/>
          <p:cNvSpPr/>
          <p:nvPr/>
        </p:nvSpPr>
        <p:spPr>
          <a:xfrm>
            <a:off x="1431036" y="2551176"/>
            <a:ext cx="566928" cy="566928"/>
          </a:xfrm>
          <a:prstGeom prst="ellipse">
            <a:avLst/>
          </a:prstGeom>
          <a:solidFill>
            <a:srgbClr val="14213D"/>
          </a:solidFill>
          <a:ln/>
        </p:spPr>
      </p:sp>
      <p:pic>
        <p:nvPicPr>
          <p:cNvPr id="7" name="Image 0" descr="preencoded.png">    </p:cNvPr>
          <p:cNvPicPr>
            <a:picLocks noChangeAspect="1"/>
          </p:cNvPicPr>
          <p:nvPr/>
        </p:nvPicPr>
        <p:blipFill>
          <a:blip r:embed="rId1"/>
          <a:stretch>
            <a:fillRect/>
          </a:stretch>
        </p:blipFill>
        <p:spPr>
          <a:xfrm>
            <a:off x="1572768" y="2692908"/>
            <a:ext cx="283464" cy="283464"/>
          </a:xfrm>
          <a:prstGeom prst="rect">
            <a:avLst/>
          </a:prstGeom>
        </p:spPr>
      </p:pic>
      <p:sp>
        <p:nvSpPr>
          <p:cNvPr id="8" name="Text 5"/>
          <p:cNvSpPr/>
          <p:nvPr/>
        </p:nvSpPr>
        <p:spPr>
          <a:xfrm>
            <a:off x="640080" y="3246120"/>
            <a:ext cx="2148840" cy="731520"/>
          </a:xfrm>
          <a:prstGeom prst="rect">
            <a:avLst/>
          </a:prstGeom>
          <a:noFill/>
          <a:ln/>
        </p:spPr>
        <p:txBody>
          <a:bodyPr wrap="square" lIns="0" tIns="0" rIns="0" bIns="0" rtlCol="0" anchor="t"/>
          <a:lstStyle/>
          <a:p>
            <a:pPr algn="ctr" indent="0" marL="0">
              <a:buNone/>
            </a:pPr>
            <a:r>
              <a:rPr lang="en-US" sz="1150" b="1" dirty="0">
                <a:solidFill>
                  <a:srgbClr val="14213D"/>
                </a:solidFill>
                <a:latin typeface="Calibri" pitchFamily="34" charset="0"/>
                <a:ea typeface="Calibri" pitchFamily="34" charset="-122"/>
                <a:cs typeface="Calibri" pitchFamily="34" charset="-120"/>
              </a:rPr>
              <a:t>Application &amp;</a:t>
            </a:r>
            <a:endParaRPr lang="en-US" sz="1150" dirty="0"/>
          </a:p>
          <a:p>
            <a:pPr algn="ctr" indent="0" marL="0">
              <a:buNone/>
            </a:pPr>
            <a:r>
              <a:rPr lang="en-US" sz="1150" b="1" dirty="0">
                <a:solidFill>
                  <a:srgbClr val="14213D"/>
                </a:solidFill>
                <a:latin typeface="Calibri" pitchFamily="34" charset="0"/>
                <a:ea typeface="Calibri" pitchFamily="34" charset="-122"/>
                <a:cs typeface="Calibri" pitchFamily="34" charset="-120"/>
              </a:rPr>
              <a:t>Medical History</a:t>
            </a:r>
            <a:endParaRPr lang="en-US" sz="1150" dirty="0"/>
          </a:p>
        </p:txBody>
      </p:sp>
      <p:pic>
        <p:nvPicPr>
          <p:cNvPr id="9" name="Image 1" descr="preencoded.png">    </p:cNvPr>
          <p:cNvPicPr>
            <a:picLocks noChangeAspect="1"/>
          </p:cNvPicPr>
          <p:nvPr/>
        </p:nvPicPr>
        <p:blipFill>
          <a:blip r:embed="rId2"/>
          <a:stretch>
            <a:fillRect/>
          </a:stretch>
        </p:blipFill>
        <p:spPr>
          <a:xfrm>
            <a:off x="2898648" y="3099816"/>
            <a:ext cx="201168" cy="201168"/>
          </a:xfrm>
          <a:prstGeom prst="rect">
            <a:avLst/>
          </a:prstGeom>
        </p:spPr>
      </p:pic>
      <p:sp>
        <p:nvSpPr>
          <p:cNvPr id="10" name="Shape 6"/>
          <p:cNvSpPr/>
          <p:nvPr/>
        </p:nvSpPr>
        <p:spPr>
          <a:xfrm>
            <a:off x="3200400" y="2331720"/>
            <a:ext cx="2331720" cy="1737360"/>
          </a:xfrm>
          <a:prstGeom prst="roundRect">
            <a:avLst>
              <a:gd name="adj" fmla="val 4211"/>
            </a:avLst>
          </a:prstGeom>
          <a:solidFill>
            <a:srgbClr val="F7FAFD"/>
          </a:solidFill>
          <a:ln/>
          <a:effectLst>
            <a:outerShdw sx="100000" sy="100000" kx="0" ky="0" algn="bl" rotWithShape="0" blurRad="127000" dist="38100" dir="5400000">
              <a:srgbClr val="14213D">
                <a:alpha val="12000"/>
              </a:srgbClr>
            </a:outerShdw>
          </a:effectLst>
        </p:spPr>
      </p:sp>
      <p:sp>
        <p:nvSpPr>
          <p:cNvPr id="11" name="Shape 7"/>
          <p:cNvSpPr/>
          <p:nvPr/>
        </p:nvSpPr>
        <p:spPr>
          <a:xfrm>
            <a:off x="4082796" y="2551176"/>
            <a:ext cx="566928" cy="566928"/>
          </a:xfrm>
          <a:prstGeom prst="ellipse">
            <a:avLst/>
          </a:prstGeom>
          <a:solidFill>
            <a:srgbClr val="14213D"/>
          </a:solidFill>
          <a:ln/>
        </p:spPr>
      </p:sp>
      <p:pic>
        <p:nvPicPr>
          <p:cNvPr id="12" name="Image 2" descr="preencoded.png">    </p:cNvPr>
          <p:cNvPicPr>
            <a:picLocks noChangeAspect="1"/>
          </p:cNvPicPr>
          <p:nvPr/>
        </p:nvPicPr>
        <p:blipFill>
          <a:blip r:embed="rId3"/>
          <a:stretch>
            <a:fillRect/>
          </a:stretch>
        </p:blipFill>
        <p:spPr>
          <a:xfrm>
            <a:off x="4224528" y="2692908"/>
            <a:ext cx="283464" cy="283464"/>
          </a:xfrm>
          <a:prstGeom prst="rect">
            <a:avLst/>
          </a:prstGeom>
        </p:spPr>
      </p:pic>
      <p:sp>
        <p:nvSpPr>
          <p:cNvPr id="13" name="Text 8"/>
          <p:cNvSpPr/>
          <p:nvPr/>
        </p:nvSpPr>
        <p:spPr>
          <a:xfrm>
            <a:off x="3291840" y="3246120"/>
            <a:ext cx="2148840" cy="731520"/>
          </a:xfrm>
          <a:prstGeom prst="rect">
            <a:avLst/>
          </a:prstGeom>
          <a:noFill/>
          <a:ln/>
        </p:spPr>
        <p:txBody>
          <a:bodyPr wrap="square" lIns="0" tIns="0" rIns="0" bIns="0" rtlCol="0" anchor="t"/>
          <a:lstStyle/>
          <a:p>
            <a:pPr algn="ctr" indent="0" marL="0">
              <a:buNone/>
            </a:pPr>
            <a:r>
              <a:rPr lang="en-US" sz="1150" b="1" dirty="0">
                <a:solidFill>
                  <a:srgbClr val="14213D"/>
                </a:solidFill>
                <a:latin typeface="Calibri" pitchFamily="34" charset="0"/>
                <a:ea typeface="Calibri" pitchFamily="34" charset="-122"/>
                <a:cs typeface="Calibri" pitchFamily="34" charset="-120"/>
              </a:rPr>
              <a:t>Manual Underwriter</a:t>
            </a:r>
            <a:endParaRPr lang="en-US" sz="1150" dirty="0"/>
          </a:p>
          <a:p>
            <a:pPr algn="ctr" indent="0" marL="0">
              <a:buNone/>
            </a:pPr>
            <a:r>
              <a:rPr lang="en-US" sz="1150" b="1" dirty="0">
                <a:solidFill>
                  <a:srgbClr val="14213D"/>
                </a:solidFill>
                <a:latin typeface="Calibri" pitchFamily="34" charset="0"/>
                <a:ea typeface="Calibri" pitchFamily="34" charset="-122"/>
                <a:cs typeface="Calibri" pitchFamily="34" charset="-120"/>
              </a:rPr>
              <a:t>Review</a:t>
            </a:r>
            <a:endParaRPr lang="en-US" sz="1150" dirty="0"/>
          </a:p>
        </p:txBody>
      </p:sp>
      <p:pic>
        <p:nvPicPr>
          <p:cNvPr id="14" name="Image 3" descr="preencoded.png">    </p:cNvPr>
          <p:cNvPicPr>
            <a:picLocks noChangeAspect="1"/>
          </p:cNvPicPr>
          <p:nvPr/>
        </p:nvPicPr>
        <p:blipFill>
          <a:blip r:embed="rId4"/>
          <a:stretch>
            <a:fillRect/>
          </a:stretch>
        </p:blipFill>
        <p:spPr>
          <a:xfrm>
            <a:off x="5550408" y="3099816"/>
            <a:ext cx="201168" cy="201168"/>
          </a:xfrm>
          <a:prstGeom prst="rect">
            <a:avLst/>
          </a:prstGeom>
        </p:spPr>
      </p:pic>
      <p:sp>
        <p:nvSpPr>
          <p:cNvPr id="15" name="Shape 9"/>
          <p:cNvSpPr/>
          <p:nvPr/>
        </p:nvSpPr>
        <p:spPr>
          <a:xfrm>
            <a:off x="5852160" y="2331720"/>
            <a:ext cx="2331720" cy="1737360"/>
          </a:xfrm>
          <a:prstGeom prst="roundRect">
            <a:avLst>
              <a:gd name="adj" fmla="val 4211"/>
            </a:avLst>
          </a:prstGeom>
          <a:solidFill>
            <a:srgbClr val="F7FAFD"/>
          </a:solidFill>
          <a:ln/>
          <a:effectLst>
            <a:outerShdw sx="100000" sy="100000" kx="0" ky="0" algn="bl" rotWithShape="0" blurRad="127000" dist="38100" dir="5400000">
              <a:srgbClr val="14213D">
                <a:alpha val="12000"/>
              </a:srgbClr>
            </a:outerShdw>
          </a:effectLst>
        </p:spPr>
      </p:sp>
      <p:sp>
        <p:nvSpPr>
          <p:cNvPr id="16" name="Shape 10"/>
          <p:cNvSpPr/>
          <p:nvPr/>
        </p:nvSpPr>
        <p:spPr>
          <a:xfrm>
            <a:off x="6734556" y="2551176"/>
            <a:ext cx="566928" cy="566928"/>
          </a:xfrm>
          <a:prstGeom prst="ellipse">
            <a:avLst/>
          </a:prstGeom>
          <a:solidFill>
            <a:srgbClr val="14213D"/>
          </a:solidFill>
          <a:ln/>
        </p:spPr>
      </p:sp>
      <p:pic>
        <p:nvPicPr>
          <p:cNvPr id="17" name="Image 4" descr="preencoded.png">    </p:cNvPr>
          <p:cNvPicPr>
            <a:picLocks noChangeAspect="1"/>
          </p:cNvPicPr>
          <p:nvPr/>
        </p:nvPicPr>
        <p:blipFill>
          <a:blip r:embed="rId5"/>
          <a:stretch>
            <a:fillRect/>
          </a:stretch>
        </p:blipFill>
        <p:spPr>
          <a:xfrm>
            <a:off x="6876288" y="2692908"/>
            <a:ext cx="283464" cy="283464"/>
          </a:xfrm>
          <a:prstGeom prst="rect">
            <a:avLst/>
          </a:prstGeom>
        </p:spPr>
      </p:pic>
      <p:sp>
        <p:nvSpPr>
          <p:cNvPr id="18" name="Text 11"/>
          <p:cNvSpPr/>
          <p:nvPr/>
        </p:nvSpPr>
        <p:spPr>
          <a:xfrm>
            <a:off x="5943600" y="3246120"/>
            <a:ext cx="2148840" cy="731520"/>
          </a:xfrm>
          <a:prstGeom prst="rect">
            <a:avLst/>
          </a:prstGeom>
          <a:noFill/>
          <a:ln/>
        </p:spPr>
        <p:txBody>
          <a:bodyPr wrap="square" lIns="0" tIns="0" rIns="0" bIns="0" rtlCol="0" anchor="t"/>
          <a:lstStyle/>
          <a:p>
            <a:pPr algn="ctr" indent="0" marL="0">
              <a:buNone/>
            </a:pPr>
            <a:r>
              <a:rPr lang="en-US" sz="1150" b="1" dirty="0">
                <a:solidFill>
                  <a:srgbClr val="14213D"/>
                </a:solidFill>
                <a:latin typeface="Calibri" pitchFamily="34" charset="0"/>
                <a:ea typeface="Calibri" pitchFamily="34" charset="-122"/>
                <a:cs typeface="Calibri" pitchFamily="34" charset="-120"/>
              </a:rPr>
              <a:t>Actuarial Tables &amp;</a:t>
            </a:r>
            <a:endParaRPr lang="en-US" sz="1150" dirty="0"/>
          </a:p>
          <a:p>
            <a:pPr algn="ctr" indent="0" marL="0">
              <a:buNone/>
            </a:pPr>
            <a:r>
              <a:rPr lang="en-US" sz="1150" b="1" dirty="0">
                <a:solidFill>
                  <a:srgbClr val="14213D"/>
                </a:solidFill>
                <a:latin typeface="Calibri" pitchFamily="34" charset="0"/>
                <a:ea typeface="Calibri" pitchFamily="34" charset="-122"/>
                <a:cs typeface="Calibri" pitchFamily="34" charset="-120"/>
              </a:rPr>
              <a:t>Claim Experience</a:t>
            </a:r>
            <a:endParaRPr lang="en-US" sz="1150" dirty="0"/>
          </a:p>
        </p:txBody>
      </p:sp>
      <p:pic>
        <p:nvPicPr>
          <p:cNvPr id="19" name="Image 5" descr="preencoded.png">    </p:cNvPr>
          <p:cNvPicPr>
            <a:picLocks noChangeAspect="1"/>
          </p:cNvPicPr>
          <p:nvPr/>
        </p:nvPicPr>
        <p:blipFill>
          <a:blip r:embed="rId6"/>
          <a:stretch>
            <a:fillRect/>
          </a:stretch>
        </p:blipFill>
        <p:spPr>
          <a:xfrm>
            <a:off x="8202168" y="3099816"/>
            <a:ext cx="201168" cy="201168"/>
          </a:xfrm>
          <a:prstGeom prst="rect">
            <a:avLst/>
          </a:prstGeom>
        </p:spPr>
      </p:pic>
      <p:sp>
        <p:nvSpPr>
          <p:cNvPr id="20" name="Shape 12"/>
          <p:cNvSpPr/>
          <p:nvPr/>
        </p:nvSpPr>
        <p:spPr>
          <a:xfrm>
            <a:off x="8503920" y="2331720"/>
            <a:ext cx="2331720" cy="1737360"/>
          </a:xfrm>
          <a:prstGeom prst="roundRect">
            <a:avLst>
              <a:gd name="adj" fmla="val 4211"/>
            </a:avLst>
          </a:prstGeom>
          <a:solidFill>
            <a:srgbClr val="F7FAFD"/>
          </a:solidFill>
          <a:ln/>
          <a:effectLst>
            <a:outerShdw sx="100000" sy="100000" kx="0" ky="0" algn="bl" rotWithShape="0" blurRad="127000" dist="38100" dir="5400000">
              <a:srgbClr val="14213D">
                <a:alpha val="12000"/>
              </a:srgbClr>
            </a:outerShdw>
          </a:effectLst>
        </p:spPr>
      </p:sp>
      <p:sp>
        <p:nvSpPr>
          <p:cNvPr id="21" name="Shape 13"/>
          <p:cNvSpPr/>
          <p:nvPr/>
        </p:nvSpPr>
        <p:spPr>
          <a:xfrm>
            <a:off x="9386316" y="2551176"/>
            <a:ext cx="566928" cy="566928"/>
          </a:xfrm>
          <a:prstGeom prst="ellipse">
            <a:avLst/>
          </a:prstGeom>
          <a:solidFill>
            <a:srgbClr val="14213D"/>
          </a:solidFill>
          <a:ln/>
        </p:spPr>
      </p:sp>
      <p:pic>
        <p:nvPicPr>
          <p:cNvPr id="22" name="Image 6" descr="preencoded.png">    </p:cNvPr>
          <p:cNvPicPr>
            <a:picLocks noChangeAspect="1"/>
          </p:cNvPicPr>
          <p:nvPr/>
        </p:nvPicPr>
        <p:blipFill>
          <a:blip r:embed="rId7"/>
          <a:stretch>
            <a:fillRect/>
          </a:stretch>
        </p:blipFill>
        <p:spPr>
          <a:xfrm>
            <a:off x="9528048" y="2692908"/>
            <a:ext cx="283464" cy="283464"/>
          </a:xfrm>
          <a:prstGeom prst="rect">
            <a:avLst/>
          </a:prstGeom>
        </p:spPr>
      </p:pic>
      <p:sp>
        <p:nvSpPr>
          <p:cNvPr id="23" name="Text 14"/>
          <p:cNvSpPr/>
          <p:nvPr/>
        </p:nvSpPr>
        <p:spPr>
          <a:xfrm>
            <a:off x="8595360" y="3246120"/>
            <a:ext cx="2148840" cy="731520"/>
          </a:xfrm>
          <a:prstGeom prst="rect">
            <a:avLst/>
          </a:prstGeom>
          <a:noFill/>
          <a:ln/>
        </p:spPr>
        <p:txBody>
          <a:bodyPr wrap="square" lIns="0" tIns="0" rIns="0" bIns="0" rtlCol="0" anchor="t"/>
          <a:lstStyle/>
          <a:p>
            <a:pPr algn="ctr" indent="0" marL="0">
              <a:buNone/>
            </a:pPr>
            <a:r>
              <a:rPr lang="en-US" sz="1150" b="1" dirty="0">
                <a:solidFill>
                  <a:srgbClr val="14213D"/>
                </a:solidFill>
                <a:latin typeface="Calibri" pitchFamily="34" charset="0"/>
                <a:ea typeface="Calibri" pitchFamily="34" charset="-122"/>
                <a:cs typeface="Calibri" pitchFamily="34" charset="-120"/>
              </a:rPr>
              <a:t>Slow, Inconsistent</a:t>
            </a:r>
            <a:endParaRPr lang="en-US" sz="1150" dirty="0"/>
          </a:p>
          <a:p>
            <a:pPr algn="ctr" indent="0" marL="0">
              <a:buNone/>
            </a:pPr>
            <a:r>
              <a:rPr lang="en-US" sz="1150" b="1" dirty="0">
                <a:solidFill>
                  <a:srgbClr val="14213D"/>
                </a:solidFill>
                <a:latin typeface="Calibri" pitchFamily="34" charset="0"/>
                <a:ea typeface="Calibri" pitchFamily="34" charset="-122"/>
                <a:cs typeface="Calibri" pitchFamily="34" charset="-120"/>
              </a:rPr>
              <a:t>Decision</a:t>
            </a:r>
            <a:endParaRPr lang="en-US" sz="1150" dirty="0"/>
          </a:p>
        </p:txBody>
      </p:sp>
      <p:sp>
        <p:nvSpPr>
          <p:cNvPr id="24" name="Shape 15"/>
          <p:cNvSpPr/>
          <p:nvPr/>
        </p:nvSpPr>
        <p:spPr>
          <a:xfrm>
            <a:off x="548640" y="4526280"/>
            <a:ext cx="11091672" cy="18288"/>
          </a:xfrm>
          <a:prstGeom prst="rect">
            <a:avLst/>
          </a:prstGeom>
          <a:solidFill>
            <a:srgbClr val="E2E8F2"/>
          </a:solidFill>
          <a:ln/>
        </p:spPr>
      </p:sp>
      <p:sp>
        <p:nvSpPr>
          <p:cNvPr id="25" name="Text 16"/>
          <p:cNvSpPr/>
          <p:nvPr/>
        </p:nvSpPr>
        <p:spPr>
          <a:xfrm>
            <a:off x="548640" y="4754880"/>
            <a:ext cx="9144000" cy="274320"/>
          </a:xfrm>
          <a:prstGeom prst="rect">
            <a:avLst/>
          </a:prstGeom>
          <a:noFill/>
          <a:ln/>
        </p:spPr>
        <p:txBody>
          <a:bodyPr wrap="square" lIns="0" tIns="0" rIns="0" bIns="0" rtlCol="0" anchor="ctr"/>
          <a:lstStyle/>
          <a:p>
            <a:pPr indent="0" marL="0">
              <a:buNone/>
            </a:pPr>
            <a:r>
              <a:rPr lang="en-US" sz="1200" b="1" spc="100" kern="0" dirty="0">
                <a:solidFill>
                  <a:srgbClr val="C97B1F"/>
                </a:solidFill>
                <a:latin typeface="Calibri" pitchFamily="34" charset="0"/>
                <a:ea typeface="Calibri" pitchFamily="34" charset="-122"/>
                <a:cs typeface="Calibri" pitchFamily="34" charset="-120"/>
              </a:rPr>
              <a:t>TRADITIONAL MANUAL UNDERWRITING PROCESS</a:t>
            </a:r>
            <a:endParaRPr lang="en-US" sz="1200" dirty="0"/>
          </a:p>
        </p:txBody>
      </p:sp>
      <p:sp>
        <p:nvSpPr>
          <p:cNvPr id="26" name="Text 17"/>
          <p:cNvSpPr/>
          <p:nvPr/>
        </p:nvSpPr>
        <p:spPr>
          <a:xfrm>
            <a:off x="548640" y="5074920"/>
            <a:ext cx="10789920" cy="10972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Underwriting policy is set from recent claim experience and medical advancement — reviewed and updated periodically, not in real time.</a:t>
            </a:r>
            <a:endParaRPr lang="en-US" sz="1400" dirty="0"/>
          </a:p>
          <a:p>
            <a:pPr marL="342900" indent="-342900">
              <a:lnSpc>
                <a:spcPct val="115000"/>
              </a:lnSpc>
              <a:buSzPct val="100000"/>
              <a:buChar char="•"/>
            </a:pPr>
            <a:r>
              <a:rPr lang="en-US" sz="1400" dirty="0">
                <a:solidFill>
                  <a:srgbClr val="1B2430"/>
                </a:solidFill>
                <a:latin typeface="Calibri" pitchFamily="34" charset="0"/>
                <a:ea typeface="Calibri" pitchFamily="34" charset="-122"/>
                <a:cs typeface="Calibri" pitchFamily="34" charset="-120"/>
              </a:rPr>
              <a:t>The process is slow, labor-intensive, and prone to inconsistency — leading to underwriting that is often inaccurate.</a:t>
            </a:r>
            <a:endParaRPr lang="en-US" sz="1400" dirty="0"/>
          </a:p>
        </p:txBody>
      </p:sp>
      <p:sp>
        <p:nvSpPr>
          <p:cNvPr id="27" name="Text 18"/>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8" name="Text 19"/>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The Opportunity — and the Gap</a:t>
            </a:r>
            <a:endParaRPr lang="en-US" sz="3000" dirty="0"/>
          </a:p>
        </p:txBody>
      </p:sp>
      <p:sp>
        <p:nvSpPr>
          <p:cNvPr id="4" name="Text 2"/>
          <p:cNvSpPr/>
          <p:nvPr/>
        </p:nvSpPr>
        <p:spPr>
          <a:xfrm>
            <a:off x="548640" y="1371600"/>
            <a:ext cx="10789920" cy="365760"/>
          </a:xfrm>
          <a:prstGeom prst="rect">
            <a:avLst/>
          </a:prstGeom>
          <a:noFill/>
          <a:ln/>
        </p:spPr>
        <p:txBody>
          <a:bodyPr wrap="square" lIns="0" tIns="0" rIns="0" bIns="0" rtlCol="0" anchor="ctr"/>
          <a:lstStyle/>
          <a:p>
            <a:pPr indent="0" marL="0">
              <a:buNone/>
            </a:pPr>
            <a:r>
              <a:rPr lang="en-US" sz="1450" dirty="0">
                <a:solidFill>
                  <a:srgbClr val="5B6B82"/>
                </a:solidFill>
                <a:latin typeface="Calibri" pitchFamily="34" charset="0"/>
                <a:ea typeface="Calibri" pitchFamily="34" charset="-122"/>
                <a:cs typeface="Calibri" pitchFamily="34" charset="-120"/>
              </a:rPr>
              <a:t>With predictive ML modeling, insurers gain real, measurable advantages:</a:t>
            </a:r>
            <a:endParaRPr lang="en-US" sz="1450" dirty="0"/>
          </a:p>
        </p:txBody>
      </p:sp>
      <p:sp>
        <p:nvSpPr>
          <p:cNvPr id="5" name="Shape 3"/>
          <p:cNvSpPr/>
          <p:nvPr/>
        </p:nvSpPr>
        <p:spPr>
          <a:xfrm>
            <a:off x="548640" y="1874520"/>
            <a:ext cx="2606040" cy="1965960"/>
          </a:xfrm>
          <a:prstGeom prst="roundRect">
            <a:avLst>
              <a:gd name="adj" fmla="val 3721"/>
            </a:avLst>
          </a:prstGeom>
          <a:solidFill>
            <a:srgbClr val="F7FAFD"/>
          </a:solidFill>
          <a:ln/>
          <a:effectLst>
            <a:outerShdw sx="100000" sy="100000" kx="0" ky="0" algn="bl" rotWithShape="0" blurRad="127000" dist="38100" dir="5400000">
              <a:srgbClr val="14213D">
                <a:alpha val="12000"/>
              </a:srgbClr>
            </a:outerShdw>
          </a:effectLst>
        </p:spPr>
      </p:sp>
      <p:sp>
        <p:nvSpPr>
          <p:cNvPr id="6" name="Shape 4"/>
          <p:cNvSpPr/>
          <p:nvPr/>
        </p:nvSpPr>
        <p:spPr>
          <a:xfrm>
            <a:off x="1577340" y="2057400"/>
            <a:ext cx="548640" cy="548640"/>
          </a:xfrm>
          <a:prstGeom prst="ellipse">
            <a:avLst/>
          </a:prstGeom>
          <a:solidFill>
            <a:srgbClr val="DCEAFB"/>
          </a:solidFill>
          <a:ln/>
        </p:spPr>
      </p:sp>
      <p:pic>
        <p:nvPicPr>
          <p:cNvPr id="7" name="Image 0" descr="preencoded.png">    </p:cNvPr>
          <p:cNvPicPr>
            <a:picLocks noChangeAspect="1"/>
          </p:cNvPicPr>
          <p:nvPr/>
        </p:nvPicPr>
        <p:blipFill>
          <a:blip r:embed="rId1"/>
          <a:stretch>
            <a:fillRect/>
          </a:stretch>
        </p:blipFill>
        <p:spPr>
          <a:xfrm>
            <a:off x="1714500" y="2194560"/>
            <a:ext cx="274320" cy="274320"/>
          </a:xfrm>
          <a:prstGeom prst="rect">
            <a:avLst/>
          </a:prstGeom>
        </p:spPr>
      </p:pic>
      <p:sp>
        <p:nvSpPr>
          <p:cNvPr id="8" name="Text 5"/>
          <p:cNvSpPr/>
          <p:nvPr/>
        </p:nvSpPr>
        <p:spPr>
          <a:xfrm>
            <a:off x="685800" y="2743200"/>
            <a:ext cx="233172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Lower Operational Cost</a:t>
            </a:r>
            <a:endParaRPr lang="en-US" sz="1300" dirty="0"/>
          </a:p>
        </p:txBody>
      </p:sp>
      <p:sp>
        <p:nvSpPr>
          <p:cNvPr id="9" name="Text 6"/>
          <p:cNvSpPr/>
          <p:nvPr/>
        </p:nvSpPr>
        <p:spPr>
          <a:xfrm>
            <a:off x="713232" y="3200400"/>
            <a:ext cx="2276856" cy="5943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Less manual review overhead for the insurance company</a:t>
            </a:r>
            <a:endParaRPr lang="en-US" sz="1050" dirty="0"/>
          </a:p>
        </p:txBody>
      </p:sp>
      <p:sp>
        <p:nvSpPr>
          <p:cNvPr id="10" name="Shape 7"/>
          <p:cNvSpPr/>
          <p:nvPr/>
        </p:nvSpPr>
        <p:spPr>
          <a:xfrm>
            <a:off x="3383280" y="1874520"/>
            <a:ext cx="2606040" cy="1965960"/>
          </a:xfrm>
          <a:prstGeom prst="roundRect">
            <a:avLst>
              <a:gd name="adj" fmla="val 3721"/>
            </a:avLst>
          </a:prstGeom>
          <a:solidFill>
            <a:srgbClr val="F7FAFD"/>
          </a:solidFill>
          <a:ln/>
          <a:effectLst>
            <a:outerShdw sx="100000" sy="100000" kx="0" ky="0" algn="bl" rotWithShape="0" blurRad="127000" dist="38100" dir="5400000">
              <a:srgbClr val="14213D">
                <a:alpha val="12000"/>
              </a:srgbClr>
            </a:outerShdw>
          </a:effectLst>
        </p:spPr>
      </p:sp>
      <p:sp>
        <p:nvSpPr>
          <p:cNvPr id="11" name="Shape 8"/>
          <p:cNvSpPr/>
          <p:nvPr/>
        </p:nvSpPr>
        <p:spPr>
          <a:xfrm>
            <a:off x="4411980" y="2057400"/>
            <a:ext cx="548640" cy="548640"/>
          </a:xfrm>
          <a:prstGeom prst="ellipse">
            <a:avLst/>
          </a:prstGeom>
          <a:solidFill>
            <a:srgbClr val="DCEAFB"/>
          </a:solidFill>
          <a:ln/>
        </p:spPr>
      </p:sp>
      <p:pic>
        <p:nvPicPr>
          <p:cNvPr id="12" name="Image 1" descr="preencoded.png">    </p:cNvPr>
          <p:cNvPicPr>
            <a:picLocks noChangeAspect="1"/>
          </p:cNvPicPr>
          <p:nvPr/>
        </p:nvPicPr>
        <p:blipFill>
          <a:blip r:embed="rId2"/>
          <a:stretch>
            <a:fillRect/>
          </a:stretch>
        </p:blipFill>
        <p:spPr>
          <a:xfrm>
            <a:off x="4549140" y="2194560"/>
            <a:ext cx="274320" cy="274320"/>
          </a:xfrm>
          <a:prstGeom prst="rect">
            <a:avLst/>
          </a:prstGeom>
        </p:spPr>
      </p:pic>
      <p:sp>
        <p:nvSpPr>
          <p:cNvPr id="13" name="Text 9"/>
          <p:cNvSpPr/>
          <p:nvPr/>
        </p:nvSpPr>
        <p:spPr>
          <a:xfrm>
            <a:off x="3520440" y="2743200"/>
            <a:ext cx="233172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Reduced Premiums</a:t>
            </a:r>
            <a:endParaRPr lang="en-US" sz="1300" dirty="0"/>
          </a:p>
        </p:txBody>
      </p:sp>
      <p:sp>
        <p:nvSpPr>
          <p:cNvPr id="14" name="Text 10"/>
          <p:cNvSpPr/>
          <p:nvPr/>
        </p:nvSpPr>
        <p:spPr>
          <a:xfrm>
            <a:off x="3547872" y="3200400"/>
            <a:ext cx="2276856" cy="5943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More precisely priced risk passed on to customers</a:t>
            </a:r>
            <a:endParaRPr lang="en-US" sz="1050" dirty="0"/>
          </a:p>
        </p:txBody>
      </p:sp>
      <p:sp>
        <p:nvSpPr>
          <p:cNvPr id="15" name="Shape 11"/>
          <p:cNvSpPr/>
          <p:nvPr/>
        </p:nvSpPr>
        <p:spPr>
          <a:xfrm>
            <a:off x="6217920" y="1874520"/>
            <a:ext cx="2606040" cy="1965960"/>
          </a:xfrm>
          <a:prstGeom prst="roundRect">
            <a:avLst>
              <a:gd name="adj" fmla="val 3721"/>
            </a:avLst>
          </a:prstGeom>
          <a:solidFill>
            <a:srgbClr val="F7FAFD"/>
          </a:solidFill>
          <a:ln/>
          <a:effectLst>
            <a:outerShdw sx="100000" sy="100000" kx="0" ky="0" algn="bl" rotWithShape="0" blurRad="127000" dist="38100" dir="5400000">
              <a:srgbClr val="14213D">
                <a:alpha val="12000"/>
              </a:srgbClr>
            </a:outerShdw>
          </a:effectLst>
        </p:spPr>
      </p:sp>
      <p:sp>
        <p:nvSpPr>
          <p:cNvPr id="16" name="Shape 12"/>
          <p:cNvSpPr/>
          <p:nvPr/>
        </p:nvSpPr>
        <p:spPr>
          <a:xfrm>
            <a:off x="7246620" y="2057400"/>
            <a:ext cx="548640" cy="548640"/>
          </a:xfrm>
          <a:prstGeom prst="ellipse">
            <a:avLst/>
          </a:prstGeom>
          <a:solidFill>
            <a:srgbClr val="DCEAFB"/>
          </a:solidFill>
          <a:ln/>
        </p:spPr>
      </p:sp>
      <p:pic>
        <p:nvPicPr>
          <p:cNvPr id="17" name="Image 2" descr="preencoded.png">    </p:cNvPr>
          <p:cNvPicPr>
            <a:picLocks noChangeAspect="1"/>
          </p:cNvPicPr>
          <p:nvPr/>
        </p:nvPicPr>
        <p:blipFill>
          <a:blip r:embed="rId3"/>
          <a:stretch>
            <a:fillRect/>
          </a:stretch>
        </p:blipFill>
        <p:spPr>
          <a:xfrm>
            <a:off x="7383780" y="2194560"/>
            <a:ext cx="274320" cy="274320"/>
          </a:xfrm>
          <a:prstGeom prst="rect">
            <a:avLst/>
          </a:prstGeom>
        </p:spPr>
      </p:pic>
      <p:sp>
        <p:nvSpPr>
          <p:cNvPr id="18" name="Text 13"/>
          <p:cNvSpPr/>
          <p:nvPr/>
        </p:nvSpPr>
        <p:spPr>
          <a:xfrm>
            <a:off x="6355080" y="2743200"/>
            <a:ext cx="233172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Faster, Leaner Purchase</a:t>
            </a:r>
            <a:endParaRPr lang="en-US" sz="1300" dirty="0"/>
          </a:p>
        </p:txBody>
      </p:sp>
      <p:sp>
        <p:nvSpPr>
          <p:cNvPr id="19" name="Text 14"/>
          <p:cNvSpPr/>
          <p:nvPr/>
        </p:nvSpPr>
        <p:spPr>
          <a:xfrm>
            <a:off x="6382512" y="3200400"/>
            <a:ext cx="2276856" cy="5943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A quicker insurance buying experience end to end</a:t>
            </a:r>
            <a:endParaRPr lang="en-US" sz="1050" dirty="0"/>
          </a:p>
        </p:txBody>
      </p:sp>
      <p:sp>
        <p:nvSpPr>
          <p:cNvPr id="20" name="Shape 15"/>
          <p:cNvSpPr/>
          <p:nvPr/>
        </p:nvSpPr>
        <p:spPr>
          <a:xfrm>
            <a:off x="9052560" y="1874520"/>
            <a:ext cx="2606040" cy="1965960"/>
          </a:xfrm>
          <a:prstGeom prst="roundRect">
            <a:avLst>
              <a:gd name="adj" fmla="val 3721"/>
            </a:avLst>
          </a:prstGeom>
          <a:solidFill>
            <a:srgbClr val="F7FAFD"/>
          </a:solidFill>
          <a:ln/>
          <a:effectLst>
            <a:outerShdw sx="100000" sy="100000" kx="0" ky="0" algn="bl" rotWithShape="0" blurRad="127000" dist="38100" dir="5400000">
              <a:srgbClr val="14213D">
                <a:alpha val="12000"/>
              </a:srgbClr>
            </a:outerShdw>
          </a:effectLst>
        </p:spPr>
      </p:sp>
      <p:sp>
        <p:nvSpPr>
          <p:cNvPr id="21" name="Shape 16"/>
          <p:cNvSpPr/>
          <p:nvPr/>
        </p:nvSpPr>
        <p:spPr>
          <a:xfrm>
            <a:off x="10081260" y="2057400"/>
            <a:ext cx="548640" cy="548640"/>
          </a:xfrm>
          <a:prstGeom prst="ellipse">
            <a:avLst/>
          </a:prstGeom>
          <a:solidFill>
            <a:srgbClr val="DCEAFB"/>
          </a:solidFill>
          <a:ln/>
        </p:spPr>
      </p:sp>
      <p:pic>
        <p:nvPicPr>
          <p:cNvPr id="22" name="Image 3" descr="preencoded.png">    </p:cNvPr>
          <p:cNvPicPr>
            <a:picLocks noChangeAspect="1"/>
          </p:cNvPicPr>
          <p:nvPr/>
        </p:nvPicPr>
        <p:blipFill>
          <a:blip r:embed="rId4"/>
          <a:stretch>
            <a:fillRect/>
          </a:stretch>
        </p:blipFill>
        <p:spPr>
          <a:xfrm>
            <a:off x="10218420" y="2194560"/>
            <a:ext cx="274320" cy="274320"/>
          </a:xfrm>
          <a:prstGeom prst="rect">
            <a:avLst/>
          </a:prstGeom>
        </p:spPr>
      </p:pic>
      <p:sp>
        <p:nvSpPr>
          <p:cNvPr id="23" name="Text 17"/>
          <p:cNvSpPr/>
          <p:nvPr/>
        </p:nvSpPr>
        <p:spPr>
          <a:xfrm>
            <a:off x="9189720" y="2743200"/>
            <a:ext cx="233172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More Accurate Underwriting</a:t>
            </a:r>
            <a:endParaRPr lang="en-US" sz="1300" dirty="0"/>
          </a:p>
        </p:txBody>
      </p:sp>
      <p:sp>
        <p:nvSpPr>
          <p:cNvPr id="24" name="Text 18"/>
          <p:cNvSpPr/>
          <p:nvPr/>
        </p:nvSpPr>
        <p:spPr>
          <a:xfrm>
            <a:off x="9217152" y="3200400"/>
            <a:ext cx="2276856" cy="5943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Risk priced from patterns humans would miss</a:t>
            </a:r>
            <a:endParaRPr lang="en-US" sz="1050" dirty="0"/>
          </a:p>
        </p:txBody>
      </p:sp>
      <p:sp>
        <p:nvSpPr>
          <p:cNvPr id="25" name="Shape 19"/>
          <p:cNvSpPr/>
          <p:nvPr/>
        </p:nvSpPr>
        <p:spPr>
          <a:xfrm>
            <a:off x="548640" y="4206240"/>
            <a:ext cx="11091672" cy="1417320"/>
          </a:xfrm>
          <a:prstGeom prst="roundRect">
            <a:avLst>
              <a:gd name="adj" fmla="val 5161"/>
            </a:avLst>
          </a:prstGeom>
          <a:solidFill>
            <a:srgbClr val="0D1830"/>
          </a:solidFill>
          <a:ln/>
        </p:spPr>
      </p:sp>
      <p:sp>
        <p:nvSpPr>
          <p:cNvPr id="26" name="Shape 20"/>
          <p:cNvSpPr/>
          <p:nvPr/>
        </p:nvSpPr>
        <p:spPr>
          <a:xfrm>
            <a:off x="937260" y="4526280"/>
            <a:ext cx="777240" cy="777240"/>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1131570" y="4720590"/>
            <a:ext cx="388620" cy="388620"/>
          </a:xfrm>
          <a:prstGeom prst="rect">
            <a:avLst/>
          </a:prstGeom>
        </p:spPr>
      </p:pic>
      <p:sp>
        <p:nvSpPr>
          <p:cNvPr id="28" name="Text 21"/>
          <p:cNvSpPr/>
          <p:nvPr/>
        </p:nvSpPr>
        <p:spPr>
          <a:xfrm>
            <a:off x="1965960" y="4389120"/>
            <a:ext cx="9326880" cy="1097280"/>
          </a:xfrm>
          <a:prstGeom prst="rect">
            <a:avLst/>
          </a:prstGeom>
          <a:noFill/>
          <a:ln/>
        </p:spPr>
        <p:txBody>
          <a:bodyPr wrap="square" lIns="0" tIns="0" rIns="0" bIns="0" rtlCol="0" anchor="ctr"/>
          <a:lstStyle/>
          <a:p>
            <a:pPr indent="0" marL="0">
              <a:lnSpc>
                <a:spcPct val="115000"/>
              </a:lnSpc>
              <a:buNone/>
            </a:pPr>
            <a:r>
              <a:rPr lang="en-US" sz="2000" b="1" dirty="0">
                <a:solidFill>
                  <a:srgbClr val="FFFFFF"/>
                </a:solidFill>
                <a:latin typeface="Calibri" pitchFamily="34" charset="0"/>
                <a:ea typeface="Calibri" pitchFamily="34" charset="-122"/>
                <a:cs typeface="Calibri" pitchFamily="34" charset="-120"/>
              </a:rPr>
              <a:t>BUT… there are no guardrails.</a:t>
            </a:r>
            <a:endParaRPr lang="en-US" sz="2000" dirty="0"/>
          </a:p>
          <a:p>
            <a:pPr indent="0" marL="0">
              <a:lnSpc>
                <a:spcPct val="115000"/>
              </a:lnSpc>
              <a:buNone/>
            </a:pPr>
            <a:r>
              <a:rPr lang="en-US" sz="1350" dirty="0">
                <a:solidFill>
                  <a:srgbClr val="C7D2E8"/>
                </a:solidFill>
                <a:latin typeface="Calibri" pitchFamily="34" charset="0"/>
                <a:ea typeface="Calibri" pitchFamily="34" charset="-122"/>
                <a:cs typeface="Calibri" pitchFamily="34" charset="-120"/>
              </a:rPr>
              <a:t>Speed and accuracy without explainability, fairness auditing, or human oversight can quietly convert efficiency gains into legal and reputational liability.</a:t>
            </a:r>
            <a:endParaRPr lang="en-US" sz="2000" dirty="0"/>
          </a:p>
        </p:txBody>
      </p:sp>
      <p:sp>
        <p:nvSpPr>
          <p:cNvPr id="29" name="Text 22"/>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30" name="Text 23"/>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Why Does It Matter?</a:t>
            </a:r>
            <a:endParaRPr lang="en-US" sz="3000" dirty="0"/>
          </a:p>
        </p:txBody>
      </p:sp>
      <p:sp>
        <p:nvSpPr>
          <p:cNvPr id="4" name="Shape 2"/>
          <p:cNvSpPr/>
          <p:nvPr/>
        </p:nvSpPr>
        <p:spPr>
          <a:xfrm>
            <a:off x="548640" y="1417320"/>
            <a:ext cx="11091672" cy="777240"/>
          </a:xfrm>
          <a:prstGeom prst="roundRect">
            <a:avLst>
              <a:gd name="adj" fmla="val 9412"/>
            </a:avLst>
          </a:prstGeom>
          <a:solidFill>
            <a:srgbClr val="EEF3FA"/>
          </a:solidFill>
          <a:ln/>
        </p:spPr>
      </p:sp>
      <p:sp>
        <p:nvSpPr>
          <p:cNvPr id="5" name="Text 3"/>
          <p:cNvSpPr/>
          <p:nvPr/>
        </p:nvSpPr>
        <p:spPr>
          <a:xfrm>
            <a:off x="822960" y="1536192"/>
            <a:ext cx="10515600" cy="594360"/>
          </a:xfrm>
          <a:prstGeom prst="rect">
            <a:avLst/>
          </a:prstGeom>
          <a:noFill/>
          <a:ln/>
        </p:spPr>
        <p:txBody>
          <a:bodyPr wrap="square" lIns="0" tIns="0" rIns="0" bIns="0" rtlCol="0" anchor="ctr"/>
          <a:lstStyle/>
          <a:p>
            <a:pPr indent="0" marL="0">
              <a:lnSpc>
                <a:spcPct val="110000"/>
              </a:lnSpc>
              <a:buNone/>
            </a:pPr>
            <a:r>
              <a:rPr lang="en-US" sz="1600" b="1" dirty="0">
                <a:solidFill>
                  <a:srgbClr val="14213D"/>
                </a:solidFill>
                <a:latin typeface="Calibri" pitchFamily="34" charset="0"/>
                <a:ea typeface="Calibri" pitchFamily="34" charset="-122"/>
                <a:cs typeface="Calibri" pitchFamily="34" charset="-120"/>
              </a:rPr>
              <a:t>Speed without guardrails equals systemic failure.</a:t>
            </a:r>
            <a:endParaRPr lang="en-US" sz="1600" dirty="0"/>
          </a:p>
          <a:p>
            <a:pPr indent="0" marL="0">
              <a:lnSpc>
                <a:spcPct val="110000"/>
              </a:lnSpc>
              <a:buNone/>
            </a:pPr>
            <a:r>
              <a:rPr lang="en-US" sz="1250" i="1" dirty="0">
                <a:solidFill>
                  <a:srgbClr val="5B6B82"/>
                </a:solidFill>
                <a:latin typeface="Calibri" pitchFamily="34" charset="0"/>
                <a:ea typeface="Calibri" pitchFamily="34" charset="-122"/>
                <a:cs typeface="Calibri" pitchFamily="34" charset="-120"/>
              </a:rPr>
              <a:t>Automated algorithmic pricing draws a multi-million-dollar boundary between “learning from data” and “perpetuating systematic bias.”</a:t>
            </a:r>
            <a:endParaRPr lang="en-US" sz="1600" dirty="0"/>
          </a:p>
        </p:txBody>
      </p:sp>
      <p:sp>
        <p:nvSpPr>
          <p:cNvPr id="6" name="Shape 4"/>
          <p:cNvSpPr/>
          <p:nvPr/>
        </p:nvSpPr>
        <p:spPr>
          <a:xfrm>
            <a:off x="1188720" y="3154680"/>
            <a:ext cx="1920240" cy="1737360"/>
          </a:xfrm>
          <a:prstGeom prst="roundRect">
            <a:avLst>
              <a:gd name="adj" fmla="val 5263"/>
            </a:avLst>
          </a:prstGeom>
          <a:solidFill>
            <a:srgbClr val="14213D"/>
          </a:solidFill>
          <a:ln/>
          <a:effectLst>
            <a:outerShdw sx="100000" sy="100000" kx="0" ky="0" algn="bl" rotWithShape="0" blurRad="127000" dist="38100" dir="5400000">
              <a:srgbClr val="14213D">
                <a:alpha val="12000"/>
              </a:srgbClr>
            </a:outerShdw>
          </a:effectLst>
        </p:spPr>
      </p:sp>
      <p:sp>
        <p:nvSpPr>
          <p:cNvPr id="7" name="Shape 5"/>
          <p:cNvSpPr/>
          <p:nvPr/>
        </p:nvSpPr>
        <p:spPr>
          <a:xfrm>
            <a:off x="1805940" y="3451860"/>
            <a:ext cx="685800" cy="685800"/>
          </a:xfrm>
          <a:prstGeom prst="ellipse">
            <a:avLst/>
          </a:prstGeom>
          <a:solidFill>
            <a:srgbClr val="1F3A63"/>
          </a:solidFill>
          <a:ln/>
        </p:spPr>
      </p:sp>
      <p:pic>
        <p:nvPicPr>
          <p:cNvPr id="8" name="Image 0" descr="preencoded.png">    </p:cNvPr>
          <p:cNvPicPr>
            <a:picLocks noChangeAspect="1"/>
          </p:cNvPicPr>
          <p:nvPr/>
        </p:nvPicPr>
        <p:blipFill>
          <a:blip r:embed="rId1"/>
          <a:stretch>
            <a:fillRect/>
          </a:stretch>
        </p:blipFill>
        <p:spPr>
          <a:xfrm>
            <a:off x="1977390" y="3623310"/>
            <a:ext cx="342900" cy="342900"/>
          </a:xfrm>
          <a:prstGeom prst="rect">
            <a:avLst/>
          </a:prstGeom>
        </p:spPr>
      </p:pic>
      <p:sp>
        <p:nvSpPr>
          <p:cNvPr id="9" name="Text 6"/>
          <p:cNvSpPr/>
          <p:nvPr/>
        </p:nvSpPr>
        <p:spPr>
          <a:xfrm>
            <a:off x="1234440" y="4251960"/>
            <a:ext cx="18288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Unaudited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10" name="Shape 7"/>
          <p:cNvSpPr/>
          <p:nvPr/>
        </p:nvSpPr>
        <p:spPr>
          <a:xfrm>
            <a:off x="4160520" y="2514600"/>
            <a:ext cx="6583680" cy="914400"/>
          </a:xfrm>
          <a:prstGeom prst="roundRect">
            <a:avLst>
              <a:gd name="adj" fmla="val 8000"/>
            </a:avLst>
          </a:prstGeom>
          <a:solidFill>
            <a:srgbClr val="F7FAFD"/>
          </a:solidFill>
          <a:ln/>
          <a:effectLst>
            <a:outerShdw sx="100000" sy="100000" kx="0" ky="0" algn="bl" rotWithShape="0" blurRad="127000" dist="38100" dir="5400000">
              <a:srgbClr val="14213D">
                <a:alpha val="12000"/>
              </a:srgbClr>
            </a:outerShdw>
          </a:effectLst>
        </p:spPr>
      </p:sp>
      <p:sp>
        <p:nvSpPr>
          <p:cNvPr id="11" name="Shape 8"/>
          <p:cNvSpPr/>
          <p:nvPr/>
        </p:nvSpPr>
        <p:spPr>
          <a:xfrm>
            <a:off x="4503420" y="2720340"/>
            <a:ext cx="502920" cy="502920"/>
          </a:xfrm>
          <a:prstGeom prst="ellipse">
            <a:avLst/>
          </a:prstGeom>
          <a:solidFill>
            <a:srgbClr val="F7E3C4"/>
          </a:solidFill>
          <a:ln/>
        </p:spPr>
      </p:sp>
      <p:pic>
        <p:nvPicPr>
          <p:cNvPr id="12" name="Image 1" descr="preencoded.png">    </p:cNvPr>
          <p:cNvPicPr>
            <a:picLocks noChangeAspect="1"/>
          </p:cNvPicPr>
          <p:nvPr/>
        </p:nvPicPr>
        <p:blipFill>
          <a:blip r:embed="rId2"/>
          <a:stretch>
            <a:fillRect/>
          </a:stretch>
        </p:blipFill>
        <p:spPr>
          <a:xfrm>
            <a:off x="4624121" y="2841041"/>
            <a:ext cx="261518" cy="261518"/>
          </a:xfrm>
          <a:prstGeom prst="rect">
            <a:avLst/>
          </a:prstGeom>
        </p:spPr>
      </p:pic>
      <p:sp>
        <p:nvSpPr>
          <p:cNvPr id="13" name="Text 9"/>
          <p:cNvSpPr/>
          <p:nvPr/>
        </p:nvSpPr>
        <p:spPr>
          <a:xfrm>
            <a:off x="5166360" y="2642616"/>
            <a:ext cx="5394960" cy="685800"/>
          </a:xfrm>
          <a:prstGeom prst="rect">
            <a:avLst/>
          </a:prstGeom>
          <a:noFill/>
          <a:ln/>
        </p:spPr>
        <p:txBody>
          <a:bodyPr wrap="square" lIns="0" tIns="0" rIns="0" bIns="0" rtlCol="0" anchor="ctr"/>
          <a:lstStyle/>
          <a:p>
            <a:pPr indent="0" marL="0">
              <a:lnSpc>
                <a:spcPct val="110000"/>
              </a:lnSpc>
              <a:buNone/>
            </a:pPr>
            <a:r>
              <a:rPr lang="en-US" sz="1400" b="1" dirty="0">
                <a:solidFill>
                  <a:srgbClr val="14213D"/>
                </a:solidFill>
                <a:latin typeface="Calibri" pitchFamily="34" charset="0"/>
                <a:ea typeface="Calibri" pitchFamily="34" charset="-122"/>
                <a:cs typeface="Calibri" pitchFamily="34" charset="-120"/>
              </a:rPr>
              <a:t>Loss of Explainability</a:t>
            </a:r>
            <a:endParaRPr lang="en-US" sz="1400" dirty="0"/>
          </a:p>
          <a:p>
            <a:pPr indent="0" marL="0">
              <a:lnSpc>
                <a:spcPct val="110000"/>
              </a:lnSpc>
              <a:buNone/>
            </a:pPr>
            <a:r>
              <a:rPr lang="en-US" sz="1150" dirty="0">
                <a:solidFill>
                  <a:srgbClr val="5B6B82"/>
                </a:solidFill>
                <a:latin typeface="Calibri" pitchFamily="34" charset="0"/>
                <a:ea typeface="Calibri" pitchFamily="34" charset="-122"/>
                <a:cs typeface="Calibri" pitchFamily="34" charset="-120"/>
              </a:rPr>
              <a:t>Unable to justify individual pricing decisions</a:t>
            </a:r>
            <a:endParaRPr lang="en-US" sz="1400" dirty="0"/>
          </a:p>
        </p:txBody>
      </p:sp>
      <p:sp>
        <p:nvSpPr>
          <p:cNvPr id="14" name="Shape 10"/>
          <p:cNvSpPr/>
          <p:nvPr/>
        </p:nvSpPr>
        <p:spPr>
          <a:xfrm>
            <a:off x="4160520" y="3703320"/>
            <a:ext cx="6583680" cy="914400"/>
          </a:xfrm>
          <a:prstGeom prst="roundRect">
            <a:avLst>
              <a:gd name="adj" fmla="val 8000"/>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4503420" y="3909060"/>
            <a:ext cx="502920" cy="502920"/>
          </a:xfrm>
          <a:prstGeom prst="ellipse">
            <a:avLst/>
          </a:prstGeom>
          <a:solidFill>
            <a:srgbClr val="F7E3C4"/>
          </a:solidFill>
          <a:ln/>
        </p:spPr>
      </p:sp>
      <p:pic>
        <p:nvPicPr>
          <p:cNvPr id="16" name="Image 2" descr="preencoded.png">    </p:cNvPr>
          <p:cNvPicPr>
            <a:picLocks noChangeAspect="1"/>
          </p:cNvPicPr>
          <p:nvPr/>
        </p:nvPicPr>
        <p:blipFill>
          <a:blip r:embed="rId3"/>
          <a:stretch>
            <a:fillRect/>
          </a:stretch>
        </p:blipFill>
        <p:spPr>
          <a:xfrm>
            <a:off x="4624121" y="4029761"/>
            <a:ext cx="261518" cy="261518"/>
          </a:xfrm>
          <a:prstGeom prst="rect">
            <a:avLst/>
          </a:prstGeom>
        </p:spPr>
      </p:pic>
      <p:sp>
        <p:nvSpPr>
          <p:cNvPr id="17" name="Text 12"/>
          <p:cNvSpPr/>
          <p:nvPr/>
        </p:nvSpPr>
        <p:spPr>
          <a:xfrm>
            <a:off x="5166360" y="3831336"/>
            <a:ext cx="5394960" cy="685800"/>
          </a:xfrm>
          <a:prstGeom prst="rect">
            <a:avLst/>
          </a:prstGeom>
          <a:noFill/>
          <a:ln/>
        </p:spPr>
        <p:txBody>
          <a:bodyPr wrap="square" lIns="0" tIns="0" rIns="0" bIns="0" rtlCol="0" anchor="ctr"/>
          <a:lstStyle/>
          <a:p>
            <a:pPr indent="0" marL="0">
              <a:lnSpc>
                <a:spcPct val="110000"/>
              </a:lnSpc>
              <a:buNone/>
            </a:pPr>
            <a:r>
              <a:rPr lang="en-US" sz="1400" b="1" dirty="0">
                <a:solidFill>
                  <a:srgbClr val="14213D"/>
                </a:solidFill>
                <a:latin typeface="Calibri" pitchFamily="34" charset="0"/>
                <a:ea typeface="Calibri" pitchFamily="34" charset="-122"/>
                <a:cs typeface="Calibri" pitchFamily="34" charset="-120"/>
              </a:rPr>
              <a:t>Algorithmic Discrimination</a:t>
            </a:r>
            <a:endParaRPr lang="en-US" sz="1400" dirty="0"/>
          </a:p>
          <a:p>
            <a:pPr indent="0" marL="0">
              <a:lnSpc>
                <a:spcPct val="110000"/>
              </a:lnSpc>
              <a:buNone/>
            </a:pPr>
            <a:r>
              <a:rPr lang="en-US" sz="1150" dirty="0">
                <a:solidFill>
                  <a:srgbClr val="5B6B82"/>
                </a:solidFill>
                <a:latin typeface="Calibri" pitchFamily="34" charset="0"/>
                <a:ea typeface="Calibri" pitchFamily="34" charset="-122"/>
                <a:cs typeface="Calibri" pitchFamily="34" charset="-120"/>
              </a:rPr>
              <a:t>Model “learns” historical bias via proxy data</a:t>
            </a:r>
            <a:endParaRPr lang="en-US" sz="1400" dirty="0"/>
          </a:p>
        </p:txBody>
      </p:sp>
      <p:sp>
        <p:nvSpPr>
          <p:cNvPr id="18" name="Shape 13"/>
          <p:cNvSpPr/>
          <p:nvPr/>
        </p:nvSpPr>
        <p:spPr>
          <a:xfrm>
            <a:off x="4160520" y="4892040"/>
            <a:ext cx="6583680" cy="914400"/>
          </a:xfrm>
          <a:prstGeom prst="roundRect">
            <a:avLst>
              <a:gd name="adj" fmla="val 8000"/>
            </a:avLst>
          </a:prstGeom>
          <a:solidFill>
            <a:srgbClr val="F7FAFD"/>
          </a:solidFill>
          <a:ln/>
          <a:effectLst>
            <a:outerShdw sx="100000" sy="100000" kx="0" ky="0" algn="bl" rotWithShape="0" blurRad="127000" dist="38100" dir="5400000">
              <a:srgbClr val="14213D">
                <a:alpha val="12000"/>
              </a:srgbClr>
            </a:outerShdw>
          </a:effectLst>
        </p:spPr>
      </p:sp>
      <p:sp>
        <p:nvSpPr>
          <p:cNvPr id="19" name="Shape 14"/>
          <p:cNvSpPr/>
          <p:nvPr/>
        </p:nvSpPr>
        <p:spPr>
          <a:xfrm>
            <a:off x="4503420" y="5097780"/>
            <a:ext cx="502920" cy="502920"/>
          </a:xfrm>
          <a:prstGeom prst="ellipse">
            <a:avLst/>
          </a:prstGeom>
          <a:solidFill>
            <a:srgbClr val="F7E3C4"/>
          </a:solidFill>
          <a:ln/>
        </p:spPr>
      </p:sp>
      <p:pic>
        <p:nvPicPr>
          <p:cNvPr id="20" name="Image 3" descr="preencoded.png">    </p:cNvPr>
          <p:cNvPicPr>
            <a:picLocks noChangeAspect="1"/>
          </p:cNvPicPr>
          <p:nvPr/>
        </p:nvPicPr>
        <p:blipFill>
          <a:blip r:embed="rId4"/>
          <a:stretch>
            <a:fillRect/>
          </a:stretch>
        </p:blipFill>
        <p:spPr>
          <a:xfrm>
            <a:off x="4624121" y="5218481"/>
            <a:ext cx="261518" cy="261518"/>
          </a:xfrm>
          <a:prstGeom prst="rect">
            <a:avLst/>
          </a:prstGeom>
        </p:spPr>
      </p:pic>
      <p:sp>
        <p:nvSpPr>
          <p:cNvPr id="21" name="Text 15"/>
          <p:cNvSpPr/>
          <p:nvPr/>
        </p:nvSpPr>
        <p:spPr>
          <a:xfrm>
            <a:off x="5166360" y="5020056"/>
            <a:ext cx="5394960" cy="685800"/>
          </a:xfrm>
          <a:prstGeom prst="rect">
            <a:avLst/>
          </a:prstGeom>
          <a:noFill/>
          <a:ln/>
        </p:spPr>
        <p:txBody>
          <a:bodyPr wrap="square" lIns="0" tIns="0" rIns="0" bIns="0" rtlCol="0" anchor="ctr"/>
          <a:lstStyle/>
          <a:p>
            <a:pPr indent="0" marL="0">
              <a:lnSpc>
                <a:spcPct val="110000"/>
              </a:lnSpc>
              <a:buNone/>
            </a:pPr>
            <a:r>
              <a:rPr lang="en-US" sz="1400" b="1" dirty="0">
                <a:solidFill>
                  <a:srgbClr val="14213D"/>
                </a:solidFill>
                <a:latin typeface="Calibri" pitchFamily="34" charset="0"/>
                <a:ea typeface="Calibri" pitchFamily="34" charset="-122"/>
                <a:cs typeface="Calibri" pitchFamily="34" charset="-120"/>
              </a:rPr>
              <a:t>Regulatory Non-Compliance</a:t>
            </a:r>
            <a:endParaRPr lang="en-US" sz="1400" dirty="0"/>
          </a:p>
          <a:p>
            <a:pPr indent="0" marL="0">
              <a:lnSpc>
                <a:spcPct val="110000"/>
              </a:lnSpc>
              <a:buNone/>
            </a:pPr>
            <a:r>
              <a:rPr lang="en-US" sz="1150" dirty="0">
                <a:solidFill>
                  <a:srgbClr val="5B6B82"/>
                </a:solidFill>
                <a:latin typeface="Calibri" pitchFamily="34" charset="0"/>
                <a:ea typeface="Calibri" pitchFamily="34" charset="-122"/>
                <a:cs typeface="Calibri" pitchFamily="34" charset="-120"/>
              </a:rPr>
              <a:t>Triggers severe structural penalties</a:t>
            </a:r>
            <a:endParaRPr lang="en-US" sz="1400" dirty="0"/>
          </a:p>
        </p:txBody>
      </p:sp>
      <p:sp>
        <p:nvSpPr>
          <p:cNvPr id="22" name="Shape 16"/>
          <p:cNvSpPr/>
          <p:nvPr/>
        </p:nvSpPr>
        <p:spPr>
          <a:xfrm>
            <a:off x="3108960" y="4023360"/>
            <a:ext cx="1051560" cy="-1051560"/>
          </a:xfrm>
          <a:prstGeom prst="line">
            <a:avLst/>
          </a:prstGeom>
          <a:noFill/>
          <a:ln w="19050">
            <a:solidFill>
              <a:srgbClr val="4A6FA5"/>
            </a:solidFill>
            <a:prstDash val="solid"/>
          </a:ln>
        </p:spPr>
      </p:sp>
      <p:sp>
        <p:nvSpPr>
          <p:cNvPr id="23" name="Shape 17"/>
          <p:cNvSpPr/>
          <p:nvPr/>
        </p:nvSpPr>
        <p:spPr>
          <a:xfrm>
            <a:off x="3108960" y="4023360"/>
            <a:ext cx="1051560" cy="137160"/>
          </a:xfrm>
          <a:prstGeom prst="line">
            <a:avLst/>
          </a:prstGeom>
          <a:noFill/>
          <a:ln w="19050">
            <a:solidFill>
              <a:srgbClr val="4A6FA5"/>
            </a:solidFill>
            <a:prstDash val="solid"/>
          </a:ln>
        </p:spPr>
      </p:sp>
      <p:sp>
        <p:nvSpPr>
          <p:cNvPr id="24" name="Shape 18"/>
          <p:cNvSpPr/>
          <p:nvPr/>
        </p:nvSpPr>
        <p:spPr>
          <a:xfrm>
            <a:off x="3108960" y="4023360"/>
            <a:ext cx="1051560" cy="1325880"/>
          </a:xfrm>
          <a:prstGeom prst="line">
            <a:avLst/>
          </a:prstGeom>
          <a:noFill/>
          <a:ln w="19050">
            <a:solidFill>
              <a:srgbClr val="4A6FA5"/>
            </a:solidFill>
            <a:prstDash val="solid"/>
          </a:ln>
        </p:spPr>
      </p:sp>
      <p:sp>
        <p:nvSpPr>
          <p:cNvPr id="25" name="Shape 19"/>
          <p:cNvSpPr/>
          <p:nvPr/>
        </p:nvSpPr>
        <p:spPr>
          <a:xfrm>
            <a:off x="548640" y="5989320"/>
            <a:ext cx="11091672" cy="502920"/>
          </a:xfrm>
          <a:prstGeom prst="roundRect">
            <a:avLst>
              <a:gd name="adj" fmla="val 10909"/>
            </a:avLst>
          </a:prstGeom>
          <a:solidFill>
            <a:srgbClr val="E8A33D"/>
          </a:solidFill>
          <a:ln/>
        </p:spPr>
      </p:sp>
      <p:sp>
        <p:nvSpPr>
          <p:cNvPr id="26" name="Text 20"/>
          <p:cNvSpPr/>
          <p:nvPr/>
        </p:nvSpPr>
        <p:spPr>
          <a:xfrm>
            <a:off x="731520" y="5989320"/>
            <a:ext cx="10698480" cy="502920"/>
          </a:xfrm>
          <a:prstGeom prst="rect">
            <a:avLst/>
          </a:prstGeom>
          <a:noFill/>
          <a:ln/>
        </p:spPr>
        <p:txBody>
          <a:bodyPr wrap="square" lIns="0" tIns="0" rIns="0" bIns="0" rtlCol="0" anchor="ctr"/>
          <a:lstStyle/>
          <a:p>
            <a:pPr algn="ctr" indent="0" marL="0">
              <a:buNone/>
            </a:pPr>
            <a:r>
              <a:rPr lang="en-US" sz="1250" b="1" dirty="0">
                <a:solidFill>
                  <a:srgbClr val="0D1830"/>
                </a:solidFill>
                <a:latin typeface="Calibri" pitchFamily="34" charset="0"/>
                <a:ea typeface="Calibri" pitchFamily="34" charset="-122"/>
                <a:cs typeface="Calibri" pitchFamily="34" charset="-120"/>
              </a:rPr>
              <a:t>Deploying without bias auditing or human-in-the-loop validation directly threatens corporate profitability and consumer trust.</a:t>
            </a:r>
            <a:endParaRPr lang="en-US" sz="1250" dirty="0"/>
          </a:p>
        </p:txBody>
      </p:sp>
      <p:sp>
        <p:nvSpPr>
          <p:cNvPr id="27" name="Text 21"/>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8" name="Text 22"/>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Who Is Affected?</a:t>
            </a:r>
            <a:endParaRPr lang="en-US" sz="3000" dirty="0"/>
          </a:p>
        </p:txBody>
      </p:sp>
      <p:sp>
        <p:nvSpPr>
          <p:cNvPr id="4" name="Text 2"/>
          <p:cNvSpPr/>
          <p:nvPr/>
        </p:nvSpPr>
        <p:spPr>
          <a:xfrm>
            <a:off x="548640" y="1371600"/>
            <a:ext cx="10789920" cy="365760"/>
          </a:xfrm>
          <a:prstGeom prst="rect">
            <a:avLst/>
          </a:prstGeom>
          <a:noFill/>
          <a:ln/>
        </p:spPr>
        <p:txBody>
          <a:bodyPr wrap="square" lIns="0" tIns="0" rIns="0" bIns="0" rtlCol="0" anchor="ctr"/>
          <a:lstStyle/>
          <a:p>
            <a:pPr indent="0" marL="0">
              <a:buNone/>
            </a:pPr>
            <a:r>
              <a:rPr lang="en-US" sz="1400" i="1" dirty="0">
                <a:solidFill>
                  <a:srgbClr val="5B6B82"/>
                </a:solidFill>
                <a:latin typeface="Calibri" pitchFamily="34" charset="0"/>
                <a:ea typeface="Calibri" pitchFamily="34" charset="-122"/>
                <a:cs typeface="Calibri" pitchFamily="34" charset="-120"/>
              </a:rPr>
              <a:t>Recent, real-world Responsible-AI failures span the underwriting value chain:</a:t>
            </a:r>
            <a:endParaRPr lang="en-US" sz="1400" dirty="0"/>
          </a:p>
        </p:txBody>
      </p:sp>
      <p:sp>
        <p:nvSpPr>
          <p:cNvPr id="5" name="Shape 3"/>
          <p:cNvSpPr/>
          <p:nvPr/>
        </p:nvSpPr>
        <p:spPr>
          <a:xfrm>
            <a:off x="548640" y="1920240"/>
            <a:ext cx="3566160" cy="443484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6" name="Shape 4"/>
          <p:cNvSpPr/>
          <p:nvPr/>
        </p:nvSpPr>
        <p:spPr>
          <a:xfrm>
            <a:off x="2048256" y="2139696"/>
            <a:ext cx="566928" cy="566928"/>
          </a:xfrm>
          <a:prstGeom prst="ellipse">
            <a:avLst/>
          </a:prstGeom>
          <a:solidFill>
            <a:srgbClr val="14213D"/>
          </a:solidFill>
          <a:ln/>
        </p:spPr>
      </p:sp>
      <p:pic>
        <p:nvPicPr>
          <p:cNvPr id="7" name="Image 0" descr="preencoded.png">    </p:cNvPr>
          <p:cNvPicPr>
            <a:picLocks noChangeAspect="1"/>
          </p:cNvPicPr>
          <p:nvPr/>
        </p:nvPicPr>
        <p:blipFill>
          <a:blip r:embed="rId1"/>
          <a:stretch>
            <a:fillRect/>
          </a:stretch>
        </p:blipFill>
        <p:spPr>
          <a:xfrm>
            <a:off x="2189988" y="2281428"/>
            <a:ext cx="283464" cy="283464"/>
          </a:xfrm>
          <a:prstGeom prst="rect">
            <a:avLst/>
          </a:prstGeom>
        </p:spPr>
      </p:pic>
      <p:sp>
        <p:nvSpPr>
          <p:cNvPr id="8" name="Text 5"/>
          <p:cNvSpPr/>
          <p:nvPr/>
        </p:nvSpPr>
        <p:spPr>
          <a:xfrm>
            <a:off x="685800" y="2834640"/>
            <a:ext cx="3291840" cy="502920"/>
          </a:xfrm>
          <a:prstGeom prst="rect">
            <a:avLst/>
          </a:prstGeom>
          <a:noFill/>
          <a:ln/>
        </p:spPr>
        <p:txBody>
          <a:bodyPr wrap="square" lIns="0" tIns="0" rIns="0" bIns="0" rtlCol="0" anchor="ctr"/>
          <a:lstStyle/>
          <a:p>
            <a:pPr algn="ctr" indent="0" marL="0">
              <a:lnSpc>
                <a:spcPct val="105000"/>
              </a:lnSpc>
              <a:buNone/>
            </a:pPr>
            <a:r>
              <a:rPr lang="en-US" sz="1500" b="1" dirty="0">
                <a:solidFill>
                  <a:srgbClr val="14213D"/>
                </a:solidFill>
                <a:latin typeface="Calibri" pitchFamily="34" charset="0"/>
                <a:ea typeface="Calibri" pitchFamily="34" charset="-122"/>
                <a:cs typeface="Calibri" pitchFamily="34" charset="-120"/>
              </a:rPr>
              <a:t>Commercial Health</a:t>
            </a:r>
            <a:endParaRPr lang="en-US" sz="1500" dirty="0"/>
          </a:p>
          <a:p>
            <a:pPr algn="ctr" indent="0" marL="0">
              <a:lnSpc>
                <a:spcPct val="105000"/>
              </a:lnSpc>
              <a:buNone/>
            </a:pPr>
            <a:r>
              <a:rPr lang="en-US" sz="1100" i="1" dirty="0">
                <a:solidFill>
                  <a:srgbClr val="C97B1F"/>
                </a:solidFill>
                <a:latin typeface="Calibri" pitchFamily="34" charset="0"/>
                <a:ea typeface="Calibri" pitchFamily="34" charset="-122"/>
                <a:cs typeface="Calibri" pitchFamily="34" charset="-120"/>
              </a:rPr>
              <a:t>Batch-Denials</a:t>
            </a:r>
            <a:endParaRPr lang="en-US" sz="1500" dirty="0"/>
          </a:p>
        </p:txBody>
      </p:sp>
      <p:sp>
        <p:nvSpPr>
          <p:cNvPr id="9" name="Shape 6"/>
          <p:cNvSpPr/>
          <p:nvPr/>
        </p:nvSpPr>
        <p:spPr>
          <a:xfrm>
            <a:off x="731520" y="3401568"/>
            <a:ext cx="3200400" cy="502920"/>
          </a:xfrm>
          <a:prstGeom prst="roundRect">
            <a:avLst>
              <a:gd name="adj" fmla="val 9091"/>
            </a:avLst>
          </a:prstGeom>
          <a:solidFill>
            <a:srgbClr val="FFFFFF"/>
          </a:solidFill>
          <a:ln/>
        </p:spPr>
      </p:sp>
      <p:sp>
        <p:nvSpPr>
          <p:cNvPr id="10" name="Text 7"/>
          <p:cNvSpPr/>
          <p:nvPr/>
        </p:nvSpPr>
        <p:spPr>
          <a:xfrm>
            <a:off x="822960" y="3401568"/>
            <a:ext cx="3017520" cy="502920"/>
          </a:xfrm>
          <a:prstGeom prst="rect">
            <a:avLst/>
          </a:prstGeom>
          <a:noFill/>
          <a:ln/>
        </p:spPr>
        <p:txBody>
          <a:bodyPr wrap="square" lIns="0" tIns="0" rIns="0" bIns="0" rtlCol="0" anchor="ctr"/>
          <a:lstStyle/>
          <a:p>
            <a:pPr algn="ctr" indent="0" marL="0">
              <a:buNone/>
            </a:pPr>
            <a:r>
              <a:rPr lang="en-US" sz="1050" b="1" dirty="0">
                <a:solidFill>
                  <a:srgbClr val="4A6FA5"/>
                </a:solidFill>
                <a:latin typeface="Calibri" pitchFamily="34" charset="0"/>
                <a:ea typeface="Calibri" pitchFamily="34" charset="-122"/>
                <a:cs typeface="Calibri" pitchFamily="34" charset="-120"/>
              </a:rPr>
              <a:t>Cigna, Humana, UnitedHealthcare</a:t>
            </a:r>
            <a:endParaRPr lang="en-US" sz="1050" dirty="0"/>
          </a:p>
        </p:txBody>
      </p:sp>
      <p:sp>
        <p:nvSpPr>
          <p:cNvPr id="11" name="Text 8"/>
          <p:cNvSpPr/>
          <p:nvPr/>
        </p:nvSpPr>
        <p:spPr>
          <a:xfrm>
            <a:off x="777240" y="4023360"/>
            <a:ext cx="3108960" cy="1371600"/>
          </a:xfrm>
          <a:prstGeom prst="rect">
            <a:avLst/>
          </a:prstGeom>
          <a:noFill/>
          <a:ln/>
        </p:spPr>
        <p:txBody>
          <a:bodyPr wrap="square" lIns="0" tIns="0" rIns="0" bIns="0" rtlCol="0" anchor="ctr"/>
          <a:lstStyle/>
          <a:p>
            <a:pPr indent="0" marL="0">
              <a:lnSpc>
                <a:spcPct val="115000"/>
              </a:lnSpc>
              <a:buNone/>
            </a:pPr>
            <a:r>
              <a:rPr lang="en-US" sz="1100" dirty="0">
                <a:solidFill>
                  <a:srgbClr val="1B2430"/>
                </a:solidFill>
                <a:latin typeface="Calibri" pitchFamily="34" charset="0"/>
                <a:ea typeface="Calibri" pitchFamily="34" charset="-122"/>
                <a:cs typeface="Calibri" pitchFamily="34" charset="-120"/>
              </a:rPr>
              <a:t>Instant “batch denials” evaluating claims in ~1.2 seconds, violating statutory duties for personalized medical review without local explainability.</a:t>
            </a:r>
            <a:endParaRPr lang="en-US" sz="1100" dirty="0"/>
          </a:p>
        </p:txBody>
      </p:sp>
      <p:sp>
        <p:nvSpPr>
          <p:cNvPr id="12" name="Shape 9"/>
          <p:cNvSpPr/>
          <p:nvPr/>
        </p:nvSpPr>
        <p:spPr>
          <a:xfrm>
            <a:off x="731520" y="5303520"/>
            <a:ext cx="3200400" cy="914400"/>
          </a:xfrm>
          <a:prstGeom prst="roundRect">
            <a:avLst>
              <a:gd name="adj" fmla="val 6000"/>
            </a:avLst>
          </a:prstGeom>
          <a:solidFill>
            <a:srgbClr val="FBEBD6"/>
          </a:solidFill>
          <a:ln/>
        </p:spPr>
      </p:sp>
      <p:sp>
        <p:nvSpPr>
          <p:cNvPr id="13" name="Text 10"/>
          <p:cNvSpPr/>
          <p:nvPr/>
        </p:nvSpPr>
        <p:spPr>
          <a:xfrm>
            <a:off x="868680" y="5349240"/>
            <a:ext cx="2926080" cy="822960"/>
          </a:xfrm>
          <a:prstGeom prst="rect">
            <a:avLst/>
          </a:prstGeom>
          <a:noFill/>
          <a:ln/>
        </p:spPr>
        <p:txBody>
          <a:bodyPr wrap="square" lIns="0" tIns="0" rIns="0" bIns="0" rtlCol="0" anchor="ctr"/>
          <a:lstStyle/>
          <a:p>
            <a:pPr indent="0" marL="0">
              <a:lnSpc>
                <a:spcPct val="110000"/>
              </a:lnSpc>
              <a:buNone/>
            </a:pPr>
            <a:r>
              <a:rPr lang="en-US" sz="1050" b="1" dirty="0">
                <a:solidFill>
                  <a:srgbClr val="C97B1F"/>
                </a:solidFill>
                <a:latin typeface="Calibri" pitchFamily="34" charset="0"/>
                <a:ea typeface="Calibri" pitchFamily="34" charset="-122"/>
                <a:cs typeface="Calibri" pitchFamily="34" charset="-120"/>
              </a:rPr>
              <a:t>Catastrophic consumer churn, major legal defense costs, and federal class-action discovery.</a:t>
            </a:r>
            <a:endParaRPr lang="en-US" sz="1050" dirty="0"/>
          </a:p>
        </p:txBody>
      </p:sp>
      <p:sp>
        <p:nvSpPr>
          <p:cNvPr id="14" name="Shape 11"/>
          <p:cNvSpPr/>
          <p:nvPr/>
        </p:nvSpPr>
        <p:spPr>
          <a:xfrm>
            <a:off x="4315968" y="1920240"/>
            <a:ext cx="3566160" cy="443484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15" name="Shape 12"/>
          <p:cNvSpPr/>
          <p:nvPr/>
        </p:nvSpPr>
        <p:spPr>
          <a:xfrm>
            <a:off x="5815584" y="2139696"/>
            <a:ext cx="566928" cy="566928"/>
          </a:xfrm>
          <a:prstGeom prst="ellipse">
            <a:avLst/>
          </a:prstGeom>
          <a:solidFill>
            <a:srgbClr val="14213D"/>
          </a:solidFill>
          <a:ln/>
        </p:spPr>
      </p:sp>
      <p:pic>
        <p:nvPicPr>
          <p:cNvPr id="16" name="Image 1" descr="preencoded.png">    </p:cNvPr>
          <p:cNvPicPr>
            <a:picLocks noChangeAspect="1"/>
          </p:cNvPicPr>
          <p:nvPr/>
        </p:nvPicPr>
        <p:blipFill>
          <a:blip r:embed="rId2"/>
          <a:stretch>
            <a:fillRect/>
          </a:stretch>
        </p:blipFill>
        <p:spPr>
          <a:xfrm>
            <a:off x="5957316" y="2281428"/>
            <a:ext cx="283464" cy="283464"/>
          </a:xfrm>
          <a:prstGeom prst="rect">
            <a:avLst/>
          </a:prstGeom>
        </p:spPr>
      </p:pic>
      <p:sp>
        <p:nvSpPr>
          <p:cNvPr id="17" name="Text 13"/>
          <p:cNvSpPr/>
          <p:nvPr/>
        </p:nvSpPr>
        <p:spPr>
          <a:xfrm>
            <a:off x="4453128" y="2834640"/>
            <a:ext cx="3291840" cy="502920"/>
          </a:xfrm>
          <a:prstGeom prst="rect">
            <a:avLst/>
          </a:prstGeom>
          <a:noFill/>
          <a:ln/>
        </p:spPr>
        <p:txBody>
          <a:bodyPr wrap="square" lIns="0" tIns="0" rIns="0" bIns="0" rtlCol="0" anchor="ctr"/>
          <a:lstStyle/>
          <a:p>
            <a:pPr algn="ctr" indent="0" marL="0">
              <a:lnSpc>
                <a:spcPct val="105000"/>
              </a:lnSpc>
              <a:buNone/>
            </a:pPr>
            <a:r>
              <a:rPr lang="en-US" sz="1500" b="1" dirty="0">
                <a:solidFill>
                  <a:srgbClr val="14213D"/>
                </a:solidFill>
                <a:latin typeface="Calibri" pitchFamily="34" charset="0"/>
                <a:ea typeface="Calibri" pitchFamily="34" charset="-122"/>
                <a:cs typeface="Calibri" pitchFamily="34" charset="-120"/>
              </a:rPr>
              <a:t>Property Insurance</a:t>
            </a:r>
            <a:endParaRPr lang="en-US" sz="1500" dirty="0"/>
          </a:p>
          <a:p>
            <a:pPr algn="ctr" indent="0" marL="0">
              <a:lnSpc>
                <a:spcPct val="105000"/>
              </a:lnSpc>
              <a:buNone/>
            </a:pPr>
            <a:r>
              <a:rPr lang="en-US" sz="1100" i="1" dirty="0">
                <a:solidFill>
                  <a:srgbClr val="C97B1F"/>
                </a:solidFill>
                <a:latin typeface="Calibri" pitchFamily="34" charset="0"/>
                <a:ea typeface="Calibri" pitchFamily="34" charset="-122"/>
                <a:cs typeface="Calibri" pitchFamily="34" charset="-120"/>
              </a:rPr>
              <a:t>Algorithmic Profiling</a:t>
            </a:r>
            <a:endParaRPr lang="en-US" sz="1500" dirty="0"/>
          </a:p>
        </p:txBody>
      </p:sp>
      <p:sp>
        <p:nvSpPr>
          <p:cNvPr id="18" name="Shape 14"/>
          <p:cNvSpPr/>
          <p:nvPr/>
        </p:nvSpPr>
        <p:spPr>
          <a:xfrm>
            <a:off x="4498848" y="3401568"/>
            <a:ext cx="3200400" cy="502920"/>
          </a:xfrm>
          <a:prstGeom prst="roundRect">
            <a:avLst>
              <a:gd name="adj" fmla="val 9091"/>
            </a:avLst>
          </a:prstGeom>
          <a:solidFill>
            <a:srgbClr val="FFFFFF"/>
          </a:solidFill>
          <a:ln/>
        </p:spPr>
      </p:sp>
      <p:sp>
        <p:nvSpPr>
          <p:cNvPr id="19" name="Text 15"/>
          <p:cNvSpPr/>
          <p:nvPr/>
        </p:nvSpPr>
        <p:spPr>
          <a:xfrm>
            <a:off x="4590288" y="3401568"/>
            <a:ext cx="3017520" cy="502920"/>
          </a:xfrm>
          <a:prstGeom prst="rect">
            <a:avLst/>
          </a:prstGeom>
          <a:noFill/>
          <a:ln/>
        </p:spPr>
        <p:txBody>
          <a:bodyPr wrap="square" lIns="0" tIns="0" rIns="0" bIns="0" rtlCol="0" anchor="ctr"/>
          <a:lstStyle/>
          <a:p>
            <a:pPr algn="ctr" indent="0" marL="0">
              <a:buNone/>
            </a:pPr>
            <a:r>
              <a:rPr lang="en-US" sz="1050" b="1" dirty="0">
                <a:solidFill>
                  <a:srgbClr val="4A6FA5"/>
                </a:solidFill>
                <a:latin typeface="Calibri" pitchFamily="34" charset="0"/>
                <a:ea typeface="Calibri" pitchFamily="34" charset="-122"/>
                <a:cs typeface="Calibri" pitchFamily="34" charset="-120"/>
              </a:rPr>
              <a:t>Mobley / Huskey v. State Farm</a:t>
            </a:r>
            <a:endParaRPr lang="en-US" sz="1050" dirty="0"/>
          </a:p>
        </p:txBody>
      </p:sp>
      <p:sp>
        <p:nvSpPr>
          <p:cNvPr id="20" name="Text 16"/>
          <p:cNvSpPr/>
          <p:nvPr/>
        </p:nvSpPr>
        <p:spPr>
          <a:xfrm>
            <a:off x="4544568" y="4023360"/>
            <a:ext cx="3108960" cy="1371600"/>
          </a:xfrm>
          <a:prstGeom prst="rect">
            <a:avLst/>
          </a:prstGeom>
          <a:noFill/>
          <a:ln/>
        </p:spPr>
        <p:txBody>
          <a:bodyPr wrap="square" lIns="0" tIns="0" rIns="0" bIns="0" rtlCol="0" anchor="ctr"/>
          <a:lstStyle/>
          <a:p>
            <a:pPr indent="0" marL="0">
              <a:lnSpc>
                <a:spcPct val="115000"/>
              </a:lnSpc>
              <a:buNone/>
            </a:pPr>
            <a:r>
              <a:rPr lang="en-US" sz="1100" dirty="0">
                <a:solidFill>
                  <a:srgbClr val="1B2430"/>
                </a:solidFill>
                <a:latin typeface="Calibri" pitchFamily="34" charset="0"/>
                <a:ea typeface="Calibri" pitchFamily="34" charset="-122"/>
                <a:cs typeface="Calibri" pitchFamily="34" charset="-120"/>
              </a:rPr>
              <a:t>“Black box” claims-screening effectively learned socioeconomic disparities via proxy data, disproportionately flagging certain homeowners for delays.</a:t>
            </a:r>
            <a:endParaRPr lang="en-US" sz="1100" dirty="0"/>
          </a:p>
        </p:txBody>
      </p:sp>
      <p:sp>
        <p:nvSpPr>
          <p:cNvPr id="21" name="Shape 17"/>
          <p:cNvSpPr/>
          <p:nvPr/>
        </p:nvSpPr>
        <p:spPr>
          <a:xfrm>
            <a:off x="4498848" y="5303520"/>
            <a:ext cx="3200400" cy="914400"/>
          </a:xfrm>
          <a:prstGeom prst="roundRect">
            <a:avLst>
              <a:gd name="adj" fmla="val 6000"/>
            </a:avLst>
          </a:prstGeom>
          <a:solidFill>
            <a:srgbClr val="FBEBD6"/>
          </a:solidFill>
          <a:ln/>
        </p:spPr>
      </p:sp>
      <p:sp>
        <p:nvSpPr>
          <p:cNvPr id="22" name="Text 18"/>
          <p:cNvSpPr/>
          <p:nvPr/>
        </p:nvSpPr>
        <p:spPr>
          <a:xfrm>
            <a:off x="4636008" y="5349240"/>
            <a:ext cx="2926080" cy="822960"/>
          </a:xfrm>
          <a:prstGeom prst="rect">
            <a:avLst/>
          </a:prstGeom>
          <a:noFill/>
          <a:ln/>
        </p:spPr>
        <p:txBody>
          <a:bodyPr wrap="square" lIns="0" tIns="0" rIns="0" bIns="0" rtlCol="0" anchor="ctr"/>
          <a:lstStyle/>
          <a:p>
            <a:pPr indent="0" marL="0">
              <a:lnSpc>
                <a:spcPct val="110000"/>
              </a:lnSpc>
              <a:buNone/>
            </a:pPr>
            <a:r>
              <a:rPr lang="en-US" sz="1050" b="1" dirty="0">
                <a:solidFill>
                  <a:srgbClr val="C97B1F"/>
                </a:solidFill>
                <a:latin typeface="Calibri" pitchFamily="34" charset="0"/>
                <a:ea typeface="Calibri" pitchFamily="34" charset="-122"/>
                <a:cs typeface="Calibri" pitchFamily="34" charset="-120"/>
              </a:rPr>
              <a:t>Class-action liability and costly forensic data audits from a lack of internal explainability.</a:t>
            </a:r>
            <a:endParaRPr lang="en-US" sz="1050" dirty="0"/>
          </a:p>
        </p:txBody>
      </p:sp>
      <p:sp>
        <p:nvSpPr>
          <p:cNvPr id="23" name="Shape 19"/>
          <p:cNvSpPr/>
          <p:nvPr/>
        </p:nvSpPr>
        <p:spPr>
          <a:xfrm>
            <a:off x="8083296" y="1920240"/>
            <a:ext cx="3566160" cy="443484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24" name="Shape 20"/>
          <p:cNvSpPr/>
          <p:nvPr/>
        </p:nvSpPr>
        <p:spPr>
          <a:xfrm>
            <a:off x="9582912" y="2139696"/>
            <a:ext cx="566928" cy="566928"/>
          </a:xfrm>
          <a:prstGeom prst="ellipse">
            <a:avLst/>
          </a:prstGeom>
          <a:solidFill>
            <a:srgbClr val="14213D"/>
          </a:solidFill>
          <a:ln/>
        </p:spPr>
      </p:sp>
      <p:pic>
        <p:nvPicPr>
          <p:cNvPr id="25" name="Image 2" descr="preencoded.png">    </p:cNvPr>
          <p:cNvPicPr>
            <a:picLocks noChangeAspect="1"/>
          </p:cNvPicPr>
          <p:nvPr/>
        </p:nvPicPr>
        <p:blipFill>
          <a:blip r:embed="rId3"/>
          <a:stretch>
            <a:fillRect/>
          </a:stretch>
        </p:blipFill>
        <p:spPr>
          <a:xfrm>
            <a:off x="9724644" y="2281428"/>
            <a:ext cx="283464" cy="283464"/>
          </a:xfrm>
          <a:prstGeom prst="rect">
            <a:avLst/>
          </a:prstGeom>
        </p:spPr>
      </p:pic>
      <p:sp>
        <p:nvSpPr>
          <p:cNvPr id="26" name="Text 21"/>
          <p:cNvSpPr/>
          <p:nvPr/>
        </p:nvSpPr>
        <p:spPr>
          <a:xfrm>
            <a:off x="8220456" y="2834640"/>
            <a:ext cx="3291840" cy="502920"/>
          </a:xfrm>
          <a:prstGeom prst="rect">
            <a:avLst/>
          </a:prstGeom>
          <a:noFill/>
          <a:ln/>
        </p:spPr>
        <p:txBody>
          <a:bodyPr wrap="square" lIns="0" tIns="0" rIns="0" bIns="0" rtlCol="0" anchor="ctr"/>
          <a:lstStyle/>
          <a:p>
            <a:pPr algn="ctr" indent="0" marL="0">
              <a:lnSpc>
                <a:spcPct val="105000"/>
              </a:lnSpc>
              <a:buNone/>
            </a:pPr>
            <a:r>
              <a:rPr lang="en-US" sz="1500" b="1" dirty="0">
                <a:solidFill>
                  <a:srgbClr val="14213D"/>
                </a:solidFill>
                <a:latin typeface="Calibri" pitchFamily="34" charset="0"/>
                <a:ea typeface="Calibri" pitchFamily="34" charset="-122"/>
                <a:cs typeface="Calibri" pitchFamily="34" charset="-120"/>
              </a:rPr>
              <a:t>Multi-State Regulators</a:t>
            </a:r>
            <a:endParaRPr lang="en-US" sz="1500" dirty="0"/>
          </a:p>
          <a:p>
            <a:pPr algn="ctr" indent="0" marL="0">
              <a:lnSpc>
                <a:spcPct val="105000"/>
              </a:lnSpc>
              <a:buNone/>
            </a:pPr>
            <a:r>
              <a:rPr lang="en-US" sz="1100" i="1" dirty="0">
                <a:solidFill>
                  <a:srgbClr val="C97B1F"/>
                </a:solidFill>
                <a:latin typeface="Calibri" pitchFamily="34" charset="0"/>
                <a:ea typeface="Calibri" pitchFamily="34" charset="-122"/>
                <a:cs typeface="Calibri" pitchFamily="34" charset="-120"/>
              </a:rPr>
              <a:t>NAIC Crackdown</a:t>
            </a:r>
            <a:endParaRPr lang="en-US" sz="1500" dirty="0"/>
          </a:p>
        </p:txBody>
      </p:sp>
      <p:sp>
        <p:nvSpPr>
          <p:cNvPr id="27" name="Shape 22"/>
          <p:cNvSpPr/>
          <p:nvPr/>
        </p:nvSpPr>
        <p:spPr>
          <a:xfrm>
            <a:off x="8266176" y="3401568"/>
            <a:ext cx="3200400" cy="502920"/>
          </a:xfrm>
          <a:prstGeom prst="roundRect">
            <a:avLst>
              <a:gd name="adj" fmla="val 9091"/>
            </a:avLst>
          </a:prstGeom>
          <a:solidFill>
            <a:srgbClr val="FFFFFF"/>
          </a:solidFill>
          <a:ln/>
        </p:spPr>
      </p:sp>
      <p:sp>
        <p:nvSpPr>
          <p:cNvPr id="28" name="Text 23"/>
          <p:cNvSpPr/>
          <p:nvPr/>
        </p:nvSpPr>
        <p:spPr>
          <a:xfrm>
            <a:off x="8357616" y="3401568"/>
            <a:ext cx="3017520" cy="502920"/>
          </a:xfrm>
          <a:prstGeom prst="rect">
            <a:avLst/>
          </a:prstGeom>
          <a:noFill/>
          <a:ln/>
        </p:spPr>
        <p:txBody>
          <a:bodyPr wrap="square" lIns="0" tIns="0" rIns="0" bIns="0" rtlCol="0" anchor="ctr"/>
          <a:lstStyle/>
          <a:p>
            <a:pPr algn="ctr" indent="0" marL="0">
              <a:buNone/>
            </a:pPr>
            <a:r>
              <a:rPr lang="en-US" sz="1050" b="1" dirty="0">
                <a:solidFill>
                  <a:srgbClr val="4A6FA5"/>
                </a:solidFill>
                <a:latin typeface="Calibri" pitchFamily="34" charset="0"/>
                <a:ea typeface="Calibri" pitchFamily="34" charset="-122"/>
                <a:cs typeface="Calibri" pitchFamily="34" charset="-120"/>
              </a:rPr>
              <a:t>NAIC AI Evaluation Tool — 12 states</a:t>
            </a:r>
            <a:endParaRPr lang="en-US" sz="1050" dirty="0"/>
          </a:p>
        </p:txBody>
      </p:sp>
      <p:sp>
        <p:nvSpPr>
          <p:cNvPr id="29" name="Text 24"/>
          <p:cNvSpPr/>
          <p:nvPr/>
        </p:nvSpPr>
        <p:spPr>
          <a:xfrm>
            <a:off x="8311896" y="4023360"/>
            <a:ext cx="3108960" cy="1371600"/>
          </a:xfrm>
          <a:prstGeom prst="rect">
            <a:avLst/>
          </a:prstGeom>
          <a:noFill/>
          <a:ln/>
        </p:spPr>
        <p:txBody>
          <a:bodyPr wrap="square" lIns="0" tIns="0" rIns="0" bIns="0" rtlCol="0" anchor="ctr"/>
          <a:lstStyle/>
          <a:p>
            <a:pPr indent="0" marL="0">
              <a:lnSpc>
                <a:spcPct val="115000"/>
              </a:lnSpc>
              <a:buNone/>
            </a:pPr>
            <a:r>
              <a:rPr lang="en-US" sz="1100" dirty="0">
                <a:solidFill>
                  <a:srgbClr val="1B2430"/>
                </a:solidFill>
                <a:latin typeface="Calibri" pitchFamily="34" charset="0"/>
                <a:ea typeface="Calibri" pitchFamily="34" charset="-122"/>
                <a:cs typeface="Calibri" pitchFamily="34" charset="-120"/>
              </a:rPr>
              <a:t>Regulators are actively auditing insurers for performance drift and systemic bias across pricing and claims models.</a:t>
            </a:r>
            <a:endParaRPr lang="en-US" sz="1100" dirty="0"/>
          </a:p>
        </p:txBody>
      </p:sp>
      <p:sp>
        <p:nvSpPr>
          <p:cNvPr id="30" name="Shape 25"/>
          <p:cNvSpPr/>
          <p:nvPr/>
        </p:nvSpPr>
        <p:spPr>
          <a:xfrm>
            <a:off x="8266176" y="5303520"/>
            <a:ext cx="3200400" cy="914400"/>
          </a:xfrm>
          <a:prstGeom prst="roundRect">
            <a:avLst>
              <a:gd name="adj" fmla="val 6000"/>
            </a:avLst>
          </a:prstGeom>
          <a:solidFill>
            <a:srgbClr val="FBEBD6"/>
          </a:solidFill>
          <a:ln/>
        </p:spPr>
      </p:sp>
      <p:sp>
        <p:nvSpPr>
          <p:cNvPr id="31" name="Text 26"/>
          <p:cNvSpPr/>
          <p:nvPr/>
        </p:nvSpPr>
        <p:spPr>
          <a:xfrm>
            <a:off x="8403336" y="5349240"/>
            <a:ext cx="2926080" cy="822960"/>
          </a:xfrm>
          <a:prstGeom prst="rect">
            <a:avLst/>
          </a:prstGeom>
          <a:noFill/>
          <a:ln/>
        </p:spPr>
        <p:txBody>
          <a:bodyPr wrap="square" lIns="0" tIns="0" rIns="0" bIns="0" rtlCol="0" anchor="ctr"/>
          <a:lstStyle/>
          <a:p>
            <a:pPr indent="0" marL="0">
              <a:lnSpc>
                <a:spcPct val="110000"/>
              </a:lnSpc>
              <a:buNone/>
            </a:pPr>
            <a:r>
              <a:rPr lang="en-US" sz="1050" b="1" dirty="0">
                <a:solidFill>
                  <a:srgbClr val="C97B1F"/>
                </a:solidFill>
                <a:latin typeface="Calibri" pitchFamily="34" charset="0"/>
                <a:ea typeface="Calibri" pitchFamily="34" charset="-122"/>
                <a:cs typeface="Calibri" pitchFamily="34" charset="-120"/>
              </a:rPr>
              <a:t>Fines exceeding $100M in regulated sectors and the threat of state license revocation.</a:t>
            </a:r>
            <a:endParaRPr lang="en-US" sz="1050" dirty="0"/>
          </a:p>
        </p:txBody>
      </p:sp>
      <p:sp>
        <p:nvSpPr>
          <p:cNvPr id="32" name="Text 27"/>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33" name="Text 28"/>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PROJECT SCOPE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Objectives &amp; Research Questions</a:t>
            </a:r>
            <a:endParaRPr lang="en-US" sz="3000" dirty="0"/>
          </a:p>
        </p:txBody>
      </p:sp>
      <p:sp>
        <p:nvSpPr>
          <p:cNvPr id="4" name="Shape 2"/>
          <p:cNvSpPr/>
          <p:nvPr/>
        </p:nvSpPr>
        <p:spPr>
          <a:xfrm>
            <a:off x="548640" y="1508760"/>
            <a:ext cx="3566160" cy="484632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777240" y="1691640"/>
            <a:ext cx="548640" cy="548640"/>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914400" y="1828800"/>
            <a:ext cx="274320" cy="274320"/>
          </a:xfrm>
          <a:prstGeom prst="rect">
            <a:avLst/>
          </a:prstGeom>
        </p:spPr>
      </p:pic>
      <p:sp>
        <p:nvSpPr>
          <p:cNvPr id="7" name="Text 4"/>
          <p:cNvSpPr/>
          <p:nvPr/>
        </p:nvSpPr>
        <p:spPr>
          <a:xfrm>
            <a:off x="1463040" y="1737360"/>
            <a:ext cx="251460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Objective</a:t>
            </a:r>
            <a:endParaRPr lang="en-US" sz="1500" dirty="0"/>
          </a:p>
        </p:txBody>
      </p:sp>
      <p:sp>
        <p:nvSpPr>
          <p:cNvPr id="8" name="Text 5"/>
          <p:cNvSpPr/>
          <p:nvPr/>
        </p:nvSpPr>
        <p:spPr>
          <a:xfrm>
            <a:off x="804672" y="2468880"/>
            <a:ext cx="3054096" cy="3657600"/>
          </a:xfrm>
          <a:prstGeom prst="rect">
            <a:avLst/>
          </a:prstGeom>
          <a:noFill/>
          <a:ln/>
        </p:spPr>
        <p:txBody>
          <a:bodyPr wrap="square" lIns="0" tIns="0" rIns="0" bIns="0" rtlCol="0" anchor="ctr"/>
          <a:lstStyle/>
          <a:p>
            <a:pPr indent="0" marL="0">
              <a:lnSpc>
                <a:spcPct val="125000"/>
              </a:lnSpc>
              <a:buNone/>
            </a:pPr>
            <a:r>
              <a:rPr lang="en-US" sz="1250" dirty="0">
                <a:solidFill>
                  <a:srgbClr val="1B2430"/>
                </a:solidFill>
                <a:latin typeface="Calibri" pitchFamily="34" charset="0"/>
                <a:ea typeface="Calibri" pitchFamily="34" charset="-122"/>
                <a:cs typeface="Calibri" pitchFamily="34" charset="-120"/>
              </a:rPr>
              <a:t>Leverage ML algorithmic underwriting to maximize risk accuracy and market scale, using Responsible AI (RAI) guardrails to safeguard against systemic bias and operational failure.</a:t>
            </a:r>
            <a:endParaRPr lang="en-US" sz="1250" dirty="0"/>
          </a:p>
        </p:txBody>
      </p:sp>
      <p:sp>
        <p:nvSpPr>
          <p:cNvPr id="9" name="Shape 6"/>
          <p:cNvSpPr/>
          <p:nvPr/>
        </p:nvSpPr>
        <p:spPr>
          <a:xfrm>
            <a:off x="4315968" y="1508760"/>
            <a:ext cx="3566160" cy="484632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4544568" y="1691640"/>
            <a:ext cx="548640" cy="548640"/>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4681728" y="1828800"/>
            <a:ext cx="274320" cy="274320"/>
          </a:xfrm>
          <a:prstGeom prst="rect">
            <a:avLst/>
          </a:prstGeom>
        </p:spPr>
      </p:pic>
      <p:sp>
        <p:nvSpPr>
          <p:cNvPr id="12" name="Text 8"/>
          <p:cNvSpPr/>
          <p:nvPr/>
        </p:nvSpPr>
        <p:spPr>
          <a:xfrm>
            <a:off x="5230368" y="1737360"/>
            <a:ext cx="251460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Research Questions</a:t>
            </a:r>
            <a:endParaRPr lang="en-US" sz="1500" dirty="0"/>
          </a:p>
        </p:txBody>
      </p:sp>
      <p:sp>
        <p:nvSpPr>
          <p:cNvPr id="13" name="Text 9"/>
          <p:cNvSpPr/>
          <p:nvPr/>
        </p:nvSpPr>
        <p:spPr>
          <a:xfrm>
            <a:off x="4572000" y="2468880"/>
            <a:ext cx="3054096" cy="365760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What model training approach did we select for risk calculation, and why?</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How does the final model perform against core fairness criteria — demographic parity, equal accuracy, equal opportunity?</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What specific biases, if any, were detected during validation that need mitigation?</a:t>
            </a:r>
            <a:endParaRPr lang="en-US" sz="1200" dirty="0"/>
          </a:p>
        </p:txBody>
      </p:sp>
      <p:sp>
        <p:nvSpPr>
          <p:cNvPr id="14" name="Shape 10"/>
          <p:cNvSpPr/>
          <p:nvPr/>
        </p:nvSpPr>
        <p:spPr>
          <a:xfrm>
            <a:off x="8083296" y="1508760"/>
            <a:ext cx="3566160" cy="484632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8311896" y="1691640"/>
            <a:ext cx="548640" cy="548640"/>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8449056" y="1828800"/>
            <a:ext cx="274320" cy="274320"/>
          </a:xfrm>
          <a:prstGeom prst="rect">
            <a:avLst/>
          </a:prstGeom>
        </p:spPr>
      </p:pic>
      <p:sp>
        <p:nvSpPr>
          <p:cNvPr id="17" name="Text 12"/>
          <p:cNvSpPr/>
          <p:nvPr/>
        </p:nvSpPr>
        <p:spPr>
          <a:xfrm>
            <a:off x="8997696" y="1737360"/>
            <a:ext cx="251460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Success Metrics</a:t>
            </a:r>
            <a:endParaRPr lang="en-US" sz="1500" dirty="0"/>
          </a:p>
        </p:txBody>
      </p:sp>
      <p:sp>
        <p:nvSpPr>
          <p:cNvPr id="18" name="Text 13"/>
          <p:cNvSpPr/>
          <p:nvPr/>
        </p:nvSpPr>
        <p:spPr>
          <a:xfrm>
            <a:off x="8339328" y="2468880"/>
            <a:ext cx="3054096" cy="365760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Accuracy &gt; 85%</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F1-score &gt; 0.80</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Defined success metrics for Responsible AI fairness criteria</a:t>
            </a:r>
            <a:endParaRPr lang="en-US" sz="1200" dirty="0"/>
          </a:p>
        </p:txBody>
      </p:sp>
      <p:sp>
        <p:nvSpPr>
          <p:cNvPr id="19" name="Text 14"/>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0" name="Text 15"/>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THE DATASET</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Data Overview</a:t>
            </a:r>
            <a:endParaRPr lang="en-US" sz="3000" dirty="0"/>
          </a:p>
        </p:txBody>
      </p:sp>
      <p:sp>
        <p:nvSpPr>
          <p:cNvPr id="4" name="Text 2"/>
          <p:cNvSpPr/>
          <p:nvPr/>
        </p:nvSpPr>
        <p:spPr>
          <a:xfrm>
            <a:off x="548640" y="1417320"/>
            <a:ext cx="10789920" cy="914400"/>
          </a:xfrm>
          <a:prstGeom prst="rect">
            <a:avLst/>
          </a:prstGeom>
          <a:noFill/>
          <a:ln/>
        </p:spPr>
        <p:txBody>
          <a:bodyPr wrap="square" lIns="0" tIns="0" rIns="0" bIns="0" rtlCol="0" anchor="ctr"/>
          <a:lstStyle/>
          <a:p>
            <a:pPr indent="0" marL="0">
              <a:lnSpc>
                <a:spcPct val="125000"/>
              </a:lnSpc>
              <a:buNone/>
            </a:pPr>
            <a:r>
              <a:rPr lang="en-US" sz="1450" dirty="0">
                <a:solidFill>
                  <a:srgbClr val="1B2430"/>
                </a:solidFill>
                <a:latin typeface="Calibri" pitchFamily="34" charset="0"/>
                <a:ea typeface="Calibri" pitchFamily="34" charset="-122"/>
                <a:cs typeface="Calibri" pitchFamily="34" charset="-120"/>
              </a:rPr>
              <a:t>A public medical-cost insurance dataset, loaded from a public URL (optional Kaggle path). The target is built by binarizing charges: above $10,000 is labeled Bad Risk. Clean dataset with no missing values; cross-sectional, not time-indexed.</a:t>
            </a:r>
            <a:endParaRPr lang="en-US" sz="1450" dirty="0"/>
          </a:p>
        </p:txBody>
      </p:sp>
      <p:sp>
        <p:nvSpPr>
          <p:cNvPr id="5" name="Shape 3"/>
          <p:cNvSpPr/>
          <p:nvPr/>
        </p:nvSpPr>
        <p:spPr>
          <a:xfrm>
            <a:off x="548640" y="2606040"/>
            <a:ext cx="2606040" cy="2011680"/>
          </a:xfrm>
          <a:prstGeom prst="roundRect">
            <a:avLst>
              <a:gd name="adj" fmla="val 3636"/>
            </a:avLst>
          </a:prstGeom>
          <a:solidFill>
            <a:srgbClr val="14213D"/>
          </a:solidFill>
          <a:ln/>
          <a:effectLst>
            <a:outerShdw sx="100000" sy="100000" kx="0" ky="0" algn="bl" rotWithShape="0" blurRad="127000" dist="38100" dir="5400000">
              <a:srgbClr val="14213D">
                <a:alpha val="12000"/>
              </a:srgbClr>
            </a:outerShdw>
          </a:effectLst>
        </p:spPr>
      </p:sp>
      <p:sp>
        <p:nvSpPr>
          <p:cNvPr id="6" name="Shape 4"/>
          <p:cNvSpPr/>
          <p:nvPr/>
        </p:nvSpPr>
        <p:spPr>
          <a:xfrm>
            <a:off x="1600200" y="2811780"/>
            <a:ext cx="502920" cy="502920"/>
          </a:xfrm>
          <a:prstGeom prst="ellipse">
            <a:avLst/>
          </a:prstGeom>
          <a:solidFill>
            <a:srgbClr val="1F3A63"/>
          </a:solidFill>
          <a:ln/>
        </p:spPr>
      </p:sp>
      <p:pic>
        <p:nvPicPr>
          <p:cNvPr id="7" name="Image 0" descr="preencoded.png">    </p:cNvPr>
          <p:cNvPicPr>
            <a:picLocks noChangeAspect="1"/>
          </p:cNvPicPr>
          <p:nvPr/>
        </p:nvPicPr>
        <p:blipFill>
          <a:blip r:embed="rId1"/>
          <a:stretch>
            <a:fillRect/>
          </a:stretch>
        </p:blipFill>
        <p:spPr>
          <a:xfrm>
            <a:off x="1725930" y="2937510"/>
            <a:ext cx="251460" cy="251460"/>
          </a:xfrm>
          <a:prstGeom prst="rect">
            <a:avLst/>
          </a:prstGeom>
        </p:spPr>
      </p:pic>
      <p:sp>
        <p:nvSpPr>
          <p:cNvPr id="8" name="Text 5"/>
          <p:cNvSpPr/>
          <p:nvPr/>
        </p:nvSpPr>
        <p:spPr>
          <a:xfrm>
            <a:off x="640080" y="3474720"/>
            <a:ext cx="2423160" cy="594360"/>
          </a:xfrm>
          <a:prstGeom prst="rect">
            <a:avLst/>
          </a:prstGeom>
          <a:noFill/>
          <a:ln/>
        </p:spPr>
        <p:txBody>
          <a:bodyPr wrap="square" lIns="0" tIns="0" rIns="0" bIns="0" rtlCol="0" anchor="ctr"/>
          <a:lstStyle/>
          <a:p>
            <a:pPr algn="ctr" indent="0" marL="0">
              <a:buNone/>
            </a:pPr>
            <a:r>
              <a:rPr lang="en-US" sz="3000" b="1" dirty="0">
                <a:solidFill>
                  <a:srgbClr val="E8A33D"/>
                </a:solidFill>
                <a:latin typeface="Cambria" pitchFamily="34" charset="0"/>
                <a:ea typeface="Cambria" pitchFamily="34" charset="-122"/>
                <a:cs typeface="Cambria" pitchFamily="34" charset="-120"/>
              </a:rPr>
              <a:t>1,338</a:t>
            </a:r>
            <a:endParaRPr lang="en-US" sz="3000" dirty="0"/>
          </a:p>
        </p:txBody>
      </p:sp>
      <p:sp>
        <p:nvSpPr>
          <p:cNvPr id="9" name="Text 6"/>
          <p:cNvSpPr/>
          <p:nvPr/>
        </p:nvSpPr>
        <p:spPr>
          <a:xfrm>
            <a:off x="640080" y="4087368"/>
            <a:ext cx="2423160" cy="365760"/>
          </a:xfrm>
          <a:prstGeom prst="rect">
            <a:avLst/>
          </a:prstGeom>
          <a:noFill/>
          <a:ln/>
        </p:spPr>
        <p:txBody>
          <a:bodyPr wrap="square" lIns="0" tIns="0" rIns="0" bIns="0" rtlCol="0" anchor="ctr"/>
          <a:lstStyle/>
          <a:p>
            <a:pPr algn="ctr" indent="0" marL="0">
              <a:buNone/>
            </a:pPr>
            <a:r>
              <a:rPr lang="en-US" sz="1200" dirty="0">
                <a:solidFill>
                  <a:srgbClr val="C7D2E8"/>
                </a:solidFill>
                <a:latin typeface="Calibri" pitchFamily="34" charset="0"/>
                <a:ea typeface="Calibri" pitchFamily="34" charset="-122"/>
                <a:cs typeface="Calibri" pitchFamily="34" charset="-120"/>
              </a:rPr>
              <a:t>Rows</a:t>
            </a:r>
            <a:endParaRPr lang="en-US" sz="1200" dirty="0"/>
          </a:p>
        </p:txBody>
      </p:sp>
      <p:sp>
        <p:nvSpPr>
          <p:cNvPr id="10" name="Shape 7"/>
          <p:cNvSpPr/>
          <p:nvPr/>
        </p:nvSpPr>
        <p:spPr>
          <a:xfrm>
            <a:off x="3383280" y="2606040"/>
            <a:ext cx="2606040" cy="2011680"/>
          </a:xfrm>
          <a:prstGeom prst="roundRect">
            <a:avLst>
              <a:gd name="adj" fmla="val 3636"/>
            </a:avLst>
          </a:prstGeom>
          <a:solidFill>
            <a:srgbClr val="F7FAFD"/>
          </a:solidFill>
          <a:ln/>
          <a:effectLst>
            <a:outerShdw sx="100000" sy="100000" kx="0" ky="0" algn="bl" rotWithShape="0" blurRad="127000" dist="38100" dir="5400000">
              <a:srgbClr val="14213D">
                <a:alpha val="12000"/>
              </a:srgbClr>
            </a:outerShdw>
          </a:effectLst>
        </p:spPr>
      </p:sp>
      <p:sp>
        <p:nvSpPr>
          <p:cNvPr id="11" name="Shape 8"/>
          <p:cNvSpPr/>
          <p:nvPr/>
        </p:nvSpPr>
        <p:spPr>
          <a:xfrm>
            <a:off x="4434840" y="2811780"/>
            <a:ext cx="502920" cy="502920"/>
          </a:xfrm>
          <a:prstGeom prst="ellipse">
            <a:avLst/>
          </a:prstGeom>
          <a:solidFill>
            <a:srgbClr val="DCEAFB"/>
          </a:solidFill>
          <a:ln/>
        </p:spPr>
      </p:sp>
      <p:pic>
        <p:nvPicPr>
          <p:cNvPr id="12" name="Image 1" descr="preencoded.png">    </p:cNvPr>
          <p:cNvPicPr>
            <a:picLocks noChangeAspect="1"/>
          </p:cNvPicPr>
          <p:nvPr/>
        </p:nvPicPr>
        <p:blipFill>
          <a:blip r:embed="rId2"/>
          <a:stretch>
            <a:fillRect/>
          </a:stretch>
        </p:blipFill>
        <p:spPr>
          <a:xfrm>
            <a:off x="4560570" y="2937510"/>
            <a:ext cx="251460" cy="251460"/>
          </a:xfrm>
          <a:prstGeom prst="rect">
            <a:avLst/>
          </a:prstGeom>
        </p:spPr>
      </p:pic>
      <p:sp>
        <p:nvSpPr>
          <p:cNvPr id="13" name="Text 9"/>
          <p:cNvSpPr/>
          <p:nvPr/>
        </p:nvSpPr>
        <p:spPr>
          <a:xfrm>
            <a:off x="3474720" y="3474720"/>
            <a:ext cx="2423160" cy="594360"/>
          </a:xfrm>
          <a:prstGeom prst="rect">
            <a:avLst/>
          </a:prstGeom>
          <a:noFill/>
          <a:ln/>
        </p:spPr>
        <p:txBody>
          <a:bodyPr wrap="square" lIns="0" tIns="0" rIns="0" bIns="0" rtlCol="0" anchor="ctr"/>
          <a:lstStyle/>
          <a:p>
            <a:pPr algn="ctr" indent="0" marL="0">
              <a:buNone/>
            </a:pPr>
            <a:r>
              <a:rPr lang="en-US" sz="3000" b="1" dirty="0">
                <a:solidFill>
                  <a:srgbClr val="14213D"/>
                </a:solidFill>
                <a:latin typeface="Cambria" pitchFamily="34" charset="0"/>
                <a:ea typeface="Cambria" pitchFamily="34" charset="-122"/>
                <a:cs typeface="Cambria" pitchFamily="34" charset="-120"/>
              </a:rPr>
              <a:t>6</a:t>
            </a:r>
            <a:endParaRPr lang="en-US" sz="3000" dirty="0"/>
          </a:p>
        </p:txBody>
      </p:sp>
      <p:sp>
        <p:nvSpPr>
          <p:cNvPr id="14" name="Text 10"/>
          <p:cNvSpPr/>
          <p:nvPr/>
        </p:nvSpPr>
        <p:spPr>
          <a:xfrm>
            <a:off x="3474720" y="4087368"/>
            <a:ext cx="2423160" cy="36576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Feature Columns</a:t>
            </a:r>
            <a:endParaRPr lang="en-US" sz="1200" dirty="0"/>
          </a:p>
        </p:txBody>
      </p:sp>
      <p:sp>
        <p:nvSpPr>
          <p:cNvPr id="15" name="Shape 11"/>
          <p:cNvSpPr/>
          <p:nvPr/>
        </p:nvSpPr>
        <p:spPr>
          <a:xfrm>
            <a:off x="6217920" y="2606040"/>
            <a:ext cx="2606040" cy="2011680"/>
          </a:xfrm>
          <a:prstGeom prst="roundRect">
            <a:avLst>
              <a:gd name="adj" fmla="val 3636"/>
            </a:avLst>
          </a:prstGeom>
          <a:solidFill>
            <a:srgbClr val="14213D"/>
          </a:solidFill>
          <a:ln/>
          <a:effectLst>
            <a:outerShdw sx="100000" sy="100000" kx="0" ky="0" algn="bl" rotWithShape="0" blurRad="127000" dist="38100" dir="5400000">
              <a:srgbClr val="14213D">
                <a:alpha val="12000"/>
              </a:srgbClr>
            </a:outerShdw>
          </a:effectLst>
        </p:spPr>
      </p:sp>
      <p:sp>
        <p:nvSpPr>
          <p:cNvPr id="16" name="Shape 12"/>
          <p:cNvSpPr/>
          <p:nvPr/>
        </p:nvSpPr>
        <p:spPr>
          <a:xfrm>
            <a:off x="7269480" y="2811780"/>
            <a:ext cx="502920" cy="502920"/>
          </a:xfrm>
          <a:prstGeom prst="ellipse">
            <a:avLst/>
          </a:prstGeom>
          <a:solidFill>
            <a:srgbClr val="1F3A63"/>
          </a:solidFill>
          <a:ln/>
        </p:spPr>
      </p:sp>
      <p:pic>
        <p:nvPicPr>
          <p:cNvPr id="17" name="Image 2" descr="preencoded.png">    </p:cNvPr>
          <p:cNvPicPr>
            <a:picLocks noChangeAspect="1"/>
          </p:cNvPicPr>
          <p:nvPr/>
        </p:nvPicPr>
        <p:blipFill>
          <a:blip r:embed="rId3"/>
          <a:stretch>
            <a:fillRect/>
          </a:stretch>
        </p:blipFill>
        <p:spPr>
          <a:xfrm>
            <a:off x="7395210" y="2937510"/>
            <a:ext cx="251460" cy="251460"/>
          </a:xfrm>
          <a:prstGeom prst="rect">
            <a:avLst/>
          </a:prstGeom>
        </p:spPr>
      </p:pic>
      <p:sp>
        <p:nvSpPr>
          <p:cNvPr id="18" name="Text 13"/>
          <p:cNvSpPr/>
          <p:nvPr/>
        </p:nvSpPr>
        <p:spPr>
          <a:xfrm>
            <a:off x="6309360" y="3474720"/>
            <a:ext cx="2423160" cy="594360"/>
          </a:xfrm>
          <a:prstGeom prst="rect">
            <a:avLst/>
          </a:prstGeom>
          <a:noFill/>
          <a:ln/>
        </p:spPr>
        <p:txBody>
          <a:bodyPr wrap="square" lIns="0" tIns="0" rIns="0" bIns="0" rtlCol="0" anchor="ctr"/>
          <a:lstStyle/>
          <a:p>
            <a:pPr algn="ctr" indent="0" marL="0">
              <a:buNone/>
            </a:pPr>
            <a:r>
              <a:rPr lang="en-US" sz="3000" b="1" dirty="0">
                <a:solidFill>
                  <a:srgbClr val="E8A33D"/>
                </a:solidFill>
                <a:latin typeface="Cambria" pitchFamily="34" charset="0"/>
                <a:ea typeface="Cambria" pitchFamily="34" charset="-122"/>
                <a:cs typeface="Cambria" pitchFamily="34" charset="-120"/>
              </a:rPr>
              <a:t>0%</a:t>
            </a:r>
            <a:endParaRPr lang="en-US" sz="3000" dirty="0"/>
          </a:p>
        </p:txBody>
      </p:sp>
      <p:sp>
        <p:nvSpPr>
          <p:cNvPr id="19" name="Text 14"/>
          <p:cNvSpPr/>
          <p:nvPr/>
        </p:nvSpPr>
        <p:spPr>
          <a:xfrm>
            <a:off x="6309360" y="4087368"/>
            <a:ext cx="2423160" cy="365760"/>
          </a:xfrm>
          <a:prstGeom prst="rect">
            <a:avLst/>
          </a:prstGeom>
          <a:noFill/>
          <a:ln/>
        </p:spPr>
        <p:txBody>
          <a:bodyPr wrap="square" lIns="0" tIns="0" rIns="0" bIns="0" rtlCol="0" anchor="ctr"/>
          <a:lstStyle/>
          <a:p>
            <a:pPr algn="ctr" indent="0" marL="0">
              <a:buNone/>
            </a:pPr>
            <a:r>
              <a:rPr lang="en-US" sz="1200" dirty="0">
                <a:solidFill>
                  <a:srgbClr val="C7D2E8"/>
                </a:solidFill>
                <a:latin typeface="Calibri" pitchFamily="34" charset="0"/>
                <a:ea typeface="Calibri" pitchFamily="34" charset="-122"/>
                <a:cs typeface="Calibri" pitchFamily="34" charset="-120"/>
              </a:rPr>
              <a:t>Missing Data</a:t>
            </a:r>
            <a:endParaRPr lang="en-US" sz="1200" dirty="0"/>
          </a:p>
        </p:txBody>
      </p:sp>
      <p:sp>
        <p:nvSpPr>
          <p:cNvPr id="20" name="Shape 15"/>
          <p:cNvSpPr/>
          <p:nvPr/>
        </p:nvSpPr>
        <p:spPr>
          <a:xfrm>
            <a:off x="9052560" y="2606040"/>
            <a:ext cx="2606040" cy="2011680"/>
          </a:xfrm>
          <a:prstGeom prst="roundRect">
            <a:avLst>
              <a:gd name="adj" fmla="val 3636"/>
            </a:avLst>
          </a:prstGeom>
          <a:solidFill>
            <a:srgbClr val="F7FAFD"/>
          </a:solidFill>
          <a:ln/>
          <a:effectLst>
            <a:outerShdw sx="100000" sy="100000" kx="0" ky="0" algn="bl" rotWithShape="0" blurRad="127000" dist="38100" dir="5400000">
              <a:srgbClr val="14213D">
                <a:alpha val="12000"/>
              </a:srgbClr>
            </a:outerShdw>
          </a:effectLst>
        </p:spPr>
      </p:sp>
      <p:sp>
        <p:nvSpPr>
          <p:cNvPr id="21" name="Shape 16"/>
          <p:cNvSpPr/>
          <p:nvPr/>
        </p:nvSpPr>
        <p:spPr>
          <a:xfrm>
            <a:off x="10104120" y="2811780"/>
            <a:ext cx="502920" cy="502920"/>
          </a:xfrm>
          <a:prstGeom prst="ellipse">
            <a:avLst/>
          </a:prstGeom>
          <a:solidFill>
            <a:srgbClr val="DCEAFB"/>
          </a:solidFill>
          <a:ln/>
        </p:spPr>
      </p:sp>
      <p:pic>
        <p:nvPicPr>
          <p:cNvPr id="22" name="Image 3" descr="preencoded.png">    </p:cNvPr>
          <p:cNvPicPr>
            <a:picLocks noChangeAspect="1"/>
          </p:cNvPicPr>
          <p:nvPr/>
        </p:nvPicPr>
        <p:blipFill>
          <a:blip r:embed="rId4"/>
          <a:stretch>
            <a:fillRect/>
          </a:stretch>
        </p:blipFill>
        <p:spPr>
          <a:xfrm>
            <a:off x="10229850" y="2937510"/>
            <a:ext cx="251460" cy="251460"/>
          </a:xfrm>
          <a:prstGeom prst="rect">
            <a:avLst/>
          </a:prstGeom>
        </p:spPr>
      </p:pic>
      <p:sp>
        <p:nvSpPr>
          <p:cNvPr id="23" name="Text 17"/>
          <p:cNvSpPr/>
          <p:nvPr/>
        </p:nvSpPr>
        <p:spPr>
          <a:xfrm>
            <a:off x="9144000" y="3474720"/>
            <a:ext cx="2423160" cy="594360"/>
          </a:xfrm>
          <a:prstGeom prst="rect">
            <a:avLst/>
          </a:prstGeom>
          <a:noFill/>
          <a:ln/>
        </p:spPr>
        <p:txBody>
          <a:bodyPr wrap="square" lIns="0" tIns="0" rIns="0" bIns="0" rtlCol="0" anchor="ctr"/>
          <a:lstStyle/>
          <a:p>
            <a:pPr algn="ctr" indent="0" marL="0">
              <a:buNone/>
            </a:pPr>
            <a:r>
              <a:rPr lang="en-US" sz="3000" b="1" dirty="0">
                <a:solidFill>
                  <a:srgbClr val="14213D"/>
                </a:solidFill>
                <a:latin typeface="Cambria" pitchFamily="34" charset="0"/>
                <a:ea typeface="Cambria" pitchFamily="34" charset="-122"/>
                <a:cs typeface="Cambria" pitchFamily="34" charset="-120"/>
              </a:rPr>
              <a:t>N/A</a:t>
            </a:r>
            <a:endParaRPr lang="en-US" sz="3000" dirty="0"/>
          </a:p>
        </p:txBody>
      </p:sp>
      <p:sp>
        <p:nvSpPr>
          <p:cNvPr id="24" name="Text 18"/>
          <p:cNvSpPr/>
          <p:nvPr/>
        </p:nvSpPr>
        <p:spPr>
          <a:xfrm>
            <a:off x="9144000" y="4087368"/>
            <a:ext cx="2423160" cy="36576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Cross-Sectional</a:t>
            </a:r>
            <a:endParaRPr lang="en-US" sz="1200" dirty="0"/>
          </a:p>
        </p:txBody>
      </p:sp>
      <p:sp>
        <p:nvSpPr>
          <p:cNvPr id="25" name="Text 19"/>
          <p:cNvSpPr/>
          <p:nvPr/>
        </p:nvSpPr>
        <p:spPr>
          <a:xfrm>
            <a:off x="548640" y="4983480"/>
            <a:ext cx="10789920" cy="36576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Target construction: </a:t>
            </a:r>
            <a:pPr indent="0" marL="0">
              <a:buNone/>
            </a:pPr>
            <a:r>
              <a:rPr lang="en-US" sz="1300" dirty="0">
                <a:solidFill>
                  <a:srgbClr val="1B2430"/>
                </a:solidFill>
                <a:latin typeface="Calibri" pitchFamily="34" charset="0"/>
                <a:ea typeface="Calibri" pitchFamily="34" charset="-122"/>
                <a:cs typeface="Calibri" pitchFamily="34" charset="-120"/>
              </a:rPr>
              <a:t>charges &gt; $10,000 → Bad Risk (binary classification target)</a:t>
            </a:r>
            <a:endParaRPr lang="en-US" sz="1300" dirty="0"/>
          </a:p>
        </p:txBody>
      </p:sp>
      <p:sp>
        <p:nvSpPr>
          <p:cNvPr id="26" name="Text 20"/>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7" name="Text 21"/>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APPROACH</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Methodology</a:t>
            </a:r>
            <a:endParaRPr lang="en-US" sz="3000" dirty="0"/>
          </a:p>
        </p:txBody>
      </p:sp>
      <p:sp>
        <p:nvSpPr>
          <p:cNvPr id="4" name="Shape 2"/>
          <p:cNvSpPr/>
          <p:nvPr/>
        </p:nvSpPr>
        <p:spPr>
          <a:xfrm>
            <a:off x="548640" y="1691640"/>
            <a:ext cx="2331720" cy="2286000"/>
          </a:xfrm>
          <a:prstGeom prst="roundRect">
            <a:avLst>
              <a:gd name="adj" fmla="val 3200"/>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1513332" y="1490472"/>
            <a:ext cx="402336" cy="402336"/>
          </a:xfrm>
          <a:prstGeom prst="ellipse">
            <a:avLst/>
          </a:prstGeom>
          <a:solidFill>
            <a:srgbClr val="E8A33D"/>
          </a:solidFill>
          <a:ln w="25400">
            <a:solidFill>
              <a:srgbClr val="FFFFFF"/>
            </a:solidFill>
            <a:prstDash val="solid"/>
          </a:ln>
        </p:spPr>
      </p:sp>
      <p:sp>
        <p:nvSpPr>
          <p:cNvPr id="6" name="Text 4"/>
          <p:cNvSpPr/>
          <p:nvPr/>
        </p:nvSpPr>
        <p:spPr>
          <a:xfrm>
            <a:off x="1513332" y="1490472"/>
            <a:ext cx="402336" cy="402336"/>
          </a:xfrm>
          <a:prstGeom prst="rect">
            <a:avLst/>
          </a:prstGeom>
          <a:noFill/>
          <a:ln/>
        </p:spPr>
        <p:txBody>
          <a:bodyPr wrap="square" lIns="0" tIns="0" rIns="0" bIns="0" rtlCol="0" anchor="ctr"/>
          <a:lstStyle/>
          <a:p>
            <a:pPr algn="ctr" indent="0" marL="0">
              <a:buNone/>
            </a:pPr>
            <a:r>
              <a:rPr lang="en-US" sz="1400" b="1" dirty="0">
                <a:solidFill>
                  <a:srgbClr val="0D1830"/>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1417320" y="2171700"/>
            <a:ext cx="594360" cy="594360"/>
          </a:xfrm>
          <a:prstGeom prst="ellipse">
            <a:avLst/>
          </a:prstGeom>
          <a:solidFill>
            <a:srgbClr val="14213D"/>
          </a:solidFill>
          <a:ln/>
        </p:spPr>
      </p:sp>
      <p:pic>
        <p:nvPicPr>
          <p:cNvPr id="8" name="Image 0" descr="preencoded.png">    </p:cNvPr>
          <p:cNvPicPr>
            <a:picLocks noChangeAspect="1"/>
          </p:cNvPicPr>
          <p:nvPr/>
        </p:nvPicPr>
        <p:blipFill>
          <a:blip r:embed="rId1"/>
          <a:stretch>
            <a:fillRect/>
          </a:stretch>
        </p:blipFill>
        <p:spPr>
          <a:xfrm>
            <a:off x="1565910" y="2320290"/>
            <a:ext cx="297180" cy="297180"/>
          </a:xfrm>
          <a:prstGeom prst="rect">
            <a:avLst/>
          </a:prstGeom>
        </p:spPr>
      </p:pic>
      <p:sp>
        <p:nvSpPr>
          <p:cNvPr id="9" name="Text 6"/>
          <p:cNvSpPr/>
          <p:nvPr/>
        </p:nvSpPr>
        <p:spPr>
          <a:xfrm>
            <a:off x="640080" y="2926080"/>
            <a:ext cx="2148840" cy="502920"/>
          </a:xfrm>
          <a:prstGeom prst="rect">
            <a:avLst/>
          </a:prstGeom>
          <a:noFill/>
          <a:ln/>
        </p:spPr>
        <p:txBody>
          <a:bodyPr wrap="square" lIns="0" tIns="0" rIns="0" bIns="0" rtlCol="0" anchor="ctr"/>
          <a:lstStyle/>
          <a:p>
            <a:pPr algn="ctr" indent="0" marL="0">
              <a:buNone/>
            </a:pPr>
            <a:r>
              <a:rPr lang="en-US" sz="1350" b="1" dirty="0">
                <a:solidFill>
                  <a:srgbClr val="14213D"/>
                </a:solidFill>
                <a:latin typeface="Calibri" pitchFamily="34" charset="0"/>
                <a:ea typeface="Calibri" pitchFamily="34" charset="-122"/>
                <a:cs typeface="Calibri" pitchFamily="34" charset="-120"/>
              </a:rPr>
              <a:t>Preprocess</a:t>
            </a:r>
            <a:endParaRPr lang="en-US" sz="1350" dirty="0"/>
          </a:p>
        </p:txBody>
      </p:sp>
      <p:sp>
        <p:nvSpPr>
          <p:cNvPr id="10" name="Text 7"/>
          <p:cNvSpPr/>
          <p:nvPr/>
        </p:nvSpPr>
        <p:spPr>
          <a:xfrm>
            <a:off x="685800" y="3410712"/>
            <a:ext cx="2057400" cy="548640"/>
          </a:xfrm>
          <a:prstGeom prst="rect">
            <a:avLst/>
          </a:prstGeom>
          <a:noFill/>
          <a:ln/>
        </p:spPr>
        <p:txBody>
          <a:bodyPr wrap="square" lIns="0" tIns="0" rIns="0" bIns="0" rtlCol="0" anchor="ctr"/>
          <a:lstStyle/>
          <a:p>
            <a:pPr algn="ctr" indent="0" marL="0">
              <a:lnSpc>
                <a:spcPct val="110000"/>
              </a:lnSpc>
              <a:buNone/>
            </a:pPr>
            <a:r>
              <a:rPr lang="en-US" sz="950" dirty="0">
                <a:solidFill>
                  <a:srgbClr val="5B6B82"/>
                </a:solidFill>
                <a:latin typeface="Calibri" pitchFamily="34" charset="0"/>
                <a:ea typeface="Calibri" pitchFamily="34" charset="-122"/>
                <a:cs typeface="Calibri" pitchFamily="34" charset="-120"/>
              </a:rPr>
              <a:t>Scale numeric, one-hot</a:t>
            </a:r>
            <a:endParaRPr lang="en-US" sz="950" dirty="0"/>
          </a:p>
          <a:p>
            <a:pPr algn="ctr" indent="0" marL="0">
              <a:lnSpc>
                <a:spcPct val="110000"/>
              </a:lnSpc>
              <a:buNone/>
            </a:pPr>
            <a:r>
              <a:rPr lang="en-US" sz="950" dirty="0">
                <a:solidFill>
                  <a:srgbClr val="5B6B82"/>
                </a:solidFill>
                <a:latin typeface="Calibri" pitchFamily="34" charset="0"/>
                <a:ea typeface="Calibri" pitchFamily="34" charset="-122"/>
                <a:cs typeface="Calibri" pitchFamily="34" charset="-120"/>
              </a:rPr>
              <a:t>categoricals via ColumnTransformer</a:t>
            </a:r>
            <a:endParaRPr lang="en-US" sz="950" dirty="0"/>
          </a:p>
        </p:txBody>
      </p:sp>
      <p:pic>
        <p:nvPicPr>
          <p:cNvPr id="11" name="Image 1" descr="preencoded.png">    </p:cNvPr>
          <p:cNvPicPr>
            <a:picLocks noChangeAspect="1"/>
          </p:cNvPicPr>
          <p:nvPr/>
        </p:nvPicPr>
        <p:blipFill>
          <a:blip r:embed="rId2"/>
          <a:stretch>
            <a:fillRect/>
          </a:stretch>
        </p:blipFill>
        <p:spPr>
          <a:xfrm>
            <a:off x="2907792" y="2734056"/>
            <a:ext cx="201168" cy="201168"/>
          </a:xfrm>
          <a:prstGeom prst="rect">
            <a:avLst/>
          </a:prstGeom>
        </p:spPr>
      </p:pic>
      <p:sp>
        <p:nvSpPr>
          <p:cNvPr id="12" name="Shape 8"/>
          <p:cNvSpPr/>
          <p:nvPr/>
        </p:nvSpPr>
        <p:spPr>
          <a:xfrm>
            <a:off x="3200400" y="1691640"/>
            <a:ext cx="2331720" cy="2286000"/>
          </a:xfrm>
          <a:prstGeom prst="roundRect">
            <a:avLst>
              <a:gd name="adj" fmla="val 3200"/>
            </a:avLst>
          </a:prstGeom>
          <a:solidFill>
            <a:srgbClr val="F7FAFD"/>
          </a:solidFill>
          <a:ln/>
          <a:effectLst>
            <a:outerShdw sx="100000" sy="100000" kx="0" ky="0" algn="bl" rotWithShape="0" blurRad="127000" dist="38100" dir="5400000">
              <a:srgbClr val="14213D">
                <a:alpha val="12000"/>
              </a:srgbClr>
            </a:outerShdw>
          </a:effectLst>
        </p:spPr>
      </p:sp>
      <p:sp>
        <p:nvSpPr>
          <p:cNvPr id="13" name="Shape 9"/>
          <p:cNvSpPr/>
          <p:nvPr/>
        </p:nvSpPr>
        <p:spPr>
          <a:xfrm>
            <a:off x="4165092" y="1490472"/>
            <a:ext cx="402336" cy="402336"/>
          </a:xfrm>
          <a:prstGeom prst="ellipse">
            <a:avLst/>
          </a:prstGeom>
          <a:solidFill>
            <a:srgbClr val="E8A33D"/>
          </a:solidFill>
          <a:ln w="25400">
            <a:solidFill>
              <a:srgbClr val="FFFFFF"/>
            </a:solidFill>
            <a:prstDash val="solid"/>
          </a:ln>
        </p:spPr>
      </p:sp>
      <p:sp>
        <p:nvSpPr>
          <p:cNvPr id="14" name="Text 10"/>
          <p:cNvSpPr/>
          <p:nvPr/>
        </p:nvSpPr>
        <p:spPr>
          <a:xfrm>
            <a:off x="4165092" y="1490472"/>
            <a:ext cx="402336" cy="402336"/>
          </a:xfrm>
          <a:prstGeom prst="rect">
            <a:avLst/>
          </a:prstGeom>
          <a:noFill/>
          <a:ln/>
        </p:spPr>
        <p:txBody>
          <a:bodyPr wrap="square" lIns="0" tIns="0" rIns="0" bIns="0" rtlCol="0" anchor="ctr"/>
          <a:lstStyle/>
          <a:p>
            <a:pPr algn="ctr" indent="0" marL="0">
              <a:buNone/>
            </a:pPr>
            <a:r>
              <a:rPr lang="en-US" sz="1400" b="1" dirty="0">
                <a:solidFill>
                  <a:srgbClr val="0D1830"/>
                </a:solidFill>
                <a:latin typeface="Calibri" pitchFamily="34" charset="0"/>
                <a:ea typeface="Calibri" pitchFamily="34" charset="-122"/>
                <a:cs typeface="Calibri" pitchFamily="34" charset="-120"/>
              </a:rPr>
              <a:t>2</a:t>
            </a:r>
            <a:endParaRPr lang="en-US" sz="1400" dirty="0"/>
          </a:p>
        </p:txBody>
      </p:sp>
      <p:sp>
        <p:nvSpPr>
          <p:cNvPr id="15" name="Shape 11"/>
          <p:cNvSpPr/>
          <p:nvPr/>
        </p:nvSpPr>
        <p:spPr>
          <a:xfrm>
            <a:off x="4069080" y="2171700"/>
            <a:ext cx="594360" cy="594360"/>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4217670" y="2320290"/>
            <a:ext cx="297180" cy="297180"/>
          </a:xfrm>
          <a:prstGeom prst="rect">
            <a:avLst/>
          </a:prstGeom>
        </p:spPr>
      </p:pic>
      <p:sp>
        <p:nvSpPr>
          <p:cNvPr id="17" name="Text 12"/>
          <p:cNvSpPr/>
          <p:nvPr/>
        </p:nvSpPr>
        <p:spPr>
          <a:xfrm>
            <a:off x="3291840" y="2926080"/>
            <a:ext cx="2148840" cy="502920"/>
          </a:xfrm>
          <a:prstGeom prst="rect">
            <a:avLst/>
          </a:prstGeom>
          <a:noFill/>
          <a:ln/>
        </p:spPr>
        <p:txBody>
          <a:bodyPr wrap="square" lIns="0" tIns="0" rIns="0" bIns="0" rtlCol="0" anchor="ctr"/>
          <a:lstStyle/>
          <a:p>
            <a:pPr algn="ctr" indent="0" marL="0">
              <a:buNone/>
            </a:pPr>
            <a:r>
              <a:rPr lang="en-US" sz="1350" b="1" dirty="0">
                <a:solidFill>
                  <a:srgbClr val="14213D"/>
                </a:solidFill>
                <a:latin typeface="Calibri" pitchFamily="34" charset="0"/>
                <a:ea typeface="Calibri" pitchFamily="34" charset="-122"/>
                <a:cs typeface="Calibri" pitchFamily="34" charset="-120"/>
              </a:rPr>
              <a:t>Feature</a:t>
            </a:r>
            <a:endParaRPr lang="en-US" sz="1350" dirty="0"/>
          </a:p>
          <a:p>
            <a:pPr algn="ctr" indent="0" marL="0">
              <a:buNone/>
            </a:pPr>
            <a:r>
              <a:rPr lang="en-US" sz="1350" b="1" dirty="0">
                <a:solidFill>
                  <a:srgbClr val="14213D"/>
                </a:solidFill>
                <a:latin typeface="Calibri" pitchFamily="34" charset="0"/>
                <a:ea typeface="Calibri" pitchFamily="34" charset="-122"/>
                <a:cs typeface="Calibri" pitchFamily="34" charset="-120"/>
              </a:rPr>
              <a:t>Engineering</a:t>
            </a:r>
            <a:endParaRPr lang="en-US" sz="1350" dirty="0"/>
          </a:p>
        </p:txBody>
      </p:sp>
      <p:sp>
        <p:nvSpPr>
          <p:cNvPr id="18" name="Text 13"/>
          <p:cNvSpPr/>
          <p:nvPr/>
        </p:nvSpPr>
        <p:spPr>
          <a:xfrm>
            <a:off x="3337560" y="3410712"/>
            <a:ext cx="2057400" cy="548640"/>
          </a:xfrm>
          <a:prstGeom prst="rect">
            <a:avLst/>
          </a:prstGeom>
          <a:noFill/>
          <a:ln/>
        </p:spPr>
        <p:txBody>
          <a:bodyPr wrap="square" lIns="0" tIns="0" rIns="0" bIns="0" rtlCol="0" anchor="ctr"/>
          <a:lstStyle/>
          <a:p>
            <a:pPr algn="ctr" indent="0" marL="0">
              <a:lnSpc>
                <a:spcPct val="110000"/>
              </a:lnSpc>
              <a:buNone/>
            </a:pPr>
            <a:r>
              <a:rPr lang="en-US" sz="950" dirty="0">
                <a:solidFill>
                  <a:srgbClr val="5B6B82"/>
                </a:solidFill>
                <a:latin typeface="Calibri" pitchFamily="34" charset="0"/>
                <a:ea typeface="Calibri" pitchFamily="34" charset="-122"/>
                <a:cs typeface="Calibri" pitchFamily="34" charset="-120"/>
              </a:rPr>
              <a:t>Target built by binarizing</a:t>
            </a:r>
            <a:endParaRPr lang="en-US" sz="950" dirty="0"/>
          </a:p>
          <a:p>
            <a:pPr algn="ctr" indent="0" marL="0">
              <a:lnSpc>
                <a:spcPct val="110000"/>
              </a:lnSpc>
              <a:buNone/>
            </a:pPr>
            <a:r>
              <a:rPr lang="en-US" sz="950" dirty="0">
                <a:solidFill>
                  <a:srgbClr val="5B6B82"/>
                </a:solidFill>
                <a:latin typeface="Calibri" pitchFamily="34" charset="0"/>
                <a:ea typeface="Calibri" pitchFamily="34" charset="-122"/>
                <a:cs typeface="Calibri" pitchFamily="34" charset="-120"/>
              </a:rPr>
              <a:t>charges at $10,000</a:t>
            </a:r>
            <a:endParaRPr lang="en-US" sz="950" dirty="0"/>
          </a:p>
        </p:txBody>
      </p:sp>
      <p:pic>
        <p:nvPicPr>
          <p:cNvPr id="19" name="Image 3" descr="preencoded.png">    </p:cNvPr>
          <p:cNvPicPr>
            <a:picLocks noChangeAspect="1"/>
          </p:cNvPicPr>
          <p:nvPr/>
        </p:nvPicPr>
        <p:blipFill>
          <a:blip r:embed="rId4"/>
          <a:stretch>
            <a:fillRect/>
          </a:stretch>
        </p:blipFill>
        <p:spPr>
          <a:xfrm>
            <a:off x="5559552" y="2734056"/>
            <a:ext cx="201168" cy="201168"/>
          </a:xfrm>
          <a:prstGeom prst="rect">
            <a:avLst/>
          </a:prstGeom>
        </p:spPr>
      </p:pic>
      <p:sp>
        <p:nvSpPr>
          <p:cNvPr id="20" name="Shape 14"/>
          <p:cNvSpPr/>
          <p:nvPr/>
        </p:nvSpPr>
        <p:spPr>
          <a:xfrm>
            <a:off x="5852160" y="1691640"/>
            <a:ext cx="2331720" cy="2286000"/>
          </a:xfrm>
          <a:prstGeom prst="roundRect">
            <a:avLst>
              <a:gd name="adj" fmla="val 3200"/>
            </a:avLst>
          </a:prstGeom>
          <a:solidFill>
            <a:srgbClr val="F7FAFD"/>
          </a:solidFill>
          <a:ln/>
          <a:effectLst>
            <a:outerShdw sx="100000" sy="100000" kx="0" ky="0" algn="bl" rotWithShape="0" blurRad="127000" dist="38100" dir="5400000">
              <a:srgbClr val="14213D">
                <a:alpha val="12000"/>
              </a:srgbClr>
            </a:outerShdw>
          </a:effectLst>
        </p:spPr>
      </p:sp>
      <p:sp>
        <p:nvSpPr>
          <p:cNvPr id="21" name="Shape 15"/>
          <p:cNvSpPr/>
          <p:nvPr/>
        </p:nvSpPr>
        <p:spPr>
          <a:xfrm>
            <a:off x="6816852" y="1490472"/>
            <a:ext cx="402336" cy="402336"/>
          </a:xfrm>
          <a:prstGeom prst="ellipse">
            <a:avLst/>
          </a:prstGeom>
          <a:solidFill>
            <a:srgbClr val="E8A33D"/>
          </a:solidFill>
          <a:ln w="25400">
            <a:solidFill>
              <a:srgbClr val="FFFFFF"/>
            </a:solidFill>
            <a:prstDash val="solid"/>
          </a:ln>
        </p:spPr>
      </p:sp>
      <p:sp>
        <p:nvSpPr>
          <p:cNvPr id="22" name="Text 16"/>
          <p:cNvSpPr/>
          <p:nvPr/>
        </p:nvSpPr>
        <p:spPr>
          <a:xfrm>
            <a:off x="6816852" y="1490472"/>
            <a:ext cx="402336" cy="402336"/>
          </a:xfrm>
          <a:prstGeom prst="rect">
            <a:avLst/>
          </a:prstGeom>
          <a:noFill/>
          <a:ln/>
        </p:spPr>
        <p:txBody>
          <a:bodyPr wrap="square" lIns="0" tIns="0" rIns="0" bIns="0" rtlCol="0" anchor="ctr"/>
          <a:lstStyle/>
          <a:p>
            <a:pPr algn="ctr" indent="0" marL="0">
              <a:buNone/>
            </a:pPr>
            <a:r>
              <a:rPr lang="en-US" sz="1400" b="1" dirty="0">
                <a:solidFill>
                  <a:srgbClr val="0D1830"/>
                </a:solidFill>
                <a:latin typeface="Calibri" pitchFamily="34" charset="0"/>
                <a:ea typeface="Calibri" pitchFamily="34" charset="-122"/>
                <a:cs typeface="Calibri" pitchFamily="34" charset="-120"/>
              </a:rPr>
              <a:t>3</a:t>
            </a:r>
            <a:endParaRPr lang="en-US" sz="1400" dirty="0"/>
          </a:p>
        </p:txBody>
      </p:sp>
      <p:sp>
        <p:nvSpPr>
          <p:cNvPr id="23" name="Shape 17"/>
          <p:cNvSpPr/>
          <p:nvPr/>
        </p:nvSpPr>
        <p:spPr>
          <a:xfrm>
            <a:off x="6720840" y="2171700"/>
            <a:ext cx="594360" cy="594360"/>
          </a:xfrm>
          <a:prstGeom prst="ellipse">
            <a:avLst/>
          </a:prstGeom>
          <a:solidFill>
            <a:srgbClr val="14213D"/>
          </a:solidFill>
          <a:ln/>
        </p:spPr>
      </p:sp>
      <p:pic>
        <p:nvPicPr>
          <p:cNvPr id="24" name="Image 4" descr="preencoded.png">    </p:cNvPr>
          <p:cNvPicPr>
            <a:picLocks noChangeAspect="1"/>
          </p:cNvPicPr>
          <p:nvPr/>
        </p:nvPicPr>
        <p:blipFill>
          <a:blip r:embed="rId5"/>
          <a:stretch>
            <a:fillRect/>
          </a:stretch>
        </p:blipFill>
        <p:spPr>
          <a:xfrm>
            <a:off x="6869430" y="2320290"/>
            <a:ext cx="297180" cy="297180"/>
          </a:xfrm>
          <a:prstGeom prst="rect">
            <a:avLst/>
          </a:prstGeom>
        </p:spPr>
      </p:pic>
      <p:sp>
        <p:nvSpPr>
          <p:cNvPr id="25" name="Text 18"/>
          <p:cNvSpPr/>
          <p:nvPr/>
        </p:nvSpPr>
        <p:spPr>
          <a:xfrm>
            <a:off x="5943600" y="2926080"/>
            <a:ext cx="2148840" cy="502920"/>
          </a:xfrm>
          <a:prstGeom prst="rect">
            <a:avLst/>
          </a:prstGeom>
          <a:noFill/>
          <a:ln/>
        </p:spPr>
        <p:txBody>
          <a:bodyPr wrap="square" lIns="0" tIns="0" rIns="0" bIns="0" rtlCol="0" anchor="ctr"/>
          <a:lstStyle/>
          <a:p>
            <a:pPr algn="ctr" indent="0" marL="0">
              <a:buNone/>
            </a:pPr>
            <a:r>
              <a:rPr lang="en-US" sz="1350" b="1" dirty="0">
                <a:solidFill>
                  <a:srgbClr val="14213D"/>
                </a:solidFill>
                <a:latin typeface="Calibri" pitchFamily="34" charset="0"/>
                <a:ea typeface="Calibri" pitchFamily="34" charset="-122"/>
                <a:cs typeface="Calibri" pitchFamily="34" charset="-120"/>
              </a:rPr>
              <a:t>Model</a:t>
            </a:r>
            <a:endParaRPr lang="en-US" sz="1350" dirty="0"/>
          </a:p>
          <a:p>
            <a:pPr algn="ctr" indent="0" marL="0">
              <a:buNone/>
            </a:pPr>
            <a:r>
              <a:rPr lang="en-US" sz="1350" b="1" dirty="0">
                <a:solidFill>
                  <a:srgbClr val="14213D"/>
                </a:solidFill>
                <a:latin typeface="Calibri" pitchFamily="34" charset="0"/>
                <a:ea typeface="Calibri" pitchFamily="34" charset="-122"/>
                <a:cs typeface="Calibri" pitchFamily="34" charset="-120"/>
              </a:rPr>
              <a:t>Selection</a:t>
            </a:r>
            <a:endParaRPr lang="en-US" sz="1350" dirty="0"/>
          </a:p>
        </p:txBody>
      </p:sp>
      <p:sp>
        <p:nvSpPr>
          <p:cNvPr id="26" name="Text 19"/>
          <p:cNvSpPr/>
          <p:nvPr/>
        </p:nvSpPr>
        <p:spPr>
          <a:xfrm>
            <a:off x="5989320" y="3410712"/>
            <a:ext cx="2057400" cy="548640"/>
          </a:xfrm>
          <a:prstGeom prst="rect">
            <a:avLst/>
          </a:prstGeom>
          <a:noFill/>
          <a:ln/>
        </p:spPr>
        <p:txBody>
          <a:bodyPr wrap="square" lIns="0" tIns="0" rIns="0" bIns="0" rtlCol="0" anchor="ctr"/>
          <a:lstStyle/>
          <a:p>
            <a:pPr algn="ctr" indent="0" marL="0">
              <a:lnSpc>
                <a:spcPct val="110000"/>
              </a:lnSpc>
              <a:buNone/>
            </a:pPr>
            <a:r>
              <a:rPr lang="en-US" sz="950" dirty="0">
                <a:solidFill>
                  <a:srgbClr val="5B6B82"/>
                </a:solidFill>
                <a:latin typeface="Calibri" pitchFamily="34" charset="0"/>
                <a:ea typeface="Calibri" pitchFamily="34" charset="-122"/>
                <a:cs typeface="Calibri" pitchFamily="34" charset="-120"/>
              </a:rPr>
              <a:t>Logistic Regression, Decision Tree,</a:t>
            </a:r>
            <a:endParaRPr lang="en-US" sz="950" dirty="0"/>
          </a:p>
          <a:p>
            <a:pPr algn="ctr" indent="0" marL="0">
              <a:lnSpc>
                <a:spcPct val="110000"/>
              </a:lnSpc>
              <a:buNone/>
            </a:pPr>
            <a:r>
              <a:rPr lang="en-US" sz="950" dirty="0">
                <a:solidFill>
                  <a:srgbClr val="5B6B82"/>
                </a:solidFill>
                <a:latin typeface="Calibri" pitchFamily="34" charset="0"/>
                <a:ea typeface="Calibri" pitchFamily="34" charset="-122"/>
                <a:cs typeface="Calibri" pitchFamily="34" charset="-120"/>
              </a:rPr>
              <a:t>XGBoost compared</a:t>
            </a:r>
            <a:endParaRPr lang="en-US" sz="950" dirty="0"/>
          </a:p>
        </p:txBody>
      </p:sp>
      <p:pic>
        <p:nvPicPr>
          <p:cNvPr id="27" name="Image 5" descr="preencoded.png">    </p:cNvPr>
          <p:cNvPicPr>
            <a:picLocks noChangeAspect="1"/>
          </p:cNvPicPr>
          <p:nvPr/>
        </p:nvPicPr>
        <p:blipFill>
          <a:blip r:embed="rId6"/>
          <a:stretch>
            <a:fillRect/>
          </a:stretch>
        </p:blipFill>
        <p:spPr>
          <a:xfrm>
            <a:off x="8211312" y="2734056"/>
            <a:ext cx="201168" cy="201168"/>
          </a:xfrm>
          <a:prstGeom prst="rect">
            <a:avLst/>
          </a:prstGeom>
        </p:spPr>
      </p:pic>
      <p:sp>
        <p:nvSpPr>
          <p:cNvPr id="28" name="Shape 20"/>
          <p:cNvSpPr/>
          <p:nvPr/>
        </p:nvSpPr>
        <p:spPr>
          <a:xfrm>
            <a:off x="8503920" y="1691640"/>
            <a:ext cx="2331720" cy="2286000"/>
          </a:xfrm>
          <a:prstGeom prst="roundRect">
            <a:avLst>
              <a:gd name="adj" fmla="val 3200"/>
            </a:avLst>
          </a:prstGeom>
          <a:solidFill>
            <a:srgbClr val="F7FAFD"/>
          </a:solidFill>
          <a:ln/>
          <a:effectLst>
            <a:outerShdw sx="100000" sy="100000" kx="0" ky="0" algn="bl" rotWithShape="0" blurRad="127000" dist="38100" dir="5400000">
              <a:srgbClr val="14213D">
                <a:alpha val="12000"/>
              </a:srgbClr>
            </a:outerShdw>
          </a:effectLst>
        </p:spPr>
      </p:sp>
      <p:sp>
        <p:nvSpPr>
          <p:cNvPr id="29" name="Shape 21"/>
          <p:cNvSpPr/>
          <p:nvPr/>
        </p:nvSpPr>
        <p:spPr>
          <a:xfrm>
            <a:off x="9468612" y="1490472"/>
            <a:ext cx="402336" cy="402336"/>
          </a:xfrm>
          <a:prstGeom prst="ellipse">
            <a:avLst/>
          </a:prstGeom>
          <a:solidFill>
            <a:srgbClr val="E8A33D"/>
          </a:solidFill>
          <a:ln w="25400">
            <a:solidFill>
              <a:srgbClr val="FFFFFF"/>
            </a:solidFill>
            <a:prstDash val="solid"/>
          </a:ln>
        </p:spPr>
      </p:sp>
      <p:sp>
        <p:nvSpPr>
          <p:cNvPr id="30" name="Text 22"/>
          <p:cNvSpPr/>
          <p:nvPr/>
        </p:nvSpPr>
        <p:spPr>
          <a:xfrm>
            <a:off x="9468612" y="1490472"/>
            <a:ext cx="402336" cy="402336"/>
          </a:xfrm>
          <a:prstGeom prst="rect">
            <a:avLst/>
          </a:prstGeom>
          <a:noFill/>
          <a:ln/>
        </p:spPr>
        <p:txBody>
          <a:bodyPr wrap="square" lIns="0" tIns="0" rIns="0" bIns="0" rtlCol="0" anchor="ctr"/>
          <a:lstStyle/>
          <a:p>
            <a:pPr algn="ctr" indent="0" marL="0">
              <a:buNone/>
            </a:pPr>
            <a:r>
              <a:rPr lang="en-US" sz="1400" b="1" dirty="0">
                <a:solidFill>
                  <a:srgbClr val="0D1830"/>
                </a:solidFill>
                <a:latin typeface="Calibri" pitchFamily="34" charset="0"/>
                <a:ea typeface="Calibri" pitchFamily="34" charset="-122"/>
                <a:cs typeface="Calibri" pitchFamily="34" charset="-120"/>
              </a:rPr>
              <a:t>4</a:t>
            </a:r>
            <a:endParaRPr lang="en-US" sz="1400" dirty="0"/>
          </a:p>
        </p:txBody>
      </p:sp>
      <p:sp>
        <p:nvSpPr>
          <p:cNvPr id="31" name="Shape 23"/>
          <p:cNvSpPr/>
          <p:nvPr/>
        </p:nvSpPr>
        <p:spPr>
          <a:xfrm>
            <a:off x="9372600" y="2171700"/>
            <a:ext cx="594360" cy="594360"/>
          </a:xfrm>
          <a:prstGeom prst="ellipse">
            <a:avLst/>
          </a:prstGeom>
          <a:solidFill>
            <a:srgbClr val="14213D"/>
          </a:solidFill>
          <a:ln/>
        </p:spPr>
      </p:sp>
      <p:pic>
        <p:nvPicPr>
          <p:cNvPr id="32" name="Image 6" descr="preencoded.png">    </p:cNvPr>
          <p:cNvPicPr>
            <a:picLocks noChangeAspect="1"/>
          </p:cNvPicPr>
          <p:nvPr/>
        </p:nvPicPr>
        <p:blipFill>
          <a:blip r:embed="rId7"/>
          <a:stretch>
            <a:fillRect/>
          </a:stretch>
        </p:blipFill>
        <p:spPr>
          <a:xfrm>
            <a:off x="9521190" y="2320290"/>
            <a:ext cx="297180" cy="297180"/>
          </a:xfrm>
          <a:prstGeom prst="rect">
            <a:avLst/>
          </a:prstGeom>
        </p:spPr>
      </p:pic>
      <p:sp>
        <p:nvSpPr>
          <p:cNvPr id="33" name="Text 24"/>
          <p:cNvSpPr/>
          <p:nvPr/>
        </p:nvSpPr>
        <p:spPr>
          <a:xfrm>
            <a:off x="8595360" y="2926080"/>
            <a:ext cx="2148840" cy="502920"/>
          </a:xfrm>
          <a:prstGeom prst="rect">
            <a:avLst/>
          </a:prstGeom>
          <a:noFill/>
          <a:ln/>
        </p:spPr>
        <p:txBody>
          <a:bodyPr wrap="square" lIns="0" tIns="0" rIns="0" bIns="0" rtlCol="0" anchor="ctr"/>
          <a:lstStyle/>
          <a:p>
            <a:pPr algn="ctr" indent="0" marL="0">
              <a:buNone/>
            </a:pPr>
            <a:r>
              <a:rPr lang="en-US" sz="1350" b="1" dirty="0">
                <a:solidFill>
                  <a:srgbClr val="14213D"/>
                </a:solidFill>
                <a:latin typeface="Calibri" pitchFamily="34" charset="0"/>
                <a:ea typeface="Calibri" pitchFamily="34" charset="-122"/>
                <a:cs typeface="Calibri" pitchFamily="34" charset="-120"/>
              </a:rPr>
              <a:t>Validate</a:t>
            </a:r>
            <a:endParaRPr lang="en-US" sz="1350" dirty="0"/>
          </a:p>
        </p:txBody>
      </p:sp>
      <p:sp>
        <p:nvSpPr>
          <p:cNvPr id="34" name="Text 25"/>
          <p:cNvSpPr/>
          <p:nvPr/>
        </p:nvSpPr>
        <p:spPr>
          <a:xfrm>
            <a:off x="8641080" y="3410712"/>
            <a:ext cx="2057400" cy="548640"/>
          </a:xfrm>
          <a:prstGeom prst="rect">
            <a:avLst/>
          </a:prstGeom>
          <a:noFill/>
          <a:ln/>
        </p:spPr>
        <p:txBody>
          <a:bodyPr wrap="square" lIns="0" tIns="0" rIns="0" bIns="0" rtlCol="0" anchor="ctr"/>
          <a:lstStyle/>
          <a:p>
            <a:pPr algn="ctr" indent="0" marL="0">
              <a:lnSpc>
                <a:spcPct val="110000"/>
              </a:lnSpc>
              <a:buNone/>
            </a:pPr>
            <a:r>
              <a:rPr lang="en-US" sz="950" dirty="0">
                <a:solidFill>
                  <a:srgbClr val="5B6B82"/>
                </a:solidFill>
                <a:latin typeface="Calibri" pitchFamily="34" charset="0"/>
                <a:ea typeface="Calibri" pitchFamily="34" charset="-122"/>
                <a:cs typeface="Calibri" pitchFamily="34" charset="-120"/>
              </a:rPr>
              <a:t>60/20/20 stratified split,</a:t>
            </a:r>
            <a:endParaRPr lang="en-US" sz="950" dirty="0"/>
          </a:p>
          <a:p>
            <a:pPr algn="ctr" indent="0" marL="0">
              <a:lnSpc>
                <a:spcPct val="110000"/>
              </a:lnSpc>
              <a:buNone/>
            </a:pPr>
            <a:r>
              <a:rPr lang="en-US" sz="950" dirty="0">
                <a:solidFill>
                  <a:srgbClr val="5B6B82"/>
                </a:solidFill>
                <a:latin typeface="Calibri" pitchFamily="34" charset="0"/>
                <a:ea typeface="Calibri" pitchFamily="34" charset="-122"/>
                <a:cs typeface="Calibri" pitchFamily="34" charset="-120"/>
              </a:rPr>
              <a:t>SHAP/LIME + Fairlearn audit</a:t>
            </a:r>
            <a:endParaRPr lang="en-US" sz="950" dirty="0"/>
          </a:p>
        </p:txBody>
      </p:sp>
      <p:sp>
        <p:nvSpPr>
          <p:cNvPr id="35" name="Shape 26"/>
          <p:cNvSpPr/>
          <p:nvPr/>
        </p:nvSpPr>
        <p:spPr>
          <a:xfrm>
            <a:off x="548640" y="4297680"/>
            <a:ext cx="11091672" cy="1828800"/>
          </a:xfrm>
          <a:prstGeom prst="roundRect">
            <a:avLst>
              <a:gd name="adj" fmla="val 4000"/>
            </a:avLst>
          </a:prstGeom>
          <a:solidFill>
            <a:srgbClr val="EEF3FA"/>
          </a:solidFill>
          <a:ln/>
        </p:spPr>
      </p:sp>
      <p:sp>
        <p:nvSpPr>
          <p:cNvPr id="36" name="Text 27"/>
          <p:cNvSpPr/>
          <p:nvPr/>
        </p:nvSpPr>
        <p:spPr>
          <a:xfrm>
            <a:off x="868680" y="4480560"/>
            <a:ext cx="10424160" cy="1463040"/>
          </a:xfrm>
          <a:prstGeom prst="rect">
            <a:avLst/>
          </a:prstGeom>
          <a:noFill/>
          <a:ln/>
        </p:spPr>
        <p:txBody>
          <a:bodyPr wrap="square" lIns="0" tIns="0" rIns="0" bIns="0" rtlCol="0" anchor="ctr"/>
          <a:lstStyle/>
          <a:p>
            <a:pPr indent="0" marL="0">
              <a:lnSpc>
                <a:spcPct val="130000"/>
              </a:lnSpc>
              <a:buNone/>
            </a:pPr>
            <a:r>
              <a:rPr lang="en-US" sz="1350" dirty="0">
                <a:solidFill>
                  <a:srgbClr val="1B2430"/>
                </a:solidFill>
                <a:latin typeface="Calibri" pitchFamily="34" charset="0"/>
                <a:ea typeface="Calibri" pitchFamily="34" charset="-122"/>
                <a:cs typeface="Calibri" pitchFamily="34" charset="-120"/>
              </a:rPr>
              <a:t>Three models were trained and compared: Logistic Regression and a Decision Tree served as interpretable baselines, while XGBoost was the performance benchmark ultimately selected. Data was split 60/20/20 (stratified); class imbalance was handled with SMOTE applied only on the training fold. The final model was validated on a held-out 20% test set with SHAP/LIME explainability and a Fairlearn fairness audit.</a:t>
            </a:r>
            <a:endParaRPr lang="en-US" sz="1350" dirty="0"/>
          </a:p>
        </p:txBody>
      </p:sp>
      <p:sp>
        <p:nvSpPr>
          <p:cNvPr id="37" name="Text 28"/>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38" name="Text 29"/>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DATA EXPLORATION</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Exploratory Data Analysis</a:t>
            </a:r>
            <a:endParaRPr lang="en-US" sz="3000" dirty="0"/>
          </a:p>
        </p:txBody>
      </p:sp>
      <p:pic>
        <p:nvPicPr>
          <p:cNvPr id="4" name="Image 0" descr="/home/claude/build/heatmap.png">    </p:cNvPr>
          <p:cNvPicPr>
            <a:picLocks noChangeAspect="1"/>
          </p:cNvPicPr>
          <p:nvPr/>
        </p:nvPicPr>
        <p:blipFill>
          <a:blip r:embed="rId1"/>
          <a:srcRect l="0" r="0" t="0" b="0"/>
          <a:stretch/>
        </p:blipFill>
        <p:spPr>
          <a:xfrm>
            <a:off x="411480" y="1508760"/>
            <a:ext cx="5486400" cy="4572000"/>
          </a:xfrm>
          <a:prstGeom prst="rect">
            <a:avLst/>
          </a:prstGeom>
        </p:spPr>
      </p:pic>
      <p:sp>
        <p:nvSpPr>
          <p:cNvPr id="5" name="Text 2"/>
          <p:cNvSpPr/>
          <p:nvPr/>
        </p:nvSpPr>
        <p:spPr>
          <a:xfrm>
            <a:off x="640080" y="6080760"/>
            <a:ext cx="5303520" cy="274320"/>
          </a:xfrm>
          <a:prstGeom prst="rect">
            <a:avLst/>
          </a:prstGeom>
          <a:noFill/>
          <a:ln/>
        </p:spPr>
        <p:txBody>
          <a:bodyPr wrap="square" lIns="0" tIns="0" rIns="0" bIns="0" rtlCol="0" anchor="ctr"/>
          <a:lstStyle/>
          <a:p>
            <a:pPr algn="ctr" indent="0" marL="0">
              <a:buNone/>
            </a:pPr>
            <a:r>
              <a:rPr lang="en-US" sz="1050" i="1" dirty="0">
                <a:solidFill>
                  <a:srgbClr val="5B6B82"/>
                </a:solidFill>
                <a:latin typeface="Calibri" pitchFamily="34" charset="0"/>
                <a:ea typeface="Calibri" pitchFamily="34" charset="-122"/>
                <a:cs typeface="Calibri" pitchFamily="34" charset="-120"/>
              </a:rPr>
              <a:t>Correlation matrix of features and target</a:t>
            </a:r>
            <a:endParaRPr lang="en-US" sz="1050" dirty="0"/>
          </a:p>
        </p:txBody>
      </p:sp>
      <p:sp>
        <p:nvSpPr>
          <p:cNvPr id="6" name="Shape 3"/>
          <p:cNvSpPr/>
          <p:nvPr/>
        </p:nvSpPr>
        <p:spPr>
          <a:xfrm>
            <a:off x="6537960" y="1508760"/>
            <a:ext cx="5074920" cy="4892040"/>
          </a:xfrm>
          <a:prstGeom prst="roundRect">
            <a:avLst>
              <a:gd name="adj" fmla="val 1495"/>
            </a:avLst>
          </a:prstGeom>
          <a:solidFill>
            <a:srgbClr val="F7FAFD"/>
          </a:solidFill>
          <a:ln/>
          <a:effectLst>
            <a:outerShdw sx="100000" sy="100000" kx="0" ky="0" algn="bl" rotWithShape="0" blurRad="127000" dist="38100" dir="5400000">
              <a:srgbClr val="14213D">
                <a:alpha val="12000"/>
              </a:srgbClr>
            </a:outerShdw>
          </a:effectLst>
        </p:spPr>
      </p:sp>
      <p:sp>
        <p:nvSpPr>
          <p:cNvPr id="7" name="Shape 4"/>
          <p:cNvSpPr/>
          <p:nvPr/>
        </p:nvSpPr>
        <p:spPr>
          <a:xfrm>
            <a:off x="6789420" y="1714500"/>
            <a:ext cx="502920" cy="502920"/>
          </a:xfrm>
          <a:prstGeom prst="ellipse">
            <a:avLst/>
          </a:prstGeom>
          <a:solidFill>
            <a:srgbClr val="E8A33D"/>
          </a:solidFill>
          <a:ln/>
        </p:spPr>
      </p:sp>
      <p:pic>
        <p:nvPicPr>
          <p:cNvPr id="8" name="Image 1" descr="preencoded.png">    </p:cNvPr>
          <p:cNvPicPr>
            <a:picLocks noChangeAspect="1"/>
          </p:cNvPicPr>
          <p:nvPr/>
        </p:nvPicPr>
        <p:blipFill>
          <a:blip r:embed="rId2"/>
          <a:stretch>
            <a:fillRect/>
          </a:stretch>
        </p:blipFill>
        <p:spPr>
          <a:xfrm>
            <a:off x="6915150" y="1840230"/>
            <a:ext cx="251460" cy="251460"/>
          </a:xfrm>
          <a:prstGeom prst="rect">
            <a:avLst/>
          </a:prstGeom>
        </p:spPr>
      </p:pic>
      <p:sp>
        <p:nvSpPr>
          <p:cNvPr id="9" name="Text 5"/>
          <p:cNvSpPr/>
          <p:nvPr/>
        </p:nvSpPr>
        <p:spPr>
          <a:xfrm>
            <a:off x="7406640" y="1737360"/>
            <a:ext cx="4069080" cy="50292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Key Insights</a:t>
            </a:r>
            <a:endParaRPr lang="en-US" sz="1600" dirty="0"/>
          </a:p>
        </p:txBody>
      </p:sp>
      <p:sp>
        <p:nvSpPr>
          <p:cNvPr id="10" name="Text 6"/>
          <p:cNvSpPr/>
          <p:nvPr/>
        </p:nvSpPr>
        <p:spPr>
          <a:xfrm>
            <a:off x="6858000" y="2423160"/>
            <a:ext cx="4434840" cy="3703320"/>
          </a:xfrm>
          <a:prstGeom prst="rect">
            <a:avLst/>
          </a:prstGeom>
          <a:noFill/>
          <a:ln/>
        </p:spPr>
        <p:txBody>
          <a:bodyPr wrap="square" lIns="0" tIns="0" rIns="0" bIns="0" rtlCol="0" anchor="ctr"/>
          <a:lstStyle/>
          <a:p>
            <a:pPr marL="342900" indent="-342900">
              <a:lnSpc>
                <a:spcPct val="125000"/>
              </a:lnSpc>
              <a:spcAft>
                <a:spcPts val="1400"/>
              </a:spcAft>
              <a:buSzPct val="100000"/>
              <a:buChar char="•"/>
            </a:pPr>
            <a:r>
              <a:rPr lang="en-US" sz="1300" dirty="0">
                <a:solidFill>
                  <a:srgbClr val="1B2430"/>
                </a:solidFill>
                <a:latin typeface="Calibri" pitchFamily="34" charset="0"/>
                <a:ea typeface="Calibri" pitchFamily="34" charset="-122"/>
                <a:cs typeface="Calibri" pitchFamily="34" charset="-120"/>
              </a:rPr>
              <a:t>Charges are heavily right-skewed — mostly low-cost, with a long high-cost tail.</a:t>
            </a:r>
            <a:endParaRPr lang="en-US" sz="1300" dirty="0"/>
          </a:p>
          <a:p>
            <a:pPr marL="342900" indent="-342900">
              <a:lnSpc>
                <a:spcPct val="125000"/>
              </a:lnSpc>
              <a:spcAft>
                <a:spcPts val="1400"/>
              </a:spcAft>
              <a:buSzPct val="100000"/>
              <a:buChar char="•"/>
            </a:pPr>
            <a:r>
              <a:rPr lang="en-US" sz="1300" dirty="0">
                <a:solidFill>
                  <a:srgbClr val="1B2430"/>
                </a:solidFill>
                <a:latin typeface="Calibri" pitchFamily="34" charset="0"/>
                <a:ea typeface="Calibri" pitchFamily="34" charset="-122"/>
                <a:cs typeface="Calibri" pitchFamily="34" charset="-120"/>
              </a:rPr>
              <a:t>Smoker status is the strongest correlate of high charges (0.79), followed by age (0.30) and BMI (0.20).</a:t>
            </a:r>
            <a:endParaRPr lang="en-US" sz="1300" dirty="0"/>
          </a:p>
          <a:p>
            <a:pPr marL="342900" indent="-342900">
              <a:lnSpc>
                <a:spcPct val="125000"/>
              </a:lnSpc>
              <a:spcAft>
                <a:spcPts val="1400"/>
              </a:spcAft>
              <a:buSzPct val="100000"/>
              <a:buChar char="•"/>
            </a:pPr>
            <a:r>
              <a:rPr lang="en-US" sz="1300" dirty="0">
                <a:solidFill>
                  <a:srgbClr val="1B2430"/>
                </a:solidFill>
                <a:latin typeface="Calibri" pitchFamily="34" charset="0"/>
                <a:ea typeface="Calibri" pitchFamily="34" charset="-122"/>
                <a:cs typeface="Calibri" pitchFamily="34" charset="-120"/>
              </a:rPr>
              <a:t>No missing data; the high-charge outliers are overwhelmingly smokers.</a:t>
            </a:r>
            <a:endParaRPr lang="en-US" sz="1300" dirty="0"/>
          </a:p>
          <a:p>
            <a:pPr marL="342900" indent="-342900">
              <a:lnSpc>
                <a:spcPct val="125000"/>
              </a:lnSpc>
              <a:spcAft>
                <a:spcPts val="1400"/>
              </a:spcAft>
              <a:buSzPct val="100000"/>
              <a:buChar char="•"/>
            </a:pPr>
            <a:r>
              <a:rPr lang="en-US" sz="1300" dirty="0">
                <a:solidFill>
                  <a:srgbClr val="1B2430"/>
                </a:solidFill>
                <a:latin typeface="Calibri" pitchFamily="34" charset="0"/>
                <a:ea typeface="Calibri" pitchFamily="34" charset="-122"/>
                <a:cs typeface="Calibri" pitchFamily="34" charset="-120"/>
              </a:rPr>
              <a:t>Bad Risk is the minority class, handled with SMOTE on the training fold only.</a:t>
            </a:r>
            <a:endParaRPr lang="en-US" sz="1300" dirty="0"/>
          </a:p>
        </p:txBody>
      </p:sp>
      <p:sp>
        <p:nvSpPr>
          <p:cNvPr id="11" name="Text 7"/>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12" name="Text 8"/>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MODEL DEVELOPMENT</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Model Selection — Accuracy &amp; F1</a:t>
            </a:r>
            <a:endParaRPr lang="en-US" sz="3000" dirty="0"/>
          </a:p>
        </p:txBody>
      </p:sp>
      <p:graphicFrame>
        <p:nvGraphicFramePr>
          <p:cNvPr id="4" name="Chart 0" descr=""/>
          <p:cNvGraphicFramePr/>
          <p:nvPr/>
        </p:nvGraphicFramePr>
        <p:xfrm>
          <a:off x="457200" y="1463040"/>
          <a:ext cx="53949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035040" y="1463040"/>
          <a:ext cx="5394960" cy="35661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257800"/>
            <a:ext cx="11091672" cy="1051560"/>
          </a:xfrm>
          <a:prstGeom prst="roundRect">
            <a:avLst>
              <a:gd name="adj" fmla="val 6957"/>
            </a:avLst>
          </a:prstGeom>
          <a:solidFill>
            <a:srgbClr val="EEF3FA"/>
          </a:solidFill>
          <a:ln/>
        </p:spPr>
      </p:sp>
      <p:sp>
        <p:nvSpPr>
          <p:cNvPr id="7" name="Shape 3"/>
          <p:cNvSpPr/>
          <p:nvPr/>
        </p:nvSpPr>
        <p:spPr>
          <a:xfrm>
            <a:off x="845820" y="5532120"/>
            <a:ext cx="502920" cy="502920"/>
          </a:xfrm>
          <a:prstGeom prst="ellipse">
            <a:avLst/>
          </a:prstGeom>
          <a:solidFill>
            <a:srgbClr val="E8A33D"/>
          </a:solidFill>
          <a:ln/>
        </p:spPr>
      </p:sp>
      <p:pic>
        <p:nvPicPr>
          <p:cNvPr id="8" name="Image 0" descr="preencoded.png">    </p:cNvPr>
          <p:cNvPicPr>
            <a:picLocks noChangeAspect="1"/>
          </p:cNvPicPr>
          <p:nvPr/>
        </p:nvPicPr>
        <p:blipFill>
          <a:blip r:embed="rId3"/>
          <a:stretch>
            <a:fillRect/>
          </a:stretch>
        </p:blipFill>
        <p:spPr>
          <a:xfrm>
            <a:off x="966521" y="5652821"/>
            <a:ext cx="261518" cy="261518"/>
          </a:xfrm>
          <a:prstGeom prst="rect">
            <a:avLst/>
          </a:prstGeom>
        </p:spPr>
      </p:pic>
      <p:sp>
        <p:nvSpPr>
          <p:cNvPr id="9" name="Text 4"/>
          <p:cNvSpPr/>
          <p:nvPr/>
        </p:nvSpPr>
        <p:spPr>
          <a:xfrm>
            <a:off x="1554480" y="5349240"/>
            <a:ext cx="9692640" cy="868680"/>
          </a:xfrm>
          <a:prstGeom prst="rect">
            <a:avLst/>
          </a:prstGeom>
          <a:noFill/>
          <a:ln/>
        </p:spPr>
        <p:txBody>
          <a:bodyPr wrap="square" lIns="0" tIns="0" rIns="0" bIns="0" rtlCol="0" anchor="ctr"/>
          <a:lstStyle/>
          <a:p>
            <a:pPr indent="0" marL="0">
              <a:lnSpc>
                <a:spcPct val="120000"/>
              </a:lnSpc>
              <a:buNone/>
            </a:pPr>
            <a:r>
              <a:rPr lang="en-US" sz="1250" b="1" dirty="0">
                <a:solidFill>
                  <a:srgbClr val="14213D"/>
                </a:solidFill>
                <a:latin typeface="Calibri" pitchFamily="34" charset="0"/>
                <a:ea typeface="Calibri" pitchFamily="34" charset="-122"/>
                <a:cs typeface="Calibri" pitchFamily="34" charset="-120"/>
              </a:rPr>
              <a:t>XGBoost is the clear winner. </a:t>
            </a:r>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It demonstrates the strongest performance among the three, achieving the highest overall accuracy (92.24%) and F1-score (0.9212) — reinforcing its selection as the production model.</a:t>
            </a:r>
            <a:endParaRPr lang="en-US" sz="1250" dirty="0"/>
          </a:p>
        </p:txBody>
      </p:sp>
      <p:sp>
        <p:nvSpPr>
          <p:cNvPr id="10" name="Text 5"/>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11" name="Text 6"/>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MODEL DEVELOPMENT</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Final Model Performance</a:t>
            </a:r>
            <a:endParaRPr lang="en-US" sz="3000" dirty="0"/>
          </a:p>
        </p:txBody>
      </p:sp>
      <p:sp>
        <p:nvSpPr>
          <p:cNvPr id="4" name="Shape 2"/>
          <p:cNvSpPr/>
          <p:nvPr/>
        </p:nvSpPr>
        <p:spPr>
          <a:xfrm>
            <a:off x="548640" y="1508760"/>
            <a:ext cx="2606040" cy="1920240"/>
          </a:xfrm>
          <a:prstGeom prst="roundRect">
            <a:avLst>
              <a:gd name="adj" fmla="val 3810"/>
            </a:avLst>
          </a:prstGeom>
          <a:solidFill>
            <a:srgbClr val="14213D"/>
          </a:solidFill>
          <a:ln/>
          <a:effectLst>
            <a:outerShdw sx="100000" sy="100000" kx="0" ky="0" algn="bl" rotWithShape="0" blurRad="127000" dist="38100" dir="5400000">
              <a:srgbClr val="14213D">
                <a:alpha val="12000"/>
              </a:srgbClr>
            </a:outerShdw>
          </a:effectLst>
        </p:spPr>
      </p:sp>
      <p:sp>
        <p:nvSpPr>
          <p:cNvPr id="5" name="Shape 3"/>
          <p:cNvSpPr/>
          <p:nvPr/>
        </p:nvSpPr>
        <p:spPr>
          <a:xfrm>
            <a:off x="1600200" y="1714500"/>
            <a:ext cx="502920" cy="502920"/>
          </a:xfrm>
          <a:prstGeom prst="ellipse">
            <a:avLst/>
          </a:prstGeom>
          <a:solidFill>
            <a:srgbClr val="1F3A63"/>
          </a:solidFill>
          <a:ln/>
        </p:spPr>
      </p:sp>
      <p:pic>
        <p:nvPicPr>
          <p:cNvPr id="6" name="Image 0" descr="preencoded.png">    </p:cNvPr>
          <p:cNvPicPr>
            <a:picLocks noChangeAspect="1"/>
          </p:cNvPicPr>
          <p:nvPr/>
        </p:nvPicPr>
        <p:blipFill>
          <a:blip r:embed="rId1"/>
          <a:stretch>
            <a:fillRect/>
          </a:stretch>
        </p:blipFill>
        <p:spPr>
          <a:xfrm>
            <a:off x="1725930" y="1840230"/>
            <a:ext cx="251460" cy="251460"/>
          </a:xfrm>
          <a:prstGeom prst="rect">
            <a:avLst/>
          </a:prstGeom>
        </p:spPr>
      </p:pic>
      <p:sp>
        <p:nvSpPr>
          <p:cNvPr id="7" name="Text 4"/>
          <p:cNvSpPr/>
          <p:nvPr/>
        </p:nvSpPr>
        <p:spPr>
          <a:xfrm>
            <a:off x="640080" y="2331720"/>
            <a:ext cx="2423160" cy="5943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92%</a:t>
            </a:r>
            <a:endParaRPr lang="en-US" sz="2800" dirty="0"/>
          </a:p>
        </p:txBody>
      </p:sp>
      <p:sp>
        <p:nvSpPr>
          <p:cNvPr id="8" name="Text 5"/>
          <p:cNvSpPr/>
          <p:nvPr/>
        </p:nvSpPr>
        <p:spPr>
          <a:xfrm>
            <a:off x="685800" y="2926080"/>
            <a:ext cx="2331720" cy="411480"/>
          </a:xfrm>
          <a:prstGeom prst="rect">
            <a:avLst/>
          </a:prstGeom>
          <a:noFill/>
          <a:ln/>
        </p:spPr>
        <p:txBody>
          <a:bodyPr wrap="square" lIns="0" tIns="0" rIns="0" bIns="0" rtlCol="0" anchor="ctr"/>
          <a:lstStyle/>
          <a:p>
            <a:pPr algn="ctr" indent="0" marL="0">
              <a:buNone/>
            </a:pPr>
            <a:r>
              <a:rPr lang="en-US" sz="1100" dirty="0">
                <a:solidFill>
                  <a:srgbClr val="C7D2E8"/>
                </a:solidFill>
                <a:latin typeface="Calibri" pitchFamily="34" charset="0"/>
                <a:ea typeface="Calibri" pitchFamily="34" charset="-122"/>
                <a:cs typeface="Calibri" pitchFamily="34" charset="-120"/>
              </a:rPr>
              <a:t>Accuracy</a:t>
            </a:r>
            <a:endParaRPr lang="en-US" sz="1100" dirty="0"/>
          </a:p>
        </p:txBody>
      </p:sp>
      <p:sp>
        <p:nvSpPr>
          <p:cNvPr id="9" name="Shape 6"/>
          <p:cNvSpPr/>
          <p:nvPr/>
        </p:nvSpPr>
        <p:spPr>
          <a:xfrm>
            <a:off x="3383280" y="1508760"/>
            <a:ext cx="2606040" cy="1920240"/>
          </a:xfrm>
          <a:prstGeom prst="roundRect">
            <a:avLst>
              <a:gd name="adj" fmla="val 3810"/>
            </a:avLst>
          </a:prstGeom>
          <a:solidFill>
            <a:srgbClr val="14213D"/>
          </a:solidFill>
          <a:ln/>
          <a:effectLst>
            <a:outerShdw sx="100000" sy="100000" kx="0" ky="0" algn="bl" rotWithShape="0" blurRad="127000" dist="38100" dir="5400000">
              <a:srgbClr val="14213D">
                <a:alpha val="12000"/>
              </a:srgbClr>
            </a:outerShdw>
          </a:effectLst>
        </p:spPr>
      </p:sp>
      <p:sp>
        <p:nvSpPr>
          <p:cNvPr id="10" name="Shape 7"/>
          <p:cNvSpPr/>
          <p:nvPr/>
        </p:nvSpPr>
        <p:spPr>
          <a:xfrm>
            <a:off x="4434840" y="1714500"/>
            <a:ext cx="502920" cy="502920"/>
          </a:xfrm>
          <a:prstGeom prst="ellipse">
            <a:avLst/>
          </a:prstGeom>
          <a:solidFill>
            <a:srgbClr val="1F3A63"/>
          </a:solidFill>
          <a:ln/>
        </p:spPr>
      </p:sp>
      <p:pic>
        <p:nvPicPr>
          <p:cNvPr id="11" name="Image 1" descr="preencoded.png">    </p:cNvPr>
          <p:cNvPicPr>
            <a:picLocks noChangeAspect="1"/>
          </p:cNvPicPr>
          <p:nvPr/>
        </p:nvPicPr>
        <p:blipFill>
          <a:blip r:embed="rId2"/>
          <a:stretch>
            <a:fillRect/>
          </a:stretch>
        </p:blipFill>
        <p:spPr>
          <a:xfrm>
            <a:off x="4560570" y="1840230"/>
            <a:ext cx="251460" cy="251460"/>
          </a:xfrm>
          <a:prstGeom prst="rect">
            <a:avLst/>
          </a:prstGeom>
        </p:spPr>
      </p:pic>
      <p:sp>
        <p:nvSpPr>
          <p:cNvPr id="12" name="Text 8"/>
          <p:cNvSpPr/>
          <p:nvPr/>
        </p:nvSpPr>
        <p:spPr>
          <a:xfrm>
            <a:off x="3474720" y="2331720"/>
            <a:ext cx="2423160" cy="5943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94%</a:t>
            </a:r>
            <a:endParaRPr lang="en-US" sz="2800" dirty="0"/>
          </a:p>
        </p:txBody>
      </p:sp>
      <p:sp>
        <p:nvSpPr>
          <p:cNvPr id="13" name="Text 9"/>
          <p:cNvSpPr/>
          <p:nvPr/>
        </p:nvSpPr>
        <p:spPr>
          <a:xfrm>
            <a:off x="3520440" y="2926080"/>
            <a:ext cx="2331720" cy="411480"/>
          </a:xfrm>
          <a:prstGeom prst="rect">
            <a:avLst/>
          </a:prstGeom>
          <a:noFill/>
          <a:ln/>
        </p:spPr>
        <p:txBody>
          <a:bodyPr wrap="square" lIns="0" tIns="0" rIns="0" bIns="0" rtlCol="0" anchor="ctr"/>
          <a:lstStyle/>
          <a:p>
            <a:pPr algn="ctr" indent="0" marL="0">
              <a:buNone/>
            </a:pPr>
            <a:r>
              <a:rPr lang="en-US" sz="1100" dirty="0">
                <a:solidFill>
                  <a:srgbClr val="C7D2E8"/>
                </a:solidFill>
                <a:latin typeface="Calibri" pitchFamily="34" charset="0"/>
                <a:ea typeface="Calibri" pitchFamily="34" charset="-122"/>
                <a:cs typeface="Calibri" pitchFamily="34" charset="-120"/>
              </a:rPr>
              <a:t>Precision (‘False’ class)</a:t>
            </a:r>
            <a:endParaRPr lang="en-US" sz="1100" dirty="0"/>
          </a:p>
        </p:txBody>
      </p:sp>
      <p:sp>
        <p:nvSpPr>
          <p:cNvPr id="14" name="Shape 10"/>
          <p:cNvSpPr/>
          <p:nvPr/>
        </p:nvSpPr>
        <p:spPr>
          <a:xfrm>
            <a:off x="6217920" y="1508760"/>
            <a:ext cx="2606040" cy="1920240"/>
          </a:xfrm>
          <a:prstGeom prst="roundRect">
            <a:avLst>
              <a:gd name="adj" fmla="val 3810"/>
            </a:avLst>
          </a:prstGeom>
          <a:solidFill>
            <a:srgbClr val="14213D"/>
          </a:solidFill>
          <a:ln/>
          <a:effectLst>
            <a:outerShdw sx="100000" sy="100000" kx="0" ky="0" algn="bl" rotWithShape="0" blurRad="127000" dist="38100" dir="5400000">
              <a:srgbClr val="14213D">
                <a:alpha val="12000"/>
              </a:srgbClr>
            </a:outerShdw>
          </a:effectLst>
        </p:spPr>
      </p:sp>
      <p:sp>
        <p:nvSpPr>
          <p:cNvPr id="15" name="Shape 11"/>
          <p:cNvSpPr/>
          <p:nvPr/>
        </p:nvSpPr>
        <p:spPr>
          <a:xfrm>
            <a:off x="7269480" y="1714500"/>
            <a:ext cx="502920" cy="502920"/>
          </a:xfrm>
          <a:prstGeom prst="ellipse">
            <a:avLst/>
          </a:prstGeom>
          <a:solidFill>
            <a:srgbClr val="1F3A63"/>
          </a:solidFill>
          <a:ln/>
        </p:spPr>
      </p:sp>
      <p:pic>
        <p:nvPicPr>
          <p:cNvPr id="16" name="Image 2" descr="preencoded.png">    </p:cNvPr>
          <p:cNvPicPr>
            <a:picLocks noChangeAspect="1"/>
          </p:cNvPicPr>
          <p:nvPr/>
        </p:nvPicPr>
        <p:blipFill>
          <a:blip r:embed="rId3"/>
          <a:stretch>
            <a:fillRect/>
          </a:stretch>
        </p:blipFill>
        <p:spPr>
          <a:xfrm>
            <a:off x="7395210" y="1840230"/>
            <a:ext cx="251460" cy="251460"/>
          </a:xfrm>
          <a:prstGeom prst="rect">
            <a:avLst/>
          </a:prstGeom>
        </p:spPr>
      </p:pic>
      <p:sp>
        <p:nvSpPr>
          <p:cNvPr id="17" name="Text 12"/>
          <p:cNvSpPr/>
          <p:nvPr/>
        </p:nvSpPr>
        <p:spPr>
          <a:xfrm>
            <a:off x="6309360" y="2331720"/>
            <a:ext cx="2423160" cy="5943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96%</a:t>
            </a:r>
            <a:endParaRPr lang="en-US" sz="2800" dirty="0"/>
          </a:p>
        </p:txBody>
      </p:sp>
      <p:sp>
        <p:nvSpPr>
          <p:cNvPr id="18" name="Text 13"/>
          <p:cNvSpPr/>
          <p:nvPr/>
        </p:nvSpPr>
        <p:spPr>
          <a:xfrm>
            <a:off x="6355080" y="2926080"/>
            <a:ext cx="2331720" cy="411480"/>
          </a:xfrm>
          <a:prstGeom prst="rect">
            <a:avLst/>
          </a:prstGeom>
          <a:noFill/>
          <a:ln/>
        </p:spPr>
        <p:txBody>
          <a:bodyPr wrap="square" lIns="0" tIns="0" rIns="0" bIns="0" rtlCol="0" anchor="ctr"/>
          <a:lstStyle/>
          <a:p>
            <a:pPr algn="ctr" indent="0" marL="0">
              <a:buNone/>
            </a:pPr>
            <a:r>
              <a:rPr lang="en-US" sz="1100" dirty="0">
                <a:solidFill>
                  <a:srgbClr val="C7D2E8"/>
                </a:solidFill>
                <a:latin typeface="Calibri" pitchFamily="34" charset="0"/>
                <a:ea typeface="Calibri" pitchFamily="34" charset="-122"/>
                <a:cs typeface="Calibri" pitchFamily="34" charset="-120"/>
              </a:rPr>
              <a:t>Recall (‘True’ class)</a:t>
            </a:r>
            <a:endParaRPr lang="en-US" sz="1100" dirty="0"/>
          </a:p>
        </p:txBody>
      </p:sp>
      <p:sp>
        <p:nvSpPr>
          <p:cNvPr id="19" name="Shape 14"/>
          <p:cNvSpPr/>
          <p:nvPr/>
        </p:nvSpPr>
        <p:spPr>
          <a:xfrm>
            <a:off x="9052560" y="1508760"/>
            <a:ext cx="2606040" cy="1920240"/>
          </a:xfrm>
          <a:prstGeom prst="roundRect">
            <a:avLst>
              <a:gd name="adj" fmla="val 3810"/>
            </a:avLst>
          </a:prstGeom>
          <a:solidFill>
            <a:srgbClr val="14213D"/>
          </a:solidFill>
          <a:ln/>
          <a:effectLst>
            <a:outerShdw sx="100000" sy="100000" kx="0" ky="0" algn="bl" rotWithShape="0" blurRad="127000" dist="38100" dir="5400000">
              <a:srgbClr val="14213D">
                <a:alpha val="12000"/>
              </a:srgbClr>
            </a:outerShdw>
          </a:effectLst>
        </p:spPr>
      </p:sp>
      <p:sp>
        <p:nvSpPr>
          <p:cNvPr id="20" name="Shape 15"/>
          <p:cNvSpPr/>
          <p:nvPr/>
        </p:nvSpPr>
        <p:spPr>
          <a:xfrm>
            <a:off x="10104120" y="1714500"/>
            <a:ext cx="502920" cy="502920"/>
          </a:xfrm>
          <a:prstGeom prst="ellipse">
            <a:avLst/>
          </a:prstGeom>
          <a:solidFill>
            <a:srgbClr val="1F3A63"/>
          </a:solidFill>
          <a:ln/>
        </p:spPr>
      </p:sp>
      <p:pic>
        <p:nvPicPr>
          <p:cNvPr id="21" name="Image 3" descr="preencoded.png">    </p:cNvPr>
          <p:cNvPicPr>
            <a:picLocks noChangeAspect="1"/>
          </p:cNvPicPr>
          <p:nvPr/>
        </p:nvPicPr>
        <p:blipFill>
          <a:blip r:embed="rId4"/>
          <a:stretch>
            <a:fillRect/>
          </a:stretch>
        </p:blipFill>
        <p:spPr>
          <a:xfrm>
            <a:off x="10229850" y="1840230"/>
            <a:ext cx="251460" cy="251460"/>
          </a:xfrm>
          <a:prstGeom prst="rect">
            <a:avLst/>
          </a:prstGeom>
        </p:spPr>
      </p:pic>
      <p:sp>
        <p:nvSpPr>
          <p:cNvPr id="22" name="Text 16"/>
          <p:cNvSpPr/>
          <p:nvPr/>
        </p:nvSpPr>
        <p:spPr>
          <a:xfrm>
            <a:off x="9144000" y="2331720"/>
            <a:ext cx="2423160" cy="5943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0.92</a:t>
            </a:r>
            <a:endParaRPr lang="en-US" sz="2800" dirty="0"/>
          </a:p>
        </p:txBody>
      </p:sp>
      <p:sp>
        <p:nvSpPr>
          <p:cNvPr id="23" name="Text 17"/>
          <p:cNvSpPr/>
          <p:nvPr/>
        </p:nvSpPr>
        <p:spPr>
          <a:xfrm>
            <a:off x="9189720" y="2926080"/>
            <a:ext cx="2331720" cy="411480"/>
          </a:xfrm>
          <a:prstGeom prst="rect">
            <a:avLst/>
          </a:prstGeom>
          <a:noFill/>
          <a:ln/>
        </p:spPr>
        <p:txBody>
          <a:bodyPr wrap="square" lIns="0" tIns="0" rIns="0" bIns="0" rtlCol="0" anchor="ctr"/>
          <a:lstStyle/>
          <a:p>
            <a:pPr algn="ctr" indent="0" marL="0">
              <a:buNone/>
            </a:pPr>
            <a:r>
              <a:rPr lang="en-US" sz="1100" dirty="0">
                <a:solidFill>
                  <a:srgbClr val="C7D2E8"/>
                </a:solidFill>
                <a:latin typeface="Calibri" pitchFamily="34" charset="0"/>
                <a:ea typeface="Calibri" pitchFamily="34" charset="-122"/>
                <a:cs typeface="Calibri" pitchFamily="34" charset="-120"/>
              </a:rPr>
              <a:t>F1-Score</a:t>
            </a:r>
            <a:endParaRPr lang="en-US" sz="1100" dirty="0"/>
          </a:p>
        </p:txBody>
      </p:sp>
      <p:sp>
        <p:nvSpPr>
          <p:cNvPr id="24" name="Shape 18"/>
          <p:cNvSpPr/>
          <p:nvPr/>
        </p:nvSpPr>
        <p:spPr>
          <a:xfrm>
            <a:off x="548640" y="3703320"/>
            <a:ext cx="11091672" cy="2514600"/>
          </a:xfrm>
          <a:prstGeom prst="roundRect">
            <a:avLst>
              <a:gd name="adj" fmla="val 2909"/>
            </a:avLst>
          </a:prstGeom>
          <a:solidFill>
            <a:srgbClr val="F7FAFD"/>
          </a:solidFill>
          <a:ln/>
          <a:effectLst>
            <a:outerShdw sx="100000" sy="100000" kx="0" ky="0" algn="bl" rotWithShape="0" blurRad="127000" dist="38100" dir="5400000">
              <a:srgbClr val="14213D">
                <a:alpha val="12000"/>
              </a:srgbClr>
            </a:outerShdw>
          </a:effectLst>
        </p:spPr>
      </p:sp>
      <p:sp>
        <p:nvSpPr>
          <p:cNvPr id="25" name="Shape 19"/>
          <p:cNvSpPr/>
          <p:nvPr/>
        </p:nvSpPr>
        <p:spPr>
          <a:xfrm>
            <a:off x="845820" y="3954780"/>
            <a:ext cx="502920" cy="502920"/>
          </a:xfrm>
          <a:prstGeom prst="ellipse">
            <a:avLst/>
          </a:prstGeom>
          <a:solidFill>
            <a:srgbClr val="E8A33D"/>
          </a:solidFill>
          <a:ln/>
        </p:spPr>
      </p:sp>
      <p:pic>
        <p:nvPicPr>
          <p:cNvPr id="26" name="Image 4" descr="preencoded.png">    </p:cNvPr>
          <p:cNvPicPr>
            <a:picLocks noChangeAspect="1"/>
          </p:cNvPicPr>
          <p:nvPr/>
        </p:nvPicPr>
        <p:blipFill>
          <a:blip r:embed="rId5"/>
          <a:stretch>
            <a:fillRect/>
          </a:stretch>
        </p:blipFill>
        <p:spPr>
          <a:xfrm>
            <a:off x="971550" y="4080510"/>
            <a:ext cx="251460" cy="251460"/>
          </a:xfrm>
          <a:prstGeom prst="rect">
            <a:avLst/>
          </a:prstGeom>
        </p:spPr>
      </p:pic>
      <p:sp>
        <p:nvSpPr>
          <p:cNvPr id="27" name="Text 20"/>
          <p:cNvSpPr/>
          <p:nvPr/>
        </p:nvSpPr>
        <p:spPr>
          <a:xfrm>
            <a:off x="1508760" y="3977640"/>
            <a:ext cx="7315200" cy="4572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What the numbers mean</a:t>
            </a:r>
            <a:endParaRPr lang="en-US" sz="1500" dirty="0"/>
          </a:p>
        </p:txBody>
      </p:sp>
      <p:sp>
        <p:nvSpPr>
          <p:cNvPr id="28" name="Text 21"/>
          <p:cNvSpPr/>
          <p:nvPr/>
        </p:nvSpPr>
        <p:spPr>
          <a:xfrm>
            <a:off x="868680" y="4572000"/>
            <a:ext cx="10424160" cy="155448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XGBoost shows high precision for the ‘False’ (Good Risk) class at 0.94 and high recall for the ‘True’ (Bad Risk) class at 0.96.</a:t>
            </a:r>
            <a:endParaRPr lang="en-US" sz="1300" dirty="0"/>
          </a:p>
          <a:p>
            <a:pPr marL="342900" indent="-342900">
              <a:lnSpc>
                <a:spcPct val="120000"/>
              </a:lnSpc>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This indicates a robust ability to correctly identify both ‘Bad’ and ‘Good’ risks — not just overall accuracy, but balanced performance across classes.</a:t>
            </a:r>
            <a:endParaRPr lang="en-US" sz="1300" dirty="0"/>
          </a:p>
          <a:p>
            <a:pPr marL="342900" indent="-342900">
              <a:lnSpc>
                <a:spcPct val="120000"/>
              </a:lnSpc>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These figures cleared both project success thresholds (Accuracy &gt; 85%, F1 &gt; 0.80) with meaningful headroom.</a:t>
            </a:r>
            <a:endParaRPr lang="en-US" sz="1300" dirty="0"/>
          </a:p>
        </p:txBody>
      </p:sp>
      <p:sp>
        <p:nvSpPr>
          <p:cNvPr id="29" name="Text 22"/>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30" name="Text 23"/>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RESPONSIBLE AI</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Core Fairness Criteria</a:t>
            </a:r>
            <a:endParaRPr lang="en-US" sz="3000" dirty="0"/>
          </a:p>
        </p:txBody>
      </p:sp>
      <p:sp>
        <p:nvSpPr>
          <p:cNvPr id="4" name="Shape 2"/>
          <p:cNvSpPr/>
          <p:nvPr/>
        </p:nvSpPr>
        <p:spPr>
          <a:xfrm>
            <a:off x="548640" y="1600200"/>
            <a:ext cx="3566160" cy="438912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1943100" y="1943100"/>
            <a:ext cx="777240" cy="777240"/>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2145182" y="2145182"/>
            <a:ext cx="373075" cy="373075"/>
          </a:xfrm>
          <a:prstGeom prst="rect">
            <a:avLst/>
          </a:prstGeom>
        </p:spPr>
      </p:pic>
      <p:sp>
        <p:nvSpPr>
          <p:cNvPr id="7" name="Text 4"/>
          <p:cNvSpPr/>
          <p:nvPr/>
        </p:nvSpPr>
        <p:spPr>
          <a:xfrm>
            <a:off x="731520" y="3017520"/>
            <a:ext cx="320040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Demographic Parity</a:t>
            </a:r>
            <a:endParaRPr lang="en-US" sz="1500" dirty="0"/>
          </a:p>
        </p:txBody>
      </p:sp>
      <p:sp>
        <p:nvSpPr>
          <p:cNvPr id="8" name="Text 5"/>
          <p:cNvSpPr/>
          <p:nvPr/>
        </p:nvSpPr>
        <p:spPr>
          <a:xfrm>
            <a:off x="868680" y="3566160"/>
            <a:ext cx="2926080" cy="2103120"/>
          </a:xfrm>
          <a:prstGeom prst="rect">
            <a:avLst/>
          </a:prstGeom>
          <a:noFill/>
          <a:ln/>
        </p:spPr>
        <p:txBody>
          <a:bodyPr wrap="square" lIns="0" tIns="0" rIns="0" bIns="0" rtlCol="0" anchor="ctr"/>
          <a:lstStyle/>
          <a:p>
            <a:pPr algn="ctr" indent="0" marL="0">
              <a:lnSpc>
                <a:spcPct val="130000"/>
              </a:lnSpc>
              <a:buNone/>
            </a:pPr>
            <a:r>
              <a:rPr lang="en-US" sz="1250" dirty="0">
                <a:solidFill>
                  <a:srgbClr val="1B2430"/>
                </a:solidFill>
                <a:latin typeface="Calibri" pitchFamily="34" charset="0"/>
                <a:ea typeface="Calibri" pitchFamily="34" charset="-122"/>
                <a:cs typeface="Calibri" pitchFamily="34" charset="-120"/>
              </a:rPr>
              <a:t>Ensures the model yields proportionate approval rates across distinct demographic groups.</a:t>
            </a:r>
            <a:endParaRPr lang="en-US" sz="1250" dirty="0"/>
          </a:p>
        </p:txBody>
      </p:sp>
      <p:sp>
        <p:nvSpPr>
          <p:cNvPr id="9" name="Shape 6"/>
          <p:cNvSpPr/>
          <p:nvPr/>
        </p:nvSpPr>
        <p:spPr>
          <a:xfrm>
            <a:off x="4315968" y="1600200"/>
            <a:ext cx="3566160" cy="438912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5710428" y="1943100"/>
            <a:ext cx="777240" cy="777240"/>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5912510" y="2145182"/>
            <a:ext cx="373075" cy="373075"/>
          </a:xfrm>
          <a:prstGeom prst="rect">
            <a:avLst/>
          </a:prstGeom>
        </p:spPr>
      </p:pic>
      <p:sp>
        <p:nvSpPr>
          <p:cNvPr id="12" name="Text 8"/>
          <p:cNvSpPr/>
          <p:nvPr/>
        </p:nvSpPr>
        <p:spPr>
          <a:xfrm>
            <a:off x="4498848" y="3017520"/>
            <a:ext cx="320040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Equal Accuracy</a:t>
            </a:r>
            <a:endParaRPr lang="en-US" sz="1500" dirty="0"/>
          </a:p>
        </p:txBody>
      </p:sp>
      <p:sp>
        <p:nvSpPr>
          <p:cNvPr id="13" name="Text 9"/>
          <p:cNvSpPr/>
          <p:nvPr/>
        </p:nvSpPr>
        <p:spPr>
          <a:xfrm>
            <a:off x="4636008" y="3566160"/>
            <a:ext cx="2926080" cy="2103120"/>
          </a:xfrm>
          <a:prstGeom prst="rect">
            <a:avLst/>
          </a:prstGeom>
          <a:noFill/>
          <a:ln/>
        </p:spPr>
        <p:txBody>
          <a:bodyPr wrap="square" lIns="0" tIns="0" rIns="0" bIns="0" rtlCol="0" anchor="ctr"/>
          <a:lstStyle/>
          <a:p>
            <a:pPr algn="ctr" indent="0" marL="0">
              <a:lnSpc>
                <a:spcPct val="130000"/>
              </a:lnSpc>
              <a:buNone/>
            </a:pPr>
            <a:r>
              <a:rPr lang="en-US" sz="1250" dirty="0">
                <a:solidFill>
                  <a:srgbClr val="1B2430"/>
                </a:solidFill>
                <a:latin typeface="Calibri" pitchFamily="34" charset="0"/>
                <a:ea typeface="Calibri" pitchFamily="34" charset="-122"/>
                <a:cs typeface="Calibri" pitchFamily="34" charset="-120"/>
              </a:rPr>
              <a:t>Validates that the model’s predictive precision remains consistent across all evaluated subgroups.</a:t>
            </a:r>
            <a:endParaRPr lang="en-US" sz="1250" dirty="0"/>
          </a:p>
        </p:txBody>
      </p:sp>
      <p:sp>
        <p:nvSpPr>
          <p:cNvPr id="14" name="Shape 10"/>
          <p:cNvSpPr/>
          <p:nvPr/>
        </p:nvSpPr>
        <p:spPr>
          <a:xfrm>
            <a:off x="8083296" y="1600200"/>
            <a:ext cx="3566160" cy="4389120"/>
          </a:xfrm>
          <a:prstGeom prst="roundRect">
            <a:avLst>
              <a:gd name="adj" fmla="val 2051"/>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9477756" y="1943100"/>
            <a:ext cx="777240" cy="777240"/>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9679838" y="2145182"/>
            <a:ext cx="373075" cy="373075"/>
          </a:xfrm>
          <a:prstGeom prst="rect">
            <a:avLst/>
          </a:prstGeom>
        </p:spPr>
      </p:pic>
      <p:sp>
        <p:nvSpPr>
          <p:cNvPr id="17" name="Text 12"/>
          <p:cNvSpPr/>
          <p:nvPr/>
        </p:nvSpPr>
        <p:spPr>
          <a:xfrm>
            <a:off x="8266176" y="3017520"/>
            <a:ext cx="320040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Equal Opportunity</a:t>
            </a:r>
            <a:endParaRPr lang="en-US" sz="1500" dirty="0"/>
          </a:p>
        </p:txBody>
      </p:sp>
      <p:sp>
        <p:nvSpPr>
          <p:cNvPr id="18" name="Text 13"/>
          <p:cNvSpPr/>
          <p:nvPr/>
        </p:nvSpPr>
        <p:spPr>
          <a:xfrm>
            <a:off x="8403336" y="3566160"/>
            <a:ext cx="2926080" cy="2103120"/>
          </a:xfrm>
          <a:prstGeom prst="rect">
            <a:avLst/>
          </a:prstGeom>
          <a:noFill/>
          <a:ln/>
        </p:spPr>
        <p:txBody>
          <a:bodyPr wrap="square" lIns="0" tIns="0" rIns="0" bIns="0" rtlCol="0" anchor="ctr"/>
          <a:lstStyle/>
          <a:p>
            <a:pPr algn="ctr" indent="0" marL="0">
              <a:lnSpc>
                <a:spcPct val="130000"/>
              </a:lnSpc>
              <a:buNone/>
            </a:pPr>
            <a:r>
              <a:rPr lang="en-US" sz="1250" dirty="0">
                <a:solidFill>
                  <a:srgbClr val="1B2430"/>
                </a:solidFill>
                <a:latin typeface="Calibri" pitchFamily="34" charset="0"/>
                <a:ea typeface="Calibri" pitchFamily="34" charset="-122"/>
                <a:cs typeface="Calibri" pitchFamily="34" charset="-120"/>
              </a:rPr>
              <a:t>Guarantees that qualified individuals share the same probability of a positive outcome, regardless of demographic factors.</a:t>
            </a:r>
            <a:endParaRPr lang="en-US" sz="1250" dirty="0"/>
          </a:p>
        </p:txBody>
      </p:sp>
      <p:sp>
        <p:nvSpPr>
          <p:cNvPr id="19" name="Text 14"/>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0" name="Text 15"/>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RESPONSIBLE AI</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Core Fairness — Results</a:t>
            </a:r>
            <a:endParaRPr lang="en-US" sz="3000" dirty="0"/>
          </a:p>
        </p:txBody>
      </p:sp>
      <p:sp>
        <p:nvSpPr>
          <p:cNvPr id="4" name="Shape 2"/>
          <p:cNvSpPr/>
          <p:nvPr/>
        </p:nvSpPr>
        <p:spPr>
          <a:xfrm>
            <a:off x="548640" y="1508760"/>
            <a:ext cx="3566160" cy="3246120"/>
          </a:xfrm>
          <a:prstGeom prst="roundRect">
            <a:avLst>
              <a:gd name="adj" fmla="val 2254"/>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786384" y="1700784"/>
            <a:ext cx="530352" cy="530352"/>
          </a:xfrm>
          <a:prstGeom prst="ellipse">
            <a:avLst/>
          </a:prstGeom>
          <a:solidFill>
            <a:srgbClr val="DCEAFB"/>
          </a:solidFill>
          <a:ln/>
        </p:spPr>
      </p:sp>
      <p:pic>
        <p:nvPicPr>
          <p:cNvPr id="6" name="Image 0" descr="preencoded.png">    </p:cNvPr>
          <p:cNvPicPr>
            <a:picLocks noChangeAspect="1"/>
          </p:cNvPicPr>
          <p:nvPr/>
        </p:nvPicPr>
        <p:blipFill>
          <a:blip r:embed="rId1"/>
          <a:stretch>
            <a:fillRect/>
          </a:stretch>
        </p:blipFill>
        <p:spPr>
          <a:xfrm>
            <a:off x="918972" y="1833372"/>
            <a:ext cx="265176" cy="265176"/>
          </a:xfrm>
          <a:prstGeom prst="rect">
            <a:avLst/>
          </a:prstGeom>
        </p:spPr>
      </p:pic>
      <p:sp>
        <p:nvSpPr>
          <p:cNvPr id="7" name="Text 4"/>
          <p:cNvSpPr/>
          <p:nvPr/>
        </p:nvSpPr>
        <p:spPr>
          <a:xfrm>
            <a:off x="1444752" y="1691640"/>
            <a:ext cx="2514600" cy="548640"/>
          </a:xfrm>
          <a:prstGeom prst="rect">
            <a:avLst/>
          </a:prstGeom>
          <a:noFill/>
          <a:ln/>
        </p:spPr>
        <p:txBody>
          <a:bodyPr wrap="square" lIns="0" tIns="0" rIns="0" bIns="0" rtlCol="0" anchor="ctr"/>
          <a:lstStyle/>
          <a:p>
            <a:pPr indent="0" marL="0">
              <a:lnSpc>
                <a:spcPct val="100000"/>
              </a:lnSpc>
              <a:buNone/>
            </a:pPr>
            <a:r>
              <a:rPr lang="en-US" sz="1250" b="1" dirty="0">
                <a:solidFill>
                  <a:srgbClr val="14213D"/>
                </a:solidFill>
                <a:latin typeface="Calibri" pitchFamily="34" charset="0"/>
                <a:ea typeface="Calibri" pitchFamily="34" charset="-122"/>
                <a:cs typeface="Calibri" pitchFamily="34" charset="-120"/>
              </a:rPr>
              <a:t>Demographic Parity</a:t>
            </a:r>
            <a:endParaRPr lang="en-US" sz="1250" dirty="0"/>
          </a:p>
        </p:txBody>
      </p:sp>
      <p:sp>
        <p:nvSpPr>
          <p:cNvPr id="8" name="Text 5"/>
          <p:cNvSpPr/>
          <p:nvPr/>
        </p:nvSpPr>
        <p:spPr>
          <a:xfrm>
            <a:off x="731520" y="2423160"/>
            <a:ext cx="3200400" cy="86868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0.91</a:t>
            </a:r>
            <a:endParaRPr lang="en-US" sz="4400" dirty="0"/>
          </a:p>
        </p:txBody>
      </p:sp>
      <p:sp>
        <p:nvSpPr>
          <p:cNvPr id="9" name="Text 6"/>
          <p:cNvSpPr/>
          <p:nvPr/>
        </p:nvSpPr>
        <p:spPr>
          <a:xfrm>
            <a:off x="731520" y="3291840"/>
            <a:ext cx="3200400" cy="320040"/>
          </a:xfrm>
          <a:prstGeom prst="rect">
            <a:avLst/>
          </a:prstGeom>
          <a:noFill/>
          <a:ln/>
        </p:spPr>
        <p:txBody>
          <a:bodyPr wrap="square" lIns="0" tIns="0" rIns="0" bIns="0" rtlCol="0" anchor="ctr"/>
          <a:lstStyle/>
          <a:p>
            <a:pPr algn="ctr" indent="0" marL="0">
              <a:buNone/>
            </a:pPr>
            <a:r>
              <a:rPr lang="en-US" sz="1100" b="1" spc="50" kern="0" dirty="0">
                <a:solidFill>
                  <a:srgbClr val="5B6B82"/>
                </a:solidFill>
                <a:latin typeface="Calibri" pitchFamily="34" charset="0"/>
                <a:ea typeface="Calibri" pitchFamily="34" charset="-122"/>
                <a:cs typeface="Calibri" pitchFamily="34" charset="-120"/>
              </a:rPr>
              <a:t>Selection Rate Ratio</a:t>
            </a:r>
            <a:endParaRPr lang="en-US" sz="1100" dirty="0"/>
          </a:p>
        </p:txBody>
      </p:sp>
      <p:sp>
        <p:nvSpPr>
          <p:cNvPr id="10" name="Shape 7"/>
          <p:cNvSpPr/>
          <p:nvPr/>
        </p:nvSpPr>
        <p:spPr>
          <a:xfrm>
            <a:off x="777240" y="3703320"/>
            <a:ext cx="3108960" cy="822960"/>
          </a:xfrm>
          <a:prstGeom prst="roundRect">
            <a:avLst>
              <a:gd name="adj" fmla="val 6667"/>
            </a:avLst>
          </a:prstGeom>
          <a:solidFill>
            <a:srgbClr val="FFFFFF"/>
          </a:solidFill>
          <a:ln/>
        </p:spPr>
      </p:sp>
      <p:sp>
        <p:nvSpPr>
          <p:cNvPr id="11" name="Text 8"/>
          <p:cNvSpPr/>
          <p:nvPr/>
        </p:nvSpPr>
        <p:spPr>
          <a:xfrm>
            <a:off x="868680" y="3703320"/>
            <a:ext cx="2926080" cy="822960"/>
          </a:xfrm>
          <a:prstGeom prst="rect">
            <a:avLst/>
          </a:prstGeom>
          <a:noFill/>
          <a:ln/>
        </p:spPr>
        <p:txBody>
          <a:bodyPr wrap="square" lIns="0" tIns="0" rIns="0" bIns="0"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Female 59.5%  vs  Male 54.1%</a:t>
            </a:r>
            <a:endParaRPr lang="en-US" sz="1150" dirty="0"/>
          </a:p>
        </p:txBody>
      </p:sp>
      <p:sp>
        <p:nvSpPr>
          <p:cNvPr id="12" name="Text 9"/>
          <p:cNvSpPr/>
          <p:nvPr/>
        </p:nvSpPr>
        <p:spPr>
          <a:xfrm>
            <a:off x="731520" y="4370832"/>
            <a:ext cx="3200400" cy="274320"/>
          </a:xfrm>
          <a:prstGeom prst="rect">
            <a:avLst/>
          </a:prstGeom>
          <a:noFill/>
          <a:ln/>
        </p:spPr>
        <p:txBody>
          <a:bodyPr wrap="square" lIns="0" tIns="0" rIns="0" bIns="0" rtlCol="0" anchor="ctr"/>
          <a:lstStyle/>
          <a:p>
            <a:pPr algn="ctr" indent="0" marL="0">
              <a:buNone/>
            </a:pPr>
            <a:r>
              <a:rPr lang="en-US" sz="950" b="1" spc="100" kern="0" dirty="0">
                <a:solidFill>
                  <a:srgbClr val="3C7A5E"/>
                </a:solidFill>
                <a:latin typeface="Calibri" pitchFamily="34" charset="0"/>
                <a:ea typeface="Calibri" pitchFamily="34" charset="-122"/>
                <a:cs typeface="Calibri" pitchFamily="34" charset="-120"/>
              </a:rPr>
              <a:t>PASSES 80% RULE</a:t>
            </a:r>
            <a:endParaRPr lang="en-US" sz="950" dirty="0"/>
          </a:p>
        </p:txBody>
      </p:sp>
      <p:sp>
        <p:nvSpPr>
          <p:cNvPr id="13" name="Shape 10"/>
          <p:cNvSpPr/>
          <p:nvPr/>
        </p:nvSpPr>
        <p:spPr>
          <a:xfrm>
            <a:off x="4315968" y="1508760"/>
            <a:ext cx="3566160" cy="3246120"/>
          </a:xfrm>
          <a:prstGeom prst="roundRect">
            <a:avLst>
              <a:gd name="adj" fmla="val 2254"/>
            </a:avLst>
          </a:prstGeom>
          <a:solidFill>
            <a:srgbClr val="F7FAFD"/>
          </a:solidFill>
          <a:ln/>
          <a:effectLst>
            <a:outerShdw sx="100000" sy="100000" kx="0" ky="0" algn="bl" rotWithShape="0" blurRad="127000" dist="38100" dir="5400000">
              <a:srgbClr val="14213D">
                <a:alpha val="12000"/>
              </a:srgbClr>
            </a:outerShdw>
          </a:effectLst>
        </p:spPr>
      </p:sp>
      <p:sp>
        <p:nvSpPr>
          <p:cNvPr id="14" name="Shape 11"/>
          <p:cNvSpPr/>
          <p:nvPr/>
        </p:nvSpPr>
        <p:spPr>
          <a:xfrm>
            <a:off x="4553712" y="1700784"/>
            <a:ext cx="530352" cy="530352"/>
          </a:xfrm>
          <a:prstGeom prst="ellipse">
            <a:avLst/>
          </a:prstGeom>
          <a:solidFill>
            <a:srgbClr val="DCEAFB"/>
          </a:solidFill>
          <a:ln/>
        </p:spPr>
      </p:sp>
      <p:pic>
        <p:nvPicPr>
          <p:cNvPr id="15" name="Image 1" descr="preencoded.png">    </p:cNvPr>
          <p:cNvPicPr>
            <a:picLocks noChangeAspect="1"/>
          </p:cNvPicPr>
          <p:nvPr/>
        </p:nvPicPr>
        <p:blipFill>
          <a:blip r:embed="rId2"/>
          <a:stretch>
            <a:fillRect/>
          </a:stretch>
        </p:blipFill>
        <p:spPr>
          <a:xfrm>
            <a:off x="4686300" y="1833372"/>
            <a:ext cx="265176" cy="265176"/>
          </a:xfrm>
          <a:prstGeom prst="rect">
            <a:avLst/>
          </a:prstGeom>
        </p:spPr>
      </p:pic>
      <p:sp>
        <p:nvSpPr>
          <p:cNvPr id="16" name="Text 12"/>
          <p:cNvSpPr/>
          <p:nvPr/>
        </p:nvSpPr>
        <p:spPr>
          <a:xfrm>
            <a:off x="5212080" y="1691640"/>
            <a:ext cx="2514600" cy="548640"/>
          </a:xfrm>
          <a:prstGeom prst="rect">
            <a:avLst/>
          </a:prstGeom>
          <a:noFill/>
          <a:ln/>
        </p:spPr>
        <p:txBody>
          <a:bodyPr wrap="square" lIns="0" tIns="0" rIns="0" bIns="0" rtlCol="0" anchor="ctr"/>
          <a:lstStyle/>
          <a:p>
            <a:pPr indent="0" marL="0">
              <a:lnSpc>
                <a:spcPct val="100000"/>
              </a:lnSpc>
              <a:buNone/>
            </a:pPr>
            <a:r>
              <a:rPr lang="en-US" sz="1250" b="1" dirty="0">
                <a:solidFill>
                  <a:srgbClr val="14213D"/>
                </a:solidFill>
                <a:latin typeface="Calibri" pitchFamily="34" charset="0"/>
                <a:ea typeface="Calibri" pitchFamily="34" charset="-122"/>
                <a:cs typeface="Calibri" pitchFamily="34" charset="-120"/>
              </a:rPr>
              <a:t>Equal Opportunity</a:t>
            </a:r>
            <a:endParaRPr lang="en-US" sz="1250" dirty="0"/>
          </a:p>
        </p:txBody>
      </p:sp>
      <p:sp>
        <p:nvSpPr>
          <p:cNvPr id="17" name="Text 13"/>
          <p:cNvSpPr/>
          <p:nvPr/>
        </p:nvSpPr>
        <p:spPr>
          <a:xfrm>
            <a:off x="4498848" y="2423160"/>
            <a:ext cx="3200400" cy="868680"/>
          </a:xfrm>
          <a:prstGeom prst="rect">
            <a:avLst/>
          </a:prstGeom>
          <a:noFill/>
          <a:ln/>
        </p:spPr>
        <p:txBody>
          <a:bodyPr wrap="square" lIns="0" tIns="0" rIns="0" bIns="0" rtlCol="0" anchor="ctr"/>
          <a:lstStyle/>
          <a:p>
            <a:pPr algn="ctr" indent="0" marL="0">
              <a:buNone/>
            </a:pPr>
            <a:r>
              <a:rPr lang="en-US" sz="4400" b="1" dirty="0">
                <a:solidFill>
                  <a:srgbClr val="14213D"/>
                </a:solidFill>
                <a:latin typeface="Cambria" pitchFamily="34" charset="0"/>
                <a:ea typeface="Cambria" pitchFamily="34" charset="-122"/>
                <a:cs typeface="Cambria" pitchFamily="34" charset="-120"/>
              </a:rPr>
              <a:t>0.95</a:t>
            </a:r>
            <a:endParaRPr lang="en-US" sz="4400" dirty="0"/>
          </a:p>
        </p:txBody>
      </p:sp>
      <p:sp>
        <p:nvSpPr>
          <p:cNvPr id="18" name="Text 14"/>
          <p:cNvSpPr/>
          <p:nvPr/>
        </p:nvSpPr>
        <p:spPr>
          <a:xfrm>
            <a:off x="4498848" y="3291840"/>
            <a:ext cx="3200400" cy="320040"/>
          </a:xfrm>
          <a:prstGeom prst="rect">
            <a:avLst/>
          </a:prstGeom>
          <a:noFill/>
          <a:ln/>
        </p:spPr>
        <p:txBody>
          <a:bodyPr wrap="square" lIns="0" tIns="0" rIns="0" bIns="0" rtlCol="0" anchor="ctr"/>
          <a:lstStyle/>
          <a:p>
            <a:pPr algn="ctr" indent="0" marL="0">
              <a:buNone/>
            </a:pPr>
            <a:r>
              <a:rPr lang="en-US" sz="1100" b="1" spc="50" kern="0" dirty="0">
                <a:solidFill>
                  <a:srgbClr val="5B6B82"/>
                </a:solidFill>
                <a:latin typeface="Calibri" pitchFamily="34" charset="0"/>
                <a:ea typeface="Calibri" pitchFamily="34" charset="-122"/>
                <a:cs typeface="Calibri" pitchFamily="34" charset="-120"/>
              </a:rPr>
              <a:t>TPR Ratio</a:t>
            </a:r>
            <a:endParaRPr lang="en-US" sz="1100" dirty="0"/>
          </a:p>
        </p:txBody>
      </p:sp>
      <p:sp>
        <p:nvSpPr>
          <p:cNvPr id="19" name="Shape 15"/>
          <p:cNvSpPr/>
          <p:nvPr/>
        </p:nvSpPr>
        <p:spPr>
          <a:xfrm>
            <a:off x="4544568" y="3703320"/>
            <a:ext cx="3108960" cy="822960"/>
          </a:xfrm>
          <a:prstGeom prst="roundRect">
            <a:avLst>
              <a:gd name="adj" fmla="val 6667"/>
            </a:avLst>
          </a:prstGeom>
          <a:solidFill>
            <a:srgbClr val="FFFFFF"/>
          </a:solidFill>
          <a:ln/>
        </p:spPr>
      </p:sp>
      <p:sp>
        <p:nvSpPr>
          <p:cNvPr id="20" name="Text 16"/>
          <p:cNvSpPr/>
          <p:nvPr/>
        </p:nvSpPr>
        <p:spPr>
          <a:xfrm>
            <a:off x="4636008" y="3703320"/>
            <a:ext cx="2926080" cy="822960"/>
          </a:xfrm>
          <a:prstGeom prst="rect">
            <a:avLst/>
          </a:prstGeom>
          <a:noFill/>
          <a:ln/>
        </p:spPr>
        <p:txBody>
          <a:bodyPr wrap="square" lIns="0" tIns="0" rIns="0" bIns="0"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Female 100.0%  vs  Male 94.7%</a:t>
            </a:r>
            <a:endParaRPr lang="en-US" sz="1150" dirty="0"/>
          </a:p>
        </p:txBody>
      </p:sp>
      <p:sp>
        <p:nvSpPr>
          <p:cNvPr id="21" name="Text 17"/>
          <p:cNvSpPr/>
          <p:nvPr/>
        </p:nvSpPr>
        <p:spPr>
          <a:xfrm>
            <a:off x="4498848" y="4370832"/>
            <a:ext cx="3200400" cy="274320"/>
          </a:xfrm>
          <a:prstGeom prst="rect">
            <a:avLst/>
          </a:prstGeom>
          <a:noFill/>
          <a:ln/>
        </p:spPr>
        <p:txBody>
          <a:bodyPr wrap="square" lIns="0" tIns="0" rIns="0" bIns="0" rtlCol="0" anchor="ctr"/>
          <a:lstStyle/>
          <a:p>
            <a:pPr algn="ctr" indent="0" marL="0">
              <a:buNone/>
            </a:pPr>
            <a:r>
              <a:rPr lang="en-US" sz="950" b="1" spc="100" kern="0" dirty="0">
                <a:solidFill>
                  <a:srgbClr val="3C7A5E"/>
                </a:solidFill>
                <a:latin typeface="Calibri" pitchFamily="34" charset="0"/>
                <a:ea typeface="Calibri" pitchFamily="34" charset="-122"/>
                <a:cs typeface="Calibri" pitchFamily="34" charset="-120"/>
              </a:rPr>
              <a:t>PASSES 80% RULE</a:t>
            </a:r>
            <a:endParaRPr lang="en-US" sz="950" dirty="0"/>
          </a:p>
        </p:txBody>
      </p:sp>
      <p:sp>
        <p:nvSpPr>
          <p:cNvPr id="22" name="Shape 18"/>
          <p:cNvSpPr/>
          <p:nvPr/>
        </p:nvSpPr>
        <p:spPr>
          <a:xfrm>
            <a:off x="8083296" y="1508760"/>
            <a:ext cx="3566160" cy="3246120"/>
          </a:xfrm>
          <a:prstGeom prst="roundRect">
            <a:avLst>
              <a:gd name="adj" fmla="val 2254"/>
            </a:avLst>
          </a:prstGeom>
          <a:solidFill>
            <a:srgbClr val="F7FAFD"/>
          </a:solidFill>
          <a:ln/>
          <a:effectLst>
            <a:outerShdw sx="100000" sy="100000" kx="0" ky="0" algn="bl" rotWithShape="0" blurRad="127000" dist="38100" dir="5400000">
              <a:srgbClr val="14213D">
                <a:alpha val="12000"/>
              </a:srgbClr>
            </a:outerShdw>
          </a:effectLst>
        </p:spPr>
      </p:sp>
      <p:sp>
        <p:nvSpPr>
          <p:cNvPr id="23" name="Shape 19"/>
          <p:cNvSpPr/>
          <p:nvPr/>
        </p:nvSpPr>
        <p:spPr>
          <a:xfrm>
            <a:off x="8321040" y="1700784"/>
            <a:ext cx="530352" cy="530352"/>
          </a:xfrm>
          <a:prstGeom prst="ellipse">
            <a:avLst/>
          </a:prstGeom>
          <a:solidFill>
            <a:srgbClr val="F6D9D2"/>
          </a:solidFill>
          <a:ln/>
        </p:spPr>
      </p:sp>
      <p:pic>
        <p:nvPicPr>
          <p:cNvPr id="24" name="Image 2" descr="preencoded.png">    </p:cNvPr>
          <p:cNvPicPr>
            <a:picLocks noChangeAspect="1"/>
          </p:cNvPicPr>
          <p:nvPr/>
        </p:nvPicPr>
        <p:blipFill>
          <a:blip r:embed="rId3"/>
          <a:stretch>
            <a:fillRect/>
          </a:stretch>
        </p:blipFill>
        <p:spPr>
          <a:xfrm>
            <a:off x="8453628" y="1833372"/>
            <a:ext cx="265176" cy="265176"/>
          </a:xfrm>
          <a:prstGeom prst="rect">
            <a:avLst/>
          </a:prstGeom>
        </p:spPr>
      </p:pic>
      <p:sp>
        <p:nvSpPr>
          <p:cNvPr id="25" name="Text 20"/>
          <p:cNvSpPr/>
          <p:nvPr/>
        </p:nvSpPr>
        <p:spPr>
          <a:xfrm>
            <a:off x="8979408" y="1691640"/>
            <a:ext cx="2514600" cy="548640"/>
          </a:xfrm>
          <a:prstGeom prst="rect">
            <a:avLst/>
          </a:prstGeom>
          <a:noFill/>
          <a:ln/>
        </p:spPr>
        <p:txBody>
          <a:bodyPr wrap="square" lIns="0" tIns="0" rIns="0" bIns="0" rtlCol="0" anchor="ctr"/>
          <a:lstStyle/>
          <a:p>
            <a:pPr indent="0" marL="0">
              <a:lnSpc>
                <a:spcPct val="100000"/>
              </a:lnSpc>
              <a:buNone/>
            </a:pPr>
            <a:r>
              <a:rPr lang="en-US" sz="1250" b="1" dirty="0">
                <a:solidFill>
                  <a:srgbClr val="14213D"/>
                </a:solidFill>
                <a:latin typeface="Calibri" pitchFamily="34" charset="0"/>
                <a:ea typeface="Calibri" pitchFamily="34" charset="-122"/>
                <a:cs typeface="Calibri" pitchFamily="34" charset="-120"/>
              </a:rPr>
              <a:t>Intersectional (Sex × Smoker)</a:t>
            </a:r>
            <a:endParaRPr lang="en-US" sz="1250" dirty="0"/>
          </a:p>
        </p:txBody>
      </p:sp>
      <p:sp>
        <p:nvSpPr>
          <p:cNvPr id="26" name="Text 21"/>
          <p:cNvSpPr/>
          <p:nvPr/>
        </p:nvSpPr>
        <p:spPr>
          <a:xfrm>
            <a:off x="8266176" y="2423160"/>
            <a:ext cx="3200400" cy="868680"/>
          </a:xfrm>
          <a:prstGeom prst="rect">
            <a:avLst/>
          </a:prstGeom>
          <a:noFill/>
          <a:ln/>
        </p:spPr>
        <p:txBody>
          <a:bodyPr wrap="square" lIns="0" tIns="0" rIns="0" bIns="0" rtlCol="0" anchor="ctr"/>
          <a:lstStyle/>
          <a:p>
            <a:pPr algn="ctr" indent="0" marL="0">
              <a:buNone/>
            </a:pPr>
            <a:r>
              <a:rPr lang="en-US" sz="4400" b="1" dirty="0">
                <a:solidFill>
                  <a:srgbClr val="AA3B2E"/>
                </a:solidFill>
                <a:latin typeface="Cambria" pitchFamily="34" charset="0"/>
                <a:ea typeface="Cambria" pitchFamily="34" charset="-122"/>
                <a:cs typeface="Cambria" pitchFamily="34" charset="-120"/>
              </a:rPr>
              <a:t>0.00</a:t>
            </a:r>
            <a:endParaRPr lang="en-US" sz="4400" dirty="0"/>
          </a:p>
        </p:txBody>
      </p:sp>
      <p:sp>
        <p:nvSpPr>
          <p:cNvPr id="27" name="Text 22"/>
          <p:cNvSpPr/>
          <p:nvPr/>
        </p:nvSpPr>
        <p:spPr>
          <a:xfrm>
            <a:off x="8266176" y="3291840"/>
            <a:ext cx="3200400" cy="320040"/>
          </a:xfrm>
          <a:prstGeom prst="rect">
            <a:avLst/>
          </a:prstGeom>
          <a:noFill/>
          <a:ln/>
        </p:spPr>
        <p:txBody>
          <a:bodyPr wrap="square" lIns="0" tIns="0" rIns="0" bIns="0" rtlCol="0" anchor="ctr"/>
          <a:lstStyle/>
          <a:p>
            <a:pPr algn="ctr" indent="0" marL="0">
              <a:buNone/>
            </a:pPr>
            <a:r>
              <a:rPr lang="en-US" sz="1100" b="1" spc="50" kern="0" dirty="0">
                <a:solidFill>
                  <a:srgbClr val="5B6B82"/>
                </a:solidFill>
                <a:latin typeface="Calibri" pitchFamily="34" charset="0"/>
                <a:ea typeface="Calibri" pitchFamily="34" charset="-122"/>
                <a:cs typeface="Calibri" pitchFamily="34" charset="-120"/>
              </a:rPr>
              <a:t>Fairness Ratio</a:t>
            </a:r>
            <a:endParaRPr lang="en-US" sz="1100" dirty="0"/>
          </a:p>
        </p:txBody>
      </p:sp>
      <p:sp>
        <p:nvSpPr>
          <p:cNvPr id="28" name="Shape 23"/>
          <p:cNvSpPr/>
          <p:nvPr/>
        </p:nvSpPr>
        <p:spPr>
          <a:xfrm>
            <a:off x="8311896" y="3703320"/>
            <a:ext cx="3108960" cy="822960"/>
          </a:xfrm>
          <a:prstGeom prst="roundRect">
            <a:avLst>
              <a:gd name="adj" fmla="val 6667"/>
            </a:avLst>
          </a:prstGeom>
          <a:solidFill>
            <a:srgbClr val="F6D9D2"/>
          </a:solidFill>
          <a:ln/>
        </p:spPr>
      </p:sp>
      <p:sp>
        <p:nvSpPr>
          <p:cNvPr id="29" name="Text 24"/>
          <p:cNvSpPr/>
          <p:nvPr/>
        </p:nvSpPr>
        <p:spPr>
          <a:xfrm>
            <a:off x="8403336" y="3703320"/>
            <a:ext cx="2926080" cy="822960"/>
          </a:xfrm>
          <a:prstGeom prst="rect">
            <a:avLst/>
          </a:prstGeom>
          <a:noFill/>
          <a:ln/>
        </p:spPr>
        <p:txBody>
          <a:bodyPr wrap="square" lIns="0" tIns="0" rIns="0" bIns="0" rtlCol="0" anchor="ctr"/>
          <a:lstStyle/>
          <a:p>
            <a:pPr algn="ctr" indent="0" marL="0">
              <a:buNone/>
            </a:pPr>
            <a:r>
              <a:rPr lang="en-US" sz="1150" b="1" dirty="0">
                <a:solidFill>
                  <a:srgbClr val="AA3B2E"/>
                </a:solidFill>
                <a:latin typeface="Calibri" pitchFamily="34" charset="0"/>
                <a:ea typeface="Calibri" pitchFamily="34" charset="-122"/>
                <a:cs typeface="Calibri" pitchFamily="34" charset="-120"/>
              </a:rPr>
              <a:t>0% selection for smokers, both sexes</a:t>
            </a:r>
            <a:endParaRPr lang="en-US" sz="1150" dirty="0"/>
          </a:p>
        </p:txBody>
      </p:sp>
      <p:sp>
        <p:nvSpPr>
          <p:cNvPr id="30" name="Text 25"/>
          <p:cNvSpPr/>
          <p:nvPr/>
        </p:nvSpPr>
        <p:spPr>
          <a:xfrm>
            <a:off x="8266176" y="4370832"/>
            <a:ext cx="3200400" cy="274320"/>
          </a:xfrm>
          <a:prstGeom prst="rect">
            <a:avLst/>
          </a:prstGeom>
          <a:noFill/>
          <a:ln/>
        </p:spPr>
        <p:txBody>
          <a:bodyPr wrap="square" lIns="0" tIns="0" rIns="0" bIns="0" rtlCol="0" anchor="ctr"/>
          <a:lstStyle/>
          <a:p>
            <a:pPr algn="ctr" indent="0" marL="0">
              <a:buNone/>
            </a:pPr>
            <a:r>
              <a:rPr lang="en-US" sz="950" b="1" spc="100" kern="0" dirty="0">
                <a:solidFill>
                  <a:srgbClr val="AA3B2E"/>
                </a:solidFill>
                <a:latin typeface="Calibri" pitchFamily="34" charset="0"/>
                <a:ea typeface="Calibri" pitchFamily="34" charset="-122"/>
                <a:cs typeface="Calibri" pitchFamily="34" charset="-120"/>
              </a:rPr>
              <a:t>CRITICAL FINDING</a:t>
            </a:r>
            <a:endParaRPr lang="en-US" sz="950" dirty="0"/>
          </a:p>
        </p:txBody>
      </p:sp>
      <p:sp>
        <p:nvSpPr>
          <p:cNvPr id="31" name="Shape 26"/>
          <p:cNvSpPr/>
          <p:nvPr/>
        </p:nvSpPr>
        <p:spPr>
          <a:xfrm>
            <a:off x="548640" y="4937760"/>
            <a:ext cx="11091672" cy="1280160"/>
          </a:xfrm>
          <a:prstGeom prst="roundRect">
            <a:avLst>
              <a:gd name="adj" fmla="val 5714"/>
            </a:avLst>
          </a:prstGeom>
          <a:solidFill>
            <a:srgbClr val="0D1830"/>
          </a:solidFill>
          <a:ln/>
        </p:spPr>
      </p:sp>
      <p:sp>
        <p:nvSpPr>
          <p:cNvPr id="32" name="Shape 27"/>
          <p:cNvSpPr/>
          <p:nvPr/>
        </p:nvSpPr>
        <p:spPr>
          <a:xfrm>
            <a:off x="845820" y="5280660"/>
            <a:ext cx="594360" cy="594360"/>
          </a:xfrm>
          <a:prstGeom prst="ellipse">
            <a:avLst/>
          </a:prstGeom>
          <a:solidFill>
            <a:srgbClr val="E8A33D"/>
          </a:solidFill>
          <a:ln/>
        </p:spPr>
      </p:sp>
      <p:pic>
        <p:nvPicPr>
          <p:cNvPr id="33" name="Image 3" descr="preencoded.png">    </p:cNvPr>
          <p:cNvPicPr>
            <a:picLocks noChangeAspect="1"/>
          </p:cNvPicPr>
          <p:nvPr/>
        </p:nvPicPr>
        <p:blipFill>
          <a:blip r:embed="rId4"/>
          <a:stretch>
            <a:fillRect/>
          </a:stretch>
        </p:blipFill>
        <p:spPr>
          <a:xfrm>
            <a:off x="988466" y="5423306"/>
            <a:ext cx="309067" cy="309067"/>
          </a:xfrm>
          <a:prstGeom prst="rect">
            <a:avLst/>
          </a:prstGeom>
        </p:spPr>
      </p:pic>
      <p:sp>
        <p:nvSpPr>
          <p:cNvPr id="34" name="Text 28"/>
          <p:cNvSpPr/>
          <p:nvPr/>
        </p:nvSpPr>
        <p:spPr>
          <a:xfrm>
            <a:off x="1645920" y="5074920"/>
            <a:ext cx="9601200" cy="1051560"/>
          </a:xfrm>
          <a:prstGeom prst="rect">
            <a:avLst/>
          </a:prstGeom>
          <a:noFill/>
          <a:ln/>
        </p:spPr>
        <p:txBody>
          <a:bodyPr wrap="square" lIns="0" tIns="0" rIns="0" bIns="0" rtlCol="0" anchor="ctr"/>
          <a:lstStyle/>
          <a:p>
            <a:pPr indent="0" marL="0">
              <a:lnSpc>
                <a:spcPct val="120000"/>
              </a:lnSpc>
              <a:buNone/>
            </a:pPr>
            <a:r>
              <a:rPr lang="en-US" sz="1250" b="1" dirty="0">
                <a:solidFill>
                  <a:srgbClr val="FFFFFF"/>
                </a:solidFill>
                <a:latin typeface="Calibri" pitchFamily="34" charset="0"/>
                <a:ea typeface="Calibri" pitchFamily="34" charset="-122"/>
                <a:cs typeface="Calibri" pitchFamily="34" charset="-120"/>
              </a:rPr>
              <a:t>The gender metrics look compliant in isolation — but intersectional slicing tells a different story. </a:t>
            </a:r>
            <a:pPr indent="0" marL="0">
              <a:lnSpc>
                <a:spcPct val="120000"/>
              </a:lnSpc>
              <a:buNone/>
            </a:pPr>
            <a:r>
              <a:rPr lang="en-US" sz="1250" dirty="0">
                <a:solidFill>
                  <a:srgbClr val="C7D2E8"/>
                </a:solidFill>
                <a:latin typeface="Calibri" pitchFamily="34" charset="0"/>
                <a:ea typeface="Calibri" pitchFamily="34" charset="-122"/>
                <a:cs typeface="Calibri" pitchFamily="34" charset="-120"/>
              </a:rPr>
              <a:t>Every smoker in the test set (25 female, 45 male) was predicted Bad Risk, a selection rate of 0.00 versus 0.272 for non-smokers. Isolated audits can mask severe, hidden group discrimination.</a:t>
            </a:r>
            <a:endParaRPr lang="en-US" sz="1250" dirty="0"/>
          </a:p>
        </p:txBody>
      </p:sp>
      <p:sp>
        <p:nvSpPr>
          <p:cNvPr id="35" name="Text 29"/>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36" name="Text 30"/>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Key Findings &amp; Insights</a:t>
            </a:r>
            <a:endParaRPr lang="en-US" sz="3000" dirty="0"/>
          </a:p>
        </p:txBody>
      </p:sp>
      <p:sp>
        <p:nvSpPr>
          <p:cNvPr id="4" name="Shape 2"/>
          <p:cNvSpPr/>
          <p:nvPr/>
        </p:nvSpPr>
        <p:spPr>
          <a:xfrm>
            <a:off x="548640" y="1508760"/>
            <a:ext cx="5440680" cy="2377440"/>
          </a:xfrm>
          <a:prstGeom prst="roundRect">
            <a:avLst>
              <a:gd name="adj" fmla="val 3077"/>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832104" y="1728216"/>
            <a:ext cx="566928" cy="566928"/>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973836" y="1869948"/>
            <a:ext cx="283464" cy="283464"/>
          </a:xfrm>
          <a:prstGeom prst="rect">
            <a:avLst/>
          </a:prstGeom>
        </p:spPr>
      </p:pic>
      <p:sp>
        <p:nvSpPr>
          <p:cNvPr id="7" name="Text 4"/>
          <p:cNvSpPr/>
          <p:nvPr/>
        </p:nvSpPr>
        <p:spPr>
          <a:xfrm>
            <a:off x="1508760" y="1764792"/>
            <a:ext cx="4297680" cy="548640"/>
          </a:xfrm>
          <a:prstGeom prst="rect">
            <a:avLst/>
          </a:prstGeom>
          <a:noFill/>
          <a:ln/>
        </p:spPr>
        <p:txBody>
          <a:bodyPr wrap="square" lIns="0" tIns="0" rIns="0" bIns="0" rtlCol="0" anchor="ctr"/>
          <a:lstStyle/>
          <a:p>
            <a:pPr indent="0" marL="0">
              <a:lnSpc>
                <a:spcPct val="105000"/>
              </a:lnSpc>
              <a:buNone/>
            </a:pPr>
            <a:r>
              <a:rPr lang="en-US" sz="1350" b="1" dirty="0">
                <a:solidFill>
                  <a:srgbClr val="14213D"/>
                </a:solidFill>
                <a:latin typeface="Calibri" pitchFamily="34" charset="0"/>
                <a:ea typeface="Calibri" pitchFamily="34" charset="-122"/>
                <a:cs typeface="Calibri" pitchFamily="34" charset="-120"/>
              </a:rPr>
              <a:t>Finding 1  —  Auditability Over Raw Accuracy</a:t>
            </a:r>
            <a:endParaRPr lang="en-US" sz="1350" dirty="0"/>
          </a:p>
        </p:txBody>
      </p:sp>
      <p:sp>
        <p:nvSpPr>
          <p:cNvPr id="8" name="Text 5"/>
          <p:cNvSpPr/>
          <p:nvPr/>
        </p:nvSpPr>
        <p:spPr>
          <a:xfrm>
            <a:off x="868680" y="2423160"/>
            <a:ext cx="4800600" cy="1280160"/>
          </a:xfrm>
          <a:prstGeom prst="rect">
            <a:avLst/>
          </a:prstGeom>
          <a:noFill/>
          <a:ln/>
        </p:spPr>
        <p:txBody>
          <a:bodyPr wrap="square" lIns="0" tIns="0" rIns="0" bIns="0" rtlCol="0" anchor="ctr"/>
          <a:lstStyle/>
          <a:p>
            <a:pPr indent="0" marL="0">
              <a:lnSpc>
                <a:spcPct val="125000"/>
              </a:lnSpc>
              <a:buNone/>
            </a:pPr>
            <a:r>
              <a:rPr lang="en-US" sz="1200" dirty="0">
                <a:solidFill>
                  <a:srgbClr val="1B2430"/>
                </a:solidFill>
                <a:latin typeface="Calibri" pitchFamily="34" charset="0"/>
                <a:ea typeface="Calibri" pitchFamily="34" charset="-122"/>
                <a:cs typeface="Calibri" pitchFamily="34" charset="-120"/>
              </a:rPr>
              <a:t>The real value isn’t accuracy alone — it’s that the model is auditable: explainability and a fairness audit run as named pipeline stages, not afterthoughts.</a:t>
            </a:r>
            <a:endParaRPr lang="en-US" sz="1200" dirty="0"/>
          </a:p>
        </p:txBody>
      </p:sp>
      <p:sp>
        <p:nvSpPr>
          <p:cNvPr id="9" name="Shape 6"/>
          <p:cNvSpPr/>
          <p:nvPr/>
        </p:nvSpPr>
        <p:spPr>
          <a:xfrm>
            <a:off x="6217920" y="1508760"/>
            <a:ext cx="5440680" cy="2377440"/>
          </a:xfrm>
          <a:prstGeom prst="roundRect">
            <a:avLst>
              <a:gd name="adj" fmla="val 3077"/>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6501384" y="1728216"/>
            <a:ext cx="566928" cy="566928"/>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6643116" y="1869948"/>
            <a:ext cx="283464" cy="283464"/>
          </a:xfrm>
          <a:prstGeom prst="rect">
            <a:avLst/>
          </a:prstGeom>
        </p:spPr>
      </p:pic>
      <p:sp>
        <p:nvSpPr>
          <p:cNvPr id="12" name="Text 8"/>
          <p:cNvSpPr/>
          <p:nvPr/>
        </p:nvSpPr>
        <p:spPr>
          <a:xfrm>
            <a:off x="7178040" y="1764792"/>
            <a:ext cx="4297680" cy="548640"/>
          </a:xfrm>
          <a:prstGeom prst="rect">
            <a:avLst/>
          </a:prstGeom>
          <a:noFill/>
          <a:ln/>
        </p:spPr>
        <p:txBody>
          <a:bodyPr wrap="square" lIns="0" tIns="0" rIns="0" bIns="0" rtlCol="0" anchor="ctr"/>
          <a:lstStyle/>
          <a:p>
            <a:pPr indent="0" marL="0">
              <a:lnSpc>
                <a:spcPct val="105000"/>
              </a:lnSpc>
              <a:buNone/>
            </a:pPr>
            <a:r>
              <a:rPr lang="en-US" sz="1350" b="1" dirty="0">
                <a:solidFill>
                  <a:srgbClr val="14213D"/>
                </a:solidFill>
                <a:latin typeface="Calibri" pitchFamily="34" charset="0"/>
                <a:ea typeface="Calibri" pitchFamily="34" charset="-122"/>
                <a:cs typeface="Calibri" pitchFamily="34" charset="-120"/>
              </a:rPr>
              <a:t>Finding 2  —  Smoker Status &amp; Age Dominate</a:t>
            </a:r>
            <a:endParaRPr lang="en-US" sz="1350" dirty="0"/>
          </a:p>
        </p:txBody>
      </p:sp>
      <p:sp>
        <p:nvSpPr>
          <p:cNvPr id="13" name="Text 9"/>
          <p:cNvSpPr/>
          <p:nvPr/>
        </p:nvSpPr>
        <p:spPr>
          <a:xfrm>
            <a:off x="6537960" y="2423160"/>
            <a:ext cx="4800600" cy="1280160"/>
          </a:xfrm>
          <a:prstGeom prst="rect">
            <a:avLst/>
          </a:prstGeom>
          <a:noFill/>
          <a:ln/>
        </p:spPr>
        <p:txBody>
          <a:bodyPr wrap="square" lIns="0" tIns="0" rIns="0" bIns="0" rtlCol="0" anchor="ctr"/>
          <a:lstStyle/>
          <a:p>
            <a:pPr indent="0" marL="0">
              <a:lnSpc>
                <a:spcPct val="125000"/>
              </a:lnSpc>
              <a:buNone/>
            </a:pPr>
            <a:r>
              <a:rPr lang="en-US" sz="1200" dirty="0">
                <a:solidFill>
                  <a:srgbClr val="1B2430"/>
                </a:solidFill>
                <a:latin typeface="Calibri" pitchFamily="34" charset="0"/>
                <a:ea typeface="Calibri" pitchFamily="34" charset="-122"/>
                <a:cs typeface="Calibri" pitchFamily="34" charset="-120"/>
              </a:rPr>
              <a:t>SHAP shows smoker status and age dominate every prediction; smoking is the single strongest signal in the data.</a:t>
            </a:r>
            <a:endParaRPr lang="en-US" sz="1200" dirty="0"/>
          </a:p>
        </p:txBody>
      </p:sp>
      <p:sp>
        <p:nvSpPr>
          <p:cNvPr id="14" name="Shape 10"/>
          <p:cNvSpPr/>
          <p:nvPr/>
        </p:nvSpPr>
        <p:spPr>
          <a:xfrm>
            <a:off x="548640" y="4114800"/>
            <a:ext cx="5440680" cy="2377440"/>
          </a:xfrm>
          <a:prstGeom prst="roundRect">
            <a:avLst>
              <a:gd name="adj" fmla="val 3077"/>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832104" y="4334256"/>
            <a:ext cx="566928" cy="566928"/>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973836" y="4475988"/>
            <a:ext cx="283464" cy="283464"/>
          </a:xfrm>
          <a:prstGeom prst="rect">
            <a:avLst/>
          </a:prstGeom>
        </p:spPr>
      </p:pic>
      <p:sp>
        <p:nvSpPr>
          <p:cNvPr id="17" name="Text 12"/>
          <p:cNvSpPr/>
          <p:nvPr/>
        </p:nvSpPr>
        <p:spPr>
          <a:xfrm>
            <a:off x="1508760" y="4370832"/>
            <a:ext cx="4297680" cy="548640"/>
          </a:xfrm>
          <a:prstGeom prst="rect">
            <a:avLst/>
          </a:prstGeom>
          <a:noFill/>
          <a:ln/>
        </p:spPr>
        <p:txBody>
          <a:bodyPr wrap="square" lIns="0" tIns="0" rIns="0" bIns="0" rtlCol="0" anchor="ctr"/>
          <a:lstStyle/>
          <a:p>
            <a:pPr indent="0" marL="0">
              <a:lnSpc>
                <a:spcPct val="105000"/>
              </a:lnSpc>
              <a:buNone/>
            </a:pPr>
            <a:r>
              <a:rPr lang="en-US" sz="1350" b="1" dirty="0">
                <a:solidFill>
                  <a:srgbClr val="14213D"/>
                </a:solidFill>
                <a:latin typeface="Calibri" pitchFamily="34" charset="0"/>
                <a:ea typeface="Calibri" pitchFamily="34" charset="-122"/>
                <a:cs typeface="Calibri" pitchFamily="34" charset="-120"/>
              </a:rPr>
              <a:t>Finding 3  —  A Total Exclusion Signal</a:t>
            </a:r>
            <a:endParaRPr lang="en-US" sz="1350" dirty="0"/>
          </a:p>
        </p:txBody>
      </p:sp>
      <p:sp>
        <p:nvSpPr>
          <p:cNvPr id="18" name="Text 13"/>
          <p:cNvSpPr/>
          <p:nvPr/>
        </p:nvSpPr>
        <p:spPr>
          <a:xfrm>
            <a:off x="868680" y="5029200"/>
            <a:ext cx="4800600" cy="1280160"/>
          </a:xfrm>
          <a:prstGeom prst="rect">
            <a:avLst/>
          </a:prstGeom>
          <a:noFill/>
          <a:ln/>
        </p:spPr>
        <p:txBody>
          <a:bodyPr wrap="square" lIns="0" tIns="0" rIns="0" bIns="0" rtlCol="0" anchor="ctr"/>
          <a:lstStyle/>
          <a:p>
            <a:pPr indent="0" marL="0">
              <a:lnSpc>
                <a:spcPct val="125000"/>
              </a:lnSpc>
              <a:buNone/>
            </a:pPr>
            <a:r>
              <a:rPr lang="en-US" sz="1200" dirty="0">
                <a:solidFill>
                  <a:srgbClr val="1B2430"/>
                </a:solidFill>
                <a:latin typeface="Calibri" pitchFamily="34" charset="0"/>
                <a:ea typeface="Calibri" pitchFamily="34" charset="-122"/>
                <a:cs typeface="Calibri" pitchFamily="34" charset="-120"/>
              </a:rPr>
              <a:t>Every smoker in the test set is predicted Bad Risk (selection rate 1.00 vs. 0.272 for non-smokers); region selection rates spread ~10 points.</a:t>
            </a:r>
            <a:endParaRPr lang="en-US" sz="1200" dirty="0"/>
          </a:p>
        </p:txBody>
      </p:sp>
      <p:sp>
        <p:nvSpPr>
          <p:cNvPr id="19" name="Shape 14"/>
          <p:cNvSpPr/>
          <p:nvPr/>
        </p:nvSpPr>
        <p:spPr>
          <a:xfrm>
            <a:off x="6217920" y="4114800"/>
            <a:ext cx="5440680" cy="2377440"/>
          </a:xfrm>
          <a:prstGeom prst="roundRect">
            <a:avLst>
              <a:gd name="adj" fmla="val 3077"/>
            </a:avLst>
          </a:prstGeom>
          <a:solidFill>
            <a:srgbClr val="F7FAFD"/>
          </a:solidFill>
          <a:ln/>
          <a:effectLst>
            <a:outerShdw sx="100000" sy="100000" kx="0" ky="0" algn="bl" rotWithShape="0" blurRad="127000" dist="38100" dir="5400000">
              <a:srgbClr val="14213D">
                <a:alpha val="12000"/>
              </a:srgbClr>
            </a:outerShdw>
          </a:effectLst>
        </p:spPr>
      </p:sp>
      <p:sp>
        <p:nvSpPr>
          <p:cNvPr id="20" name="Shape 15"/>
          <p:cNvSpPr/>
          <p:nvPr/>
        </p:nvSpPr>
        <p:spPr>
          <a:xfrm>
            <a:off x="6501384" y="4334256"/>
            <a:ext cx="566928" cy="566928"/>
          </a:xfrm>
          <a:prstGeom prst="ellipse">
            <a:avLst/>
          </a:prstGeom>
          <a:solidFill>
            <a:srgbClr val="14213D"/>
          </a:solidFill>
          <a:ln/>
        </p:spPr>
      </p:sp>
      <p:pic>
        <p:nvPicPr>
          <p:cNvPr id="21" name="Image 3" descr="preencoded.png">    </p:cNvPr>
          <p:cNvPicPr>
            <a:picLocks noChangeAspect="1"/>
          </p:cNvPicPr>
          <p:nvPr/>
        </p:nvPicPr>
        <p:blipFill>
          <a:blip r:embed="rId4"/>
          <a:stretch>
            <a:fillRect/>
          </a:stretch>
        </p:blipFill>
        <p:spPr>
          <a:xfrm>
            <a:off x="6643116" y="4475988"/>
            <a:ext cx="283464" cy="283464"/>
          </a:xfrm>
          <a:prstGeom prst="rect">
            <a:avLst/>
          </a:prstGeom>
        </p:spPr>
      </p:pic>
      <p:sp>
        <p:nvSpPr>
          <p:cNvPr id="22" name="Text 16"/>
          <p:cNvSpPr/>
          <p:nvPr/>
        </p:nvSpPr>
        <p:spPr>
          <a:xfrm>
            <a:off x="7178040" y="4370832"/>
            <a:ext cx="4297680" cy="548640"/>
          </a:xfrm>
          <a:prstGeom prst="rect">
            <a:avLst/>
          </a:prstGeom>
          <a:noFill/>
          <a:ln/>
        </p:spPr>
        <p:txBody>
          <a:bodyPr wrap="square" lIns="0" tIns="0" rIns="0" bIns="0" rtlCol="0" anchor="ctr"/>
          <a:lstStyle/>
          <a:p>
            <a:pPr indent="0" marL="0">
              <a:lnSpc>
                <a:spcPct val="105000"/>
              </a:lnSpc>
              <a:buNone/>
            </a:pPr>
            <a:r>
              <a:rPr lang="en-US" sz="1350" b="1" dirty="0">
                <a:solidFill>
                  <a:srgbClr val="14213D"/>
                </a:solidFill>
                <a:latin typeface="Calibri" pitchFamily="34" charset="0"/>
                <a:ea typeface="Calibri" pitchFamily="34" charset="-122"/>
                <a:cs typeface="Calibri" pitchFamily="34" charset="-120"/>
              </a:rPr>
              <a:t>Finding 4  —  Fairness Is a Set of Decisions</a:t>
            </a:r>
            <a:endParaRPr lang="en-US" sz="1350" dirty="0"/>
          </a:p>
        </p:txBody>
      </p:sp>
      <p:sp>
        <p:nvSpPr>
          <p:cNvPr id="23" name="Text 17"/>
          <p:cNvSpPr/>
          <p:nvPr/>
        </p:nvSpPr>
        <p:spPr>
          <a:xfrm>
            <a:off x="6537960" y="5029200"/>
            <a:ext cx="4800600" cy="1280160"/>
          </a:xfrm>
          <a:prstGeom prst="rect">
            <a:avLst/>
          </a:prstGeom>
          <a:noFill/>
          <a:ln/>
        </p:spPr>
        <p:txBody>
          <a:bodyPr wrap="square" lIns="0" tIns="0" rIns="0" bIns="0" rtlCol="0" anchor="ctr"/>
          <a:lstStyle/>
          <a:p>
            <a:pPr indent="0" marL="0">
              <a:lnSpc>
                <a:spcPct val="125000"/>
              </a:lnSpc>
              <a:buNone/>
            </a:pPr>
            <a:r>
              <a:rPr lang="en-US" sz="1200" dirty="0">
                <a:solidFill>
                  <a:srgbClr val="1B2430"/>
                </a:solidFill>
                <a:latin typeface="Calibri" pitchFamily="34" charset="0"/>
                <a:ea typeface="Calibri" pitchFamily="34" charset="-122"/>
                <a:cs typeface="Calibri" pitchFamily="34" charset="-120"/>
              </a:rPr>
              <a:t>Fairness is a set of defensible decisions — the sex gap was mitigated, region measured, and the smoker gap kept intentionally as a recognized actuarial factor.</a:t>
            </a:r>
            <a:endParaRPr lang="en-US" sz="1200" dirty="0"/>
          </a:p>
        </p:txBody>
      </p:sp>
      <p:sp>
        <p:nvSpPr>
          <p:cNvPr id="24" name="Text 18"/>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5" name="Text 19"/>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GROUND RULES</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Assumptions &amp; Constraints</a:t>
            </a:r>
            <a:endParaRPr lang="en-US" sz="3000" dirty="0"/>
          </a:p>
        </p:txBody>
      </p:sp>
      <p:sp>
        <p:nvSpPr>
          <p:cNvPr id="4" name="Shape 2"/>
          <p:cNvSpPr/>
          <p:nvPr/>
        </p:nvSpPr>
        <p:spPr>
          <a:xfrm>
            <a:off x="548640" y="1508760"/>
            <a:ext cx="5440680" cy="4709160"/>
          </a:xfrm>
          <a:prstGeom prst="roundRect">
            <a:avLst>
              <a:gd name="adj" fmla="val 1553"/>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800100" y="1714500"/>
            <a:ext cx="502920" cy="502920"/>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925830" y="1840230"/>
            <a:ext cx="251460" cy="251460"/>
          </a:xfrm>
          <a:prstGeom prst="rect">
            <a:avLst/>
          </a:prstGeom>
        </p:spPr>
      </p:pic>
      <p:sp>
        <p:nvSpPr>
          <p:cNvPr id="7" name="Text 4"/>
          <p:cNvSpPr/>
          <p:nvPr/>
        </p:nvSpPr>
        <p:spPr>
          <a:xfrm>
            <a:off x="1444752" y="1737360"/>
            <a:ext cx="4434840" cy="457200"/>
          </a:xfrm>
          <a:prstGeom prst="rect">
            <a:avLst/>
          </a:prstGeom>
          <a:noFill/>
          <a:ln/>
        </p:spPr>
        <p:txBody>
          <a:bodyPr wrap="square" lIns="0" tIns="0" rIns="0" bIns="0" rtlCol="0" anchor="ctr"/>
          <a:lstStyle/>
          <a:p>
            <a:pPr indent="0" marL="0">
              <a:buNone/>
            </a:pPr>
            <a:r>
              <a:rPr lang="en-US" sz="1550" b="1" dirty="0">
                <a:solidFill>
                  <a:srgbClr val="14213D"/>
                </a:solidFill>
                <a:latin typeface="Calibri" pitchFamily="34" charset="0"/>
                <a:ea typeface="Calibri" pitchFamily="34" charset="-122"/>
                <a:cs typeface="Calibri" pitchFamily="34" charset="-120"/>
              </a:rPr>
              <a:t>Key Assumptions</a:t>
            </a:r>
            <a:endParaRPr lang="en-US" sz="1550" dirty="0"/>
          </a:p>
        </p:txBody>
      </p:sp>
      <p:sp>
        <p:nvSpPr>
          <p:cNvPr id="8" name="Text 5"/>
          <p:cNvSpPr/>
          <p:nvPr/>
        </p:nvSpPr>
        <p:spPr>
          <a:xfrm>
            <a:off x="868680" y="2423160"/>
            <a:ext cx="4800600" cy="3611880"/>
          </a:xfrm>
          <a:prstGeom prst="rect">
            <a:avLst/>
          </a:prstGeom>
          <a:noFill/>
          <a:ln/>
        </p:spPr>
        <p:txBody>
          <a:bodyPr wrap="square" lIns="0" tIns="0" rIns="0" bIns="0" rtlCol="0" anchor="ctr"/>
          <a:lstStyle/>
          <a:p>
            <a:pPr marL="342900" indent="-342900">
              <a:lnSpc>
                <a:spcPct val="125000"/>
              </a:lnSpc>
              <a:spcAft>
                <a:spcPts val="1400"/>
              </a:spcAft>
              <a:buSzPct val="100000"/>
              <a:buFont typeface="+mj-lt"/>
              <a:buAutoNum type="arabicPeriod" startAt="1"/>
            </a:pPr>
            <a:r>
              <a:rPr lang="en-US" sz="1250" dirty="0">
                <a:solidFill>
                  <a:srgbClr val="1B2430"/>
                </a:solidFill>
                <a:latin typeface="Calibri" pitchFamily="34" charset="0"/>
                <a:ea typeface="Calibri" pitchFamily="34" charset="-122"/>
                <a:cs typeface="Calibri" pitchFamily="34" charset="-120"/>
              </a:rPr>
              <a:t>The ~1,338-record public insurance dataset is treated as representative of the applicant pool (acknowledged as a limitation).</a:t>
            </a:r>
            <a:endParaRPr lang="en-US" sz="1250" dirty="0"/>
          </a:p>
          <a:p>
            <a:pPr marL="342900" indent="-342900">
              <a:lnSpc>
                <a:spcPct val="125000"/>
              </a:lnSpc>
              <a:spcAft>
                <a:spcPts val="1400"/>
              </a:spcAft>
              <a:buSzPct val="100000"/>
              <a:buFont typeface="+mj-lt"/>
              <a:buAutoNum type="arabicPeriod" startAt="1"/>
            </a:pPr>
            <a:r>
              <a:rPr lang="en-US" sz="1250" dirty="0">
                <a:solidFill>
                  <a:srgbClr val="1B2430"/>
                </a:solidFill>
                <a:latin typeface="Calibri" pitchFamily="34" charset="0"/>
                <a:ea typeface="Calibri" pitchFamily="34" charset="-122"/>
                <a:cs typeface="Calibri" pitchFamily="34" charset="-120"/>
              </a:rPr>
              <a:t>The six features carry independent, legitimate risk signal; no strong proxy for a protected attribute is assumed (region is the weak point).</a:t>
            </a:r>
            <a:endParaRPr lang="en-US" sz="1250" dirty="0"/>
          </a:p>
          <a:p>
            <a:pPr marL="342900" indent="-342900">
              <a:lnSpc>
                <a:spcPct val="125000"/>
              </a:lnSpc>
              <a:spcAft>
                <a:spcPts val="1400"/>
              </a:spcAft>
              <a:buSzPct val="100000"/>
              <a:buFont typeface="+mj-lt"/>
              <a:buAutoNum type="arabicPeriod" startAt="1"/>
            </a:pPr>
            <a:r>
              <a:rPr lang="en-US" sz="1250" dirty="0">
                <a:solidFill>
                  <a:srgbClr val="1B2430"/>
                </a:solidFill>
                <a:latin typeface="Calibri" pitchFamily="34" charset="0"/>
                <a:ea typeface="Calibri" pitchFamily="34" charset="-122"/>
                <a:cs typeface="Calibri" pitchFamily="34" charset="-120"/>
              </a:rPr>
              <a:t>Train and serving data share the same distribution — checked with drift monitoring rather than assumed.</a:t>
            </a:r>
            <a:endParaRPr lang="en-US" sz="1250" dirty="0"/>
          </a:p>
        </p:txBody>
      </p:sp>
      <p:sp>
        <p:nvSpPr>
          <p:cNvPr id="9" name="Shape 6"/>
          <p:cNvSpPr/>
          <p:nvPr/>
        </p:nvSpPr>
        <p:spPr>
          <a:xfrm>
            <a:off x="6217920" y="1508760"/>
            <a:ext cx="5440680" cy="4709160"/>
          </a:xfrm>
          <a:prstGeom prst="roundRect">
            <a:avLst>
              <a:gd name="adj" fmla="val 1553"/>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6469380" y="1714500"/>
            <a:ext cx="502920" cy="502920"/>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6595110" y="1840230"/>
            <a:ext cx="251460" cy="251460"/>
          </a:xfrm>
          <a:prstGeom prst="rect">
            <a:avLst/>
          </a:prstGeom>
        </p:spPr>
      </p:pic>
      <p:sp>
        <p:nvSpPr>
          <p:cNvPr id="12" name="Text 8"/>
          <p:cNvSpPr/>
          <p:nvPr/>
        </p:nvSpPr>
        <p:spPr>
          <a:xfrm>
            <a:off x="7114032" y="1737360"/>
            <a:ext cx="4434840" cy="457200"/>
          </a:xfrm>
          <a:prstGeom prst="rect">
            <a:avLst/>
          </a:prstGeom>
          <a:noFill/>
          <a:ln/>
        </p:spPr>
        <p:txBody>
          <a:bodyPr wrap="square" lIns="0" tIns="0" rIns="0" bIns="0" rtlCol="0" anchor="ctr"/>
          <a:lstStyle/>
          <a:p>
            <a:pPr indent="0" marL="0">
              <a:buNone/>
            </a:pPr>
            <a:r>
              <a:rPr lang="en-US" sz="1550" b="1" dirty="0">
                <a:solidFill>
                  <a:srgbClr val="14213D"/>
                </a:solidFill>
                <a:latin typeface="Calibri" pitchFamily="34" charset="0"/>
                <a:ea typeface="Calibri" pitchFamily="34" charset="-122"/>
                <a:cs typeface="Calibri" pitchFamily="34" charset="-120"/>
              </a:rPr>
              <a:t>Constraints</a:t>
            </a:r>
            <a:endParaRPr lang="en-US" sz="1550" dirty="0"/>
          </a:p>
        </p:txBody>
      </p:sp>
      <p:sp>
        <p:nvSpPr>
          <p:cNvPr id="13" name="Text 9"/>
          <p:cNvSpPr/>
          <p:nvPr/>
        </p:nvSpPr>
        <p:spPr>
          <a:xfrm>
            <a:off x="6537960" y="2468880"/>
            <a:ext cx="4800600" cy="777240"/>
          </a:xfrm>
          <a:prstGeom prst="rect">
            <a:avLst/>
          </a:prstGeom>
          <a:noFill/>
          <a:ln/>
        </p:spPr>
        <p:txBody>
          <a:bodyPr wrap="square" lIns="0" tIns="0" rIns="0" bIns="0" rtlCol="0" anchor="ctr"/>
          <a:lstStyle/>
          <a:p>
            <a:pPr indent="0" marL="0">
              <a:lnSpc>
                <a:spcPct val="120000"/>
              </a:lnSpc>
              <a:buNone/>
            </a:pPr>
            <a:r>
              <a:rPr lang="en-US" sz="1100" b="1" dirty="0">
                <a:solidFill>
                  <a:srgbClr val="C97B1F"/>
                </a:solidFill>
                <a:latin typeface="Calibri" pitchFamily="34" charset="0"/>
                <a:ea typeface="Calibri" pitchFamily="34" charset="-122"/>
                <a:cs typeface="Calibri" pitchFamily="34" charset="-120"/>
              </a:rPr>
              <a:t>COMPUTE  </a:t>
            </a:r>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Local machine / Colab free tier</a:t>
            </a:r>
            <a:endParaRPr lang="en-US" sz="1100" dirty="0"/>
          </a:p>
        </p:txBody>
      </p:sp>
      <p:sp>
        <p:nvSpPr>
          <p:cNvPr id="14" name="Text 10"/>
          <p:cNvSpPr/>
          <p:nvPr/>
        </p:nvSpPr>
        <p:spPr>
          <a:xfrm>
            <a:off x="6537960" y="3383280"/>
            <a:ext cx="4800600" cy="777240"/>
          </a:xfrm>
          <a:prstGeom prst="rect">
            <a:avLst/>
          </a:prstGeom>
          <a:noFill/>
          <a:ln/>
        </p:spPr>
        <p:txBody>
          <a:bodyPr wrap="square" lIns="0" tIns="0" rIns="0" bIns="0" rtlCol="0" anchor="ctr"/>
          <a:lstStyle/>
          <a:p>
            <a:pPr indent="0" marL="0">
              <a:lnSpc>
                <a:spcPct val="120000"/>
              </a:lnSpc>
              <a:buNone/>
            </a:pPr>
            <a:r>
              <a:rPr lang="en-US" sz="1100" b="1" dirty="0">
                <a:solidFill>
                  <a:srgbClr val="C97B1F"/>
                </a:solidFill>
                <a:latin typeface="Calibri" pitchFamily="34" charset="0"/>
                <a:ea typeface="Calibri" pitchFamily="34" charset="-122"/>
                <a:cs typeface="Calibri" pitchFamily="34" charset="-120"/>
              </a:rPr>
              <a:t>DATA  </a:t>
            </a:r>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One public dataset; no real applicant data</a:t>
            </a:r>
            <a:endParaRPr lang="en-US" sz="1100" dirty="0"/>
          </a:p>
        </p:txBody>
      </p:sp>
      <p:sp>
        <p:nvSpPr>
          <p:cNvPr id="15" name="Text 11"/>
          <p:cNvSpPr/>
          <p:nvPr/>
        </p:nvSpPr>
        <p:spPr>
          <a:xfrm>
            <a:off x="6537960" y="4297680"/>
            <a:ext cx="4800600" cy="777240"/>
          </a:xfrm>
          <a:prstGeom prst="rect">
            <a:avLst/>
          </a:prstGeom>
          <a:noFill/>
          <a:ln/>
        </p:spPr>
        <p:txBody>
          <a:bodyPr wrap="square" lIns="0" tIns="0" rIns="0" bIns="0" rtlCol="0" anchor="ctr"/>
          <a:lstStyle/>
          <a:p>
            <a:pPr indent="0" marL="0">
              <a:lnSpc>
                <a:spcPct val="120000"/>
              </a:lnSpc>
              <a:buNone/>
            </a:pPr>
            <a:r>
              <a:rPr lang="en-US" sz="1100" b="1" dirty="0">
                <a:solidFill>
                  <a:srgbClr val="C97B1F"/>
                </a:solidFill>
                <a:latin typeface="Calibri" pitchFamily="34" charset="0"/>
                <a:ea typeface="Calibri" pitchFamily="34" charset="-122"/>
                <a:cs typeface="Calibri" pitchFamily="34" charset="-120"/>
              </a:rPr>
              <a:t>ETHICS  </a:t>
            </a:r>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Synthetic Bad Risk label; sex-based pricing restricted; no PII controls</a:t>
            </a:r>
            <a:endParaRPr lang="en-US" sz="1100" dirty="0"/>
          </a:p>
        </p:txBody>
      </p:sp>
      <p:sp>
        <p:nvSpPr>
          <p:cNvPr id="16" name="Text 12"/>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17" name="Text 13"/>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HONEST ACCOUNTING</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Limitations &amp; Challenges</a:t>
            </a:r>
            <a:endParaRPr lang="en-US" sz="3000" dirty="0"/>
          </a:p>
        </p:txBody>
      </p:sp>
      <p:sp>
        <p:nvSpPr>
          <p:cNvPr id="4" name="Shape 2"/>
          <p:cNvSpPr/>
          <p:nvPr/>
        </p:nvSpPr>
        <p:spPr>
          <a:xfrm>
            <a:off x="548640" y="1554480"/>
            <a:ext cx="11091672" cy="1371600"/>
          </a:xfrm>
          <a:prstGeom prst="roundRect">
            <a:avLst>
              <a:gd name="adj" fmla="val 5333"/>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1005840" y="1920240"/>
            <a:ext cx="640080" cy="640080"/>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1165860" y="2080260"/>
            <a:ext cx="320040" cy="320040"/>
          </a:xfrm>
          <a:prstGeom prst="rect">
            <a:avLst/>
          </a:prstGeom>
        </p:spPr>
      </p:pic>
      <p:sp>
        <p:nvSpPr>
          <p:cNvPr id="7" name="Text 4"/>
          <p:cNvSpPr/>
          <p:nvPr/>
        </p:nvSpPr>
        <p:spPr>
          <a:xfrm>
            <a:off x="1920240" y="1719072"/>
            <a:ext cx="2560320" cy="1042416"/>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Data Quality</a:t>
            </a:r>
            <a:endParaRPr lang="en-US" sz="1450" dirty="0"/>
          </a:p>
        </p:txBody>
      </p:sp>
      <p:sp>
        <p:nvSpPr>
          <p:cNvPr id="8" name="Text 5"/>
          <p:cNvSpPr/>
          <p:nvPr/>
        </p:nvSpPr>
        <p:spPr>
          <a:xfrm>
            <a:off x="4663440" y="1719072"/>
            <a:ext cx="6656832" cy="1042416"/>
          </a:xfrm>
          <a:prstGeom prst="rect">
            <a:avLst/>
          </a:prstGeom>
          <a:noFill/>
          <a:ln/>
        </p:spPr>
        <p:txBody>
          <a:bodyPr wrap="square" lIns="0" tIns="0" rIns="0" bIns="0" rtlCol="0" anchor="ctr"/>
          <a:lstStyle/>
          <a:p>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Small (~1,338 records), non-representative, single public dataset. The Bad Risk label is a synthetic $10K threshold on cost, not a real underwriting outcome.</a:t>
            </a:r>
            <a:endParaRPr lang="en-US" sz="1250" dirty="0"/>
          </a:p>
        </p:txBody>
      </p:sp>
      <p:sp>
        <p:nvSpPr>
          <p:cNvPr id="9" name="Shape 6"/>
          <p:cNvSpPr/>
          <p:nvPr/>
        </p:nvSpPr>
        <p:spPr>
          <a:xfrm>
            <a:off x="548640" y="3127248"/>
            <a:ext cx="11091672" cy="1371600"/>
          </a:xfrm>
          <a:prstGeom prst="roundRect">
            <a:avLst>
              <a:gd name="adj" fmla="val 5333"/>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1005840" y="3493008"/>
            <a:ext cx="640080" cy="640080"/>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1165860" y="3653028"/>
            <a:ext cx="320040" cy="320040"/>
          </a:xfrm>
          <a:prstGeom prst="rect">
            <a:avLst/>
          </a:prstGeom>
        </p:spPr>
      </p:pic>
      <p:sp>
        <p:nvSpPr>
          <p:cNvPr id="12" name="Text 8"/>
          <p:cNvSpPr/>
          <p:nvPr/>
        </p:nvSpPr>
        <p:spPr>
          <a:xfrm>
            <a:off x="1920240" y="3291840"/>
            <a:ext cx="2560320" cy="1042416"/>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Model Limits</a:t>
            </a:r>
            <a:endParaRPr lang="en-US" sz="1450" dirty="0"/>
          </a:p>
        </p:txBody>
      </p:sp>
      <p:sp>
        <p:nvSpPr>
          <p:cNvPr id="13" name="Text 9"/>
          <p:cNvSpPr/>
          <p:nvPr/>
        </p:nvSpPr>
        <p:spPr>
          <a:xfrm>
            <a:off x="4663440" y="3291840"/>
            <a:ext cx="6656832" cy="1042416"/>
          </a:xfrm>
          <a:prstGeom prst="rect">
            <a:avLst/>
          </a:prstGeom>
          <a:noFill/>
          <a:ln/>
        </p:spPr>
        <p:txBody>
          <a:bodyPr wrap="square" lIns="0" tIns="0" rIns="0" bIns="0" rtlCol="0" anchor="ctr"/>
          <a:lstStyle/>
          <a:p>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Residual sex gap (~3.7 pts) reduced but not eliminated; region disparity measured but unmitigated in the served model. No generalization claimed.</a:t>
            </a:r>
            <a:endParaRPr lang="en-US" sz="1250" dirty="0"/>
          </a:p>
        </p:txBody>
      </p:sp>
      <p:sp>
        <p:nvSpPr>
          <p:cNvPr id="14" name="Shape 10"/>
          <p:cNvSpPr/>
          <p:nvPr/>
        </p:nvSpPr>
        <p:spPr>
          <a:xfrm>
            <a:off x="548640" y="4700016"/>
            <a:ext cx="11091672" cy="1371600"/>
          </a:xfrm>
          <a:prstGeom prst="roundRect">
            <a:avLst>
              <a:gd name="adj" fmla="val 5333"/>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1005840" y="5065776"/>
            <a:ext cx="640080" cy="640080"/>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1165860" y="5225796"/>
            <a:ext cx="320040" cy="320040"/>
          </a:xfrm>
          <a:prstGeom prst="rect">
            <a:avLst/>
          </a:prstGeom>
        </p:spPr>
      </p:pic>
      <p:sp>
        <p:nvSpPr>
          <p:cNvPr id="17" name="Text 12"/>
          <p:cNvSpPr/>
          <p:nvPr/>
        </p:nvSpPr>
        <p:spPr>
          <a:xfrm>
            <a:off x="1920240" y="4864608"/>
            <a:ext cx="2560320" cy="1042416"/>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What Failed</a:t>
            </a:r>
            <a:endParaRPr lang="en-US" sz="1450" dirty="0"/>
          </a:p>
        </p:txBody>
      </p:sp>
      <p:sp>
        <p:nvSpPr>
          <p:cNvPr id="18" name="Text 13"/>
          <p:cNvSpPr/>
          <p:nvPr/>
        </p:nvSpPr>
        <p:spPr>
          <a:xfrm>
            <a:off x="4663440" y="4864608"/>
            <a:ext cx="6656832" cy="1042416"/>
          </a:xfrm>
          <a:prstGeom prst="rect">
            <a:avLst/>
          </a:prstGeom>
          <a:noFill/>
          <a:ln/>
        </p:spPr>
        <p:txBody>
          <a:bodyPr wrap="square" lIns="0" tIns="0" rIns="0" bIns="0" rtlCol="0" anchor="ctr"/>
          <a:lstStyle/>
          <a:p>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Fairlearn’s ThresholdOptimizer narrowed the sex gap but couldn’t close it, costing ~0.4 pts of accuracy. It stayed an analysis step, not wired into the served model.</a:t>
            </a:r>
            <a:endParaRPr lang="en-US" sz="1250" dirty="0"/>
          </a:p>
        </p:txBody>
      </p:sp>
      <p:sp>
        <p:nvSpPr>
          <p:cNvPr id="19" name="Text 14"/>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0" name="Text 15"/>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WRAPPING UP</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Conclusions &amp; Recommendations</a:t>
            </a:r>
            <a:endParaRPr lang="en-US" sz="3000" dirty="0"/>
          </a:p>
        </p:txBody>
      </p:sp>
      <p:sp>
        <p:nvSpPr>
          <p:cNvPr id="4" name="Shape 2"/>
          <p:cNvSpPr/>
          <p:nvPr/>
        </p:nvSpPr>
        <p:spPr>
          <a:xfrm>
            <a:off x="548640" y="1417320"/>
            <a:ext cx="11091672" cy="1051560"/>
          </a:xfrm>
          <a:prstGeom prst="roundRect">
            <a:avLst>
              <a:gd name="adj" fmla="val 6957"/>
            </a:avLst>
          </a:prstGeom>
          <a:solidFill>
            <a:srgbClr val="EEF3FA"/>
          </a:solidFill>
          <a:ln/>
        </p:spPr>
      </p:sp>
      <p:sp>
        <p:nvSpPr>
          <p:cNvPr id="5" name="Text 3"/>
          <p:cNvSpPr/>
          <p:nvPr/>
        </p:nvSpPr>
        <p:spPr>
          <a:xfrm>
            <a:off x="822960" y="1554480"/>
            <a:ext cx="10515600" cy="822960"/>
          </a:xfrm>
          <a:prstGeom prst="rect">
            <a:avLst/>
          </a:prstGeom>
          <a:noFill/>
          <a:ln/>
        </p:spPr>
        <p:txBody>
          <a:bodyPr wrap="square" lIns="0" tIns="0" rIns="0" bIns="0" rtlCol="0" anchor="ctr"/>
          <a:lstStyle/>
          <a:p>
            <a:pPr indent="0" marL="0">
              <a:lnSpc>
                <a:spcPct val="125000"/>
              </a:lnSpc>
              <a:buNone/>
            </a:pPr>
            <a:r>
              <a:rPr lang="en-US" sz="1350" i="1" dirty="0">
                <a:solidFill>
                  <a:srgbClr val="14213D"/>
                </a:solidFill>
                <a:latin typeface="Calibri" pitchFamily="34" charset="0"/>
                <a:ea typeface="Calibri" pitchFamily="34" charset="-122"/>
                <a:cs typeface="Calibri" pitchFamily="34" charset="-120"/>
              </a:rPr>
              <a:t>The goal wasn’t raw accuracy — it was whether a model that affects what people pay can be explained and audited before it ships. The data says yes: the model is accurate and transparent, with fairness gaps surfaced honestly rather than hidden.</a:t>
            </a:r>
            <a:endParaRPr lang="en-US" sz="1350" dirty="0"/>
          </a:p>
        </p:txBody>
      </p:sp>
      <p:sp>
        <p:nvSpPr>
          <p:cNvPr id="6" name="Shape 4"/>
          <p:cNvSpPr/>
          <p:nvPr/>
        </p:nvSpPr>
        <p:spPr>
          <a:xfrm>
            <a:off x="548640" y="2697480"/>
            <a:ext cx="5440680" cy="1783080"/>
          </a:xfrm>
          <a:prstGeom prst="roundRect">
            <a:avLst>
              <a:gd name="adj" fmla="val 4103"/>
            </a:avLst>
          </a:prstGeom>
          <a:solidFill>
            <a:srgbClr val="F7FAFD"/>
          </a:solidFill>
          <a:ln/>
          <a:effectLst>
            <a:outerShdw sx="100000" sy="100000" kx="0" ky="0" algn="bl" rotWithShape="0" blurRad="127000" dist="38100" dir="5400000">
              <a:srgbClr val="14213D">
                <a:alpha val="12000"/>
              </a:srgbClr>
            </a:outerShdw>
          </a:effectLst>
        </p:spPr>
      </p:sp>
      <p:sp>
        <p:nvSpPr>
          <p:cNvPr id="7" name="Shape 5"/>
          <p:cNvSpPr/>
          <p:nvPr/>
        </p:nvSpPr>
        <p:spPr>
          <a:xfrm>
            <a:off x="800100" y="3337560"/>
            <a:ext cx="502920" cy="502920"/>
          </a:xfrm>
          <a:prstGeom prst="ellipse">
            <a:avLst/>
          </a:prstGeom>
          <a:solidFill>
            <a:srgbClr val="14213D"/>
          </a:solidFill>
          <a:ln/>
        </p:spPr>
      </p:sp>
      <p:pic>
        <p:nvPicPr>
          <p:cNvPr id="8" name="Image 0" descr="preencoded.png">    </p:cNvPr>
          <p:cNvPicPr>
            <a:picLocks noChangeAspect="1"/>
          </p:cNvPicPr>
          <p:nvPr/>
        </p:nvPicPr>
        <p:blipFill>
          <a:blip r:embed="rId1"/>
          <a:stretch>
            <a:fillRect/>
          </a:stretch>
        </p:blipFill>
        <p:spPr>
          <a:xfrm>
            <a:off x="925830" y="3463290"/>
            <a:ext cx="251460" cy="251460"/>
          </a:xfrm>
          <a:prstGeom prst="rect">
            <a:avLst/>
          </a:prstGeom>
        </p:spPr>
      </p:pic>
      <p:sp>
        <p:nvSpPr>
          <p:cNvPr id="9" name="Text 6"/>
          <p:cNvSpPr/>
          <p:nvPr/>
        </p:nvSpPr>
        <p:spPr>
          <a:xfrm>
            <a:off x="859536" y="2752344"/>
            <a:ext cx="365760" cy="274320"/>
          </a:xfrm>
          <a:prstGeom prst="rect">
            <a:avLst/>
          </a:prstGeom>
          <a:noFill/>
          <a:ln/>
        </p:spPr>
        <p:txBody>
          <a:bodyPr wrap="square" lIns="0" tIns="0" rIns="0" bIns="0" rtlCol="0" anchor="ctr"/>
          <a:lstStyle/>
          <a:p>
            <a:pPr indent="0" marL="0">
              <a:buNone/>
            </a:pPr>
            <a:r>
              <a:rPr lang="en-US" sz="1050" b="1" dirty="0">
                <a:solidFill>
                  <a:srgbClr val="C97B1F"/>
                </a:solidFill>
                <a:latin typeface="Calibri" pitchFamily="34" charset="0"/>
                <a:ea typeface="Calibri" pitchFamily="34" charset="-122"/>
                <a:cs typeface="Calibri" pitchFamily="34" charset="-120"/>
              </a:rPr>
              <a:t>1</a:t>
            </a:r>
            <a:endParaRPr lang="en-US" sz="1050" dirty="0"/>
          </a:p>
        </p:txBody>
      </p:sp>
      <p:sp>
        <p:nvSpPr>
          <p:cNvPr id="10" name="Text 7"/>
          <p:cNvSpPr/>
          <p:nvPr/>
        </p:nvSpPr>
        <p:spPr>
          <a:xfrm>
            <a:off x="1444752" y="2834640"/>
            <a:ext cx="4343400" cy="1508760"/>
          </a:xfrm>
          <a:prstGeom prst="rect">
            <a:avLst/>
          </a:prstGeom>
          <a:noFill/>
          <a:ln/>
        </p:spPr>
        <p:txBody>
          <a:bodyPr wrap="square" lIns="0" tIns="0" rIns="0" bIns="0" rtlCol="0" anchor="ctr"/>
          <a:lstStyle/>
          <a:p>
            <a:pPr indent="0" marL="0">
              <a:lnSpc>
                <a:spcPct val="120000"/>
              </a:lnSpc>
              <a:buNone/>
            </a:pPr>
            <a:r>
              <a:rPr lang="en-US" sz="1200" dirty="0">
                <a:solidFill>
                  <a:srgbClr val="1B2430"/>
                </a:solidFill>
                <a:latin typeface="Calibri" pitchFamily="34" charset="0"/>
                <a:ea typeface="Calibri" pitchFamily="34" charset="-122"/>
                <a:cs typeface="Calibri" pitchFamily="34" charset="-120"/>
              </a:rPr>
              <a:t>Don’t deploy as-is — treat it as a demonstration. Before any real use, validate on production data and add authentication plus a PII policy.</a:t>
            </a:r>
            <a:endParaRPr lang="en-US" sz="1200" dirty="0"/>
          </a:p>
        </p:txBody>
      </p:sp>
      <p:sp>
        <p:nvSpPr>
          <p:cNvPr id="11" name="Shape 8"/>
          <p:cNvSpPr/>
          <p:nvPr/>
        </p:nvSpPr>
        <p:spPr>
          <a:xfrm>
            <a:off x="6217920" y="2697480"/>
            <a:ext cx="5440680" cy="1783080"/>
          </a:xfrm>
          <a:prstGeom prst="roundRect">
            <a:avLst>
              <a:gd name="adj" fmla="val 4103"/>
            </a:avLst>
          </a:prstGeom>
          <a:solidFill>
            <a:srgbClr val="F7FAFD"/>
          </a:solidFill>
          <a:ln/>
          <a:effectLst>
            <a:outerShdw sx="100000" sy="100000" kx="0" ky="0" algn="bl" rotWithShape="0" blurRad="127000" dist="38100" dir="5400000">
              <a:srgbClr val="14213D">
                <a:alpha val="12000"/>
              </a:srgbClr>
            </a:outerShdw>
          </a:effectLst>
        </p:spPr>
      </p:sp>
      <p:sp>
        <p:nvSpPr>
          <p:cNvPr id="12" name="Shape 9"/>
          <p:cNvSpPr/>
          <p:nvPr/>
        </p:nvSpPr>
        <p:spPr>
          <a:xfrm>
            <a:off x="6469380" y="3337560"/>
            <a:ext cx="502920" cy="502920"/>
          </a:xfrm>
          <a:prstGeom prst="ellipse">
            <a:avLst/>
          </a:prstGeom>
          <a:solidFill>
            <a:srgbClr val="14213D"/>
          </a:solidFill>
          <a:ln/>
        </p:spPr>
      </p:sp>
      <p:pic>
        <p:nvPicPr>
          <p:cNvPr id="13" name="Image 1" descr="preencoded.png">    </p:cNvPr>
          <p:cNvPicPr>
            <a:picLocks noChangeAspect="1"/>
          </p:cNvPicPr>
          <p:nvPr/>
        </p:nvPicPr>
        <p:blipFill>
          <a:blip r:embed="rId2"/>
          <a:stretch>
            <a:fillRect/>
          </a:stretch>
        </p:blipFill>
        <p:spPr>
          <a:xfrm>
            <a:off x="6595110" y="3463290"/>
            <a:ext cx="251460" cy="251460"/>
          </a:xfrm>
          <a:prstGeom prst="rect">
            <a:avLst/>
          </a:prstGeom>
        </p:spPr>
      </p:pic>
      <p:sp>
        <p:nvSpPr>
          <p:cNvPr id="14" name="Text 10"/>
          <p:cNvSpPr/>
          <p:nvPr/>
        </p:nvSpPr>
        <p:spPr>
          <a:xfrm>
            <a:off x="6528816" y="2752344"/>
            <a:ext cx="365760" cy="274320"/>
          </a:xfrm>
          <a:prstGeom prst="rect">
            <a:avLst/>
          </a:prstGeom>
          <a:noFill/>
          <a:ln/>
        </p:spPr>
        <p:txBody>
          <a:bodyPr wrap="square" lIns="0" tIns="0" rIns="0" bIns="0" rtlCol="0" anchor="ctr"/>
          <a:lstStyle/>
          <a:p>
            <a:pPr indent="0" marL="0">
              <a:buNone/>
            </a:pPr>
            <a:r>
              <a:rPr lang="en-US" sz="1050" b="1" dirty="0">
                <a:solidFill>
                  <a:srgbClr val="C97B1F"/>
                </a:solidFill>
                <a:latin typeface="Calibri" pitchFamily="34" charset="0"/>
                <a:ea typeface="Calibri" pitchFamily="34" charset="-122"/>
                <a:cs typeface="Calibri" pitchFamily="34" charset="-120"/>
              </a:rPr>
              <a:t>2</a:t>
            </a:r>
            <a:endParaRPr lang="en-US" sz="1050" dirty="0"/>
          </a:p>
        </p:txBody>
      </p:sp>
      <p:sp>
        <p:nvSpPr>
          <p:cNvPr id="15" name="Text 11"/>
          <p:cNvSpPr/>
          <p:nvPr/>
        </p:nvSpPr>
        <p:spPr>
          <a:xfrm>
            <a:off x="7114032" y="2834640"/>
            <a:ext cx="4343400" cy="1508760"/>
          </a:xfrm>
          <a:prstGeom prst="rect">
            <a:avLst/>
          </a:prstGeom>
          <a:noFill/>
          <a:ln/>
        </p:spPr>
        <p:txBody>
          <a:bodyPr wrap="square" lIns="0" tIns="0" rIns="0" bIns="0" rtlCol="0" anchor="ctr"/>
          <a:lstStyle/>
          <a:p>
            <a:pPr indent="0" marL="0">
              <a:lnSpc>
                <a:spcPct val="120000"/>
              </a:lnSpc>
              <a:buNone/>
            </a:pPr>
            <a:r>
              <a:rPr lang="en-US" sz="1200" dirty="0">
                <a:solidFill>
                  <a:srgbClr val="1B2430"/>
                </a:solidFill>
                <a:latin typeface="Calibri" pitchFamily="34" charset="0"/>
                <a:ea typeface="Calibri" pitchFamily="34" charset="-122"/>
                <a:cs typeface="Calibri" pitchFamily="34" charset="-120"/>
              </a:rPr>
              <a:t>Investigate whether the 100% rejection rate for smokers is a business-justified risk threshold, or whether the model over-relies on this single feature at the expense of BMI or age.</a:t>
            </a:r>
            <a:endParaRPr lang="en-US" sz="1200" dirty="0"/>
          </a:p>
        </p:txBody>
      </p:sp>
      <p:sp>
        <p:nvSpPr>
          <p:cNvPr id="16" name="Shape 12"/>
          <p:cNvSpPr/>
          <p:nvPr/>
        </p:nvSpPr>
        <p:spPr>
          <a:xfrm>
            <a:off x="548640" y="4663440"/>
            <a:ext cx="5440680" cy="1783080"/>
          </a:xfrm>
          <a:prstGeom prst="roundRect">
            <a:avLst>
              <a:gd name="adj" fmla="val 4103"/>
            </a:avLst>
          </a:prstGeom>
          <a:solidFill>
            <a:srgbClr val="F7FAFD"/>
          </a:solidFill>
          <a:ln/>
          <a:effectLst>
            <a:outerShdw sx="100000" sy="100000" kx="0" ky="0" algn="bl" rotWithShape="0" blurRad="127000" dist="38100" dir="5400000">
              <a:srgbClr val="14213D">
                <a:alpha val="12000"/>
              </a:srgbClr>
            </a:outerShdw>
          </a:effectLst>
        </p:spPr>
      </p:sp>
      <p:sp>
        <p:nvSpPr>
          <p:cNvPr id="17" name="Shape 13"/>
          <p:cNvSpPr/>
          <p:nvPr/>
        </p:nvSpPr>
        <p:spPr>
          <a:xfrm>
            <a:off x="800100" y="5303520"/>
            <a:ext cx="502920" cy="502920"/>
          </a:xfrm>
          <a:prstGeom prst="ellipse">
            <a:avLst/>
          </a:prstGeom>
          <a:solidFill>
            <a:srgbClr val="14213D"/>
          </a:solidFill>
          <a:ln/>
        </p:spPr>
      </p:sp>
      <p:pic>
        <p:nvPicPr>
          <p:cNvPr id="18" name="Image 2" descr="preencoded.png">    </p:cNvPr>
          <p:cNvPicPr>
            <a:picLocks noChangeAspect="1"/>
          </p:cNvPicPr>
          <p:nvPr/>
        </p:nvPicPr>
        <p:blipFill>
          <a:blip r:embed="rId3"/>
          <a:stretch>
            <a:fillRect/>
          </a:stretch>
        </p:blipFill>
        <p:spPr>
          <a:xfrm>
            <a:off x="925830" y="5429250"/>
            <a:ext cx="251460" cy="251460"/>
          </a:xfrm>
          <a:prstGeom prst="rect">
            <a:avLst/>
          </a:prstGeom>
        </p:spPr>
      </p:pic>
      <p:sp>
        <p:nvSpPr>
          <p:cNvPr id="19" name="Text 14"/>
          <p:cNvSpPr/>
          <p:nvPr/>
        </p:nvSpPr>
        <p:spPr>
          <a:xfrm>
            <a:off x="859536" y="4718304"/>
            <a:ext cx="365760" cy="274320"/>
          </a:xfrm>
          <a:prstGeom prst="rect">
            <a:avLst/>
          </a:prstGeom>
          <a:noFill/>
          <a:ln/>
        </p:spPr>
        <p:txBody>
          <a:bodyPr wrap="square" lIns="0" tIns="0" rIns="0" bIns="0" rtlCol="0" anchor="ctr"/>
          <a:lstStyle/>
          <a:p>
            <a:pPr indent="0" marL="0">
              <a:buNone/>
            </a:pPr>
            <a:r>
              <a:rPr lang="en-US" sz="1050" b="1" dirty="0">
                <a:solidFill>
                  <a:srgbClr val="C97B1F"/>
                </a:solidFill>
                <a:latin typeface="Calibri" pitchFamily="34" charset="0"/>
                <a:ea typeface="Calibri" pitchFamily="34" charset="-122"/>
                <a:cs typeface="Calibri" pitchFamily="34" charset="-120"/>
              </a:rPr>
              <a:t>3</a:t>
            </a:r>
            <a:endParaRPr lang="en-US" sz="1050" dirty="0"/>
          </a:p>
        </p:txBody>
      </p:sp>
      <p:sp>
        <p:nvSpPr>
          <p:cNvPr id="20" name="Text 15"/>
          <p:cNvSpPr/>
          <p:nvPr/>
        </p:nvSpPr>
        <p:spPr>
          <a:xfrm>
            <a:off x="1444752" y="4800600"/>
            <a:ext cx="4343400" cy="1508760"/>
          </a:xfrm>
          <a:prstGeom prst="rect">
            <a:avLst/>
          </a:prstGeom>
          <a:noFill/>
          <a:ln/>
        </p:spPr>
        <p:txBody>
          <a:bodyPr wrap="square" lIns="0" tIns="0" rIns="0" bIns="0" rtlCol="0" anchor="ctr"/>
          <a:lstStyle/>
          <a:p>
            <a:pPr indent="0" marL="0">
              <a:lnSpc>
                <a:spcPct val="120000"/>
              </a:lnSpc>
              <a:buNone/>
            </a:pPr>
            <a:r>
              <a:rPr lang="en-US" sz="1200" dirty="0">
                <a:solidFill>
                  <a:srgbClr val="1B2430"/>
                </a:solidFill>
                <a:latin typeface="Calibri" pitchFamily="34" charset="0"/>
                <a:ea typeface="Calibri" pitchFamily="34" charset="-122"/>
                <a:cs typeface="Calibri" pitchFamily="34" charset="-120"/>
              </a:rPr>
              <a:t>Make a jurisdiction-specific decision on region rating, and wire the sex mitigation into the served model where sex-based differentiation is restricted.</a:t>
            </a:r>
            <a:endParaRPr lang="en-US" sz="1200" dirty="0"/>
          </a:p>
        </p:txBody>
      </p:sp>
      <p:sp>
        <p:nvSpPr>
          <p:cNvPr id="21" name="Shape 16"/>
          <p:cNvSpPr/>
          <p:nvPr/>
        </p:nvSpPr>
        <p:spPr>
          <a:xfrm>
            <a:off x="6217920" y="4663440"/>
            <a:ext cx="5440680" cy="1783080"/>
          </a:xfrm>
          <a:prstGeom prst="roundRect">
            <a:avLst>
              <a:gd name="adj" fmla="val 4103"/>
            </a:avLst>
          </a:prstGeom>
          <a:solidFill>
            <a:srgbClr val="F7FAFD"/>
          </a:solidFill>
          <a:ln/>
          <a:effectLst>
            <a:outerShdw sx="100000" sy="100000" kx="0" ky="0" algn="bl" rotWithShape="0" blurRad="127000" dist="38100" dir="5400000">
              <a:srgbClr val="14213D">
                <a:alpha val="12000"/>
              </a:srgbClr>
            </a:outerShdw>
          </a:effectLst>
        </p:spPr>
      </p:sp>
      <p:sp>
        <p:nvSpPr>
          <p:cNvPr id="22" name="Shape 17"/>
          <p:cNvSpPr/>
          <p:nvPr/>
        </p:nvSpPr>
        <p:spPr>
          <a:xfrm>
            <a:off x="6469380" y="5303520"/>
            <a:ext cx="502920" cy="502920"/>
          </a:xfrm>
          <a:prstGeom prst="ellipse">
            <a:avLst/>
          </a:prstGeom>
          <a:solidFill>
            <a:srgbClr val="14213D"/>
          </a:solidFill>
          <a:ln/>
        </p:spPr>
      </p:sp>
      <p:pic>
        <p:nvPicPr>
          <p:cNvPr id="23" name="Image 3" descr="preencoded.png">    </p:cNvPr>
          <p:cNvPicPr>
            <a:picLocks noChangeAspect="1"/>
          </p:cNvPicPr>
          <p:nvPr/>
        </p:nvPicPr>
        <p:blipFill>
          <a:blip r:embed="rId4"/>
          <a:stretch>
            <a:fillRect/>
          </a:stretch>
        </p:blipFill>
        <p:spPr>
          <a:xfrm>
            <a:off x="6595110" y="5429250"/>
            <a:ext cx="251460" cy="251460"/>
          </a:xfrm>
          <a:prstGeom prst="rect">
            <a:avLst/>
          </a:prstGeom>
        </p:spPr>
      </p:pic>
      <p:sp>
        <p:nvSpPr>
          <p:cNvPr id="24" name="Text 18"/>
          <p:cNvSpPr/>
          <p:nvPr/>
        </p:nvSpPr>
        <p:spPr>
          <a:xfrm>
            <a:off x="6528816" y="4718304"/>
            <a:ext cx="365760" cy="274320"/>
          </a:xfrm>
          <a:prstGeom prst="rect">
            <a:avLst/>
          </a:prstGeom>
          <a:noFill/>
          <a:ln/>
        </p:spPr>
        <p:txBody>
          <a:bodyPr wrap="square" lIns="0" tIns="0" rIns="0" bIns="0" rtlCol="0" anchor="ctr"/>
          <a:lstStyle/>
          <a:p>
            <a:pPr indent="0" marL="0">
              <a:buNone/>
            </a:pPr>
            <a:r>
              <a:rPr lang="en-US" sz="1050" b="1" dirty="0">
                <a:solidFill>
                  <a:srgbClr val="C97B1F"/>
                </a:solidFill>
                <a:latin typeface="Calibri" pitchFamily="34" charset="0"/>
                <a:ea typeface="Calibri" pitchFamily="34" charset="-122"/>
                <a:cs typeface="Calibri" pitchFamily="34" charset="-120"/>
              </a:rPr>
              <a:t>4</a:t>
            </a:r>
            <a:endParaRPr lang="en-US" sz="1050" dirty="0"/>
          </a:p>
        </p:txBody>
      </p:sp>
      <p:sp>
        <p:nvSpPr>
          <p:cNvPr id="25" name="Text 19"/>
          <p:cNvSpPr/>
          <p:nvPr/>
        </p:nvSpPr>
        <p:spPr>
          <a:xfrm>
            <a:off x="7114032" y="4800600"/>
            <a:ext cx="4343400" cy="1508760"/>
          </a:xfrm>
          <a:prstGeom prst="rect">
            <a:avLst/>
          </a:prstGeom>
          <a:noFill/>
          <a:ln/>
        </p:spPr>
        <p:txBody>
          <a:bodyPr wrap="square" lIns="0" tIns="0" rIns="0" bIns="0" rtlCol="0" anchor="ctr"/>
          <a:lstStyle/>
          <a:p>
            <a:pPr indent="0" marL="0">
              <a:lnSpc>
                <a:spcPct val="120000"/>
              </a:lnSpc>
              <a:buNone/>
            </a:pPr>
            <a:r>
              <a:rPr lang="en-US" sz="1200" dirty="0">
                <a:solidFill>
                  <a:srgbClr val="1B2430"/>
                </a:solidFill>
                <a:latin typeface="Calibri" pitchFamily="34" charset="0"/>
                <a:ea typeface="Calibri" pitchFamily="34" charset="-122"/>
                <a:cs typeface="Calibri" pitchFamily="34" charset="-120"/>
              </a:rPr>
              <a:t>Stand up continuous drift monitoring (Evidently) and a periodic fairness re-audit as part of ongoing governance.</a:t>
            </a:r>
            <a:endParaRPr lang="en-US" sz="1200" dirty="0"/>
          </a:p>
        </p:txBody>
      </p:sp>
      <p:sp>
        <p:nvSpPr>
          <p:cNvPr id="26" name="Text 20"/>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7" name="Text 21"/>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830"/>
        </a:solidFill>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1F3A63">
              <a:alpha val="45000"/>
            </a:srgbClr>
          </a:solidFill>
          <a:ln/>
        </p:spPr>
      </p:sp>
      <p:sp>
        <p:nvSpPr>
          <p:cNvPr id="3" name="Text 1"/>
          <p:cNvSpPr/>
          <p:nvPr/>
        </p:nvSpPr>
        <p:spPr>
          <a:xfrm>
            <a:off x="548640" y="640080"/>
            <a:ext cx="7315200" cy="320040"/>
          </a:xfrm>
          <a:prstGeom prst="rect">
            <a:avLst/>
          </a:prstGeom>
          <a:noFill/>
          <a:ln/>
        </p:spPr>
        <p:txBody>
          <a:bodyPr wrap="square" lIns="0" tIns="0" rIns="0" bIns="0" rtlCol="0" anchor="ctr"/>
          <a:lstStyle/>
          <a:p>
            <a:pPr indent="0" marL="0">
              <a:buNone/>
            </a:pPr>
            <a:r>
              <a:rPr lang="en-US" sz="1300" b="1" spc="150" kern="0" dirty="0">
                <a:solidFill>
                  <a:srgbClr val="E8A33D"/>
                </a:solidFill>
                <a:latin typeface="Calibri" pitchFamily="34" charset="0"/>
                <a:ea typeface="Calibri" pitchFamily="34" charset="-122"/>
                <a:cs typeface="Calibri" pitchFamily="34" charset="-120"/>
              </a:rPr>
              <a:t>NEXT STEPS</a:t>
            </a:r>
            <a:endParaRPr lang="en-US" sz="1300" dirty="0"/>
          </a:p>
        </p:txBody>
      </p:sp>
      <p:sp>
        <p:nvSpPr>
          <p:cNvPr id="4" name="Text 2"/>
          <p:cNvSpPr/>
          <p:nvPr/>
        </p:nvSpPr>
        <p:spPr>
          <a:xfrm>
            <a:off x="548640" y="960120"/>
            <a:ext cx="91440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Future Work &amp; Questions</a:t>
            </a:r>
            <a:endParaRPr lang="en-US" sz="2800" dirty="0"/>
          </a:p>
        </p:txBody>
      </p:sp>
      <p:sp>
        <p:nvSpPr>
          <p:cNvPr id="5" name="Shape 3"/>
          <p:cNvSpPr/>
          <p:nvPr/>
        </p:nvSpPr>
        <p:spPr>
          <a:xfrm>
            <a:off x="617220" y="1943100"/>
            <a:ext cx="502920" cy="502920"/>
          </a:xfrm>
          <a:prstGeom prst="ellipse">
            <a:avLst/>
          </a:prstGeom>
          <a:solidFill>
            <a:srgbClr val="1F3A63"/>
          </a:solidFill>
          <a:ln/>
        </p:spPr>
      </p:sp>
      <p:pic>
        <p:nvPicPr>
          <p:cNvPr id="6" name="Image 0" descr="preencoded.png">    </p:cNvPr>
          <p:cNvPicPr>
            <a:picLocks noChangeAspect="1"/>
          </p:cNvPicPr>
          <p:nvPr/>
        </p:nvPicPr>
        <p:blipFill>
          <a:blip r:embed="rId1"/>
          <a:stretch>
            <a:fillRect/>
          </a:stretch>
        </p:blipFill>
        <p:spPr>
          <a:xfrm>
            <a:off x="742950" y="2068830"/>
            <a:ext cx="251460" cy="251460"/>
          </a:xfrm>
          <a:prstGeom prst="rect">
            <a:avLst/>
          </a:prstGeom>
        </p:spPr>
      </p:pic>
      <p:sp>
        <p:nvSpPr>
          <p:cNvPr id="7" name="Text 4"/>
          <p:cNvSpPr/>
          <p:nvPr/>
        </p:nvSpPr>
        <p:spPr>
          <a:xfrm>
            <a:off x="1371600" y="1874520"/>
            <a:ext cx="6126480" cy="685800"/>
          </a:xfrm>
          <a:prstGeom prst="rect">
            <a:avLst/>
          </a:prstGeom>
          <a:noFill/>
          <a:ln/>
        </p:spPr>
        <p:txBody>
          <a:bodyPr wrap="square" lIns="0" tIns="0" rIns="0" bIns="0" rtlCol="0" anchor="ctr"/>
          <a:lstStyle/>
          <a:p>
            <a:pPr indent="0" marL="0">
              <a:lnSpc>
                <a:spcPct val="120000"/>
              </a:lnSpc>
              <a:buNone/>
            </a:pPr>
            <a:r>
              <a:rPr lang="en-US" sz="1300" dirty="0">
                <a:solidFill>
                  <a:srgbClr val="E5EAF5"/>
                </a:solidFill>
                <a:latin typeface="Calibri" pitchFamily="34" charset="0"/>
                <a:ea typeface="Calibri" pitchFamily="34" charset="-122"/>
                <a:cs typeface="Calibri" pitchFamily="34" charset="-120"/>
              </a:rPr>
              <a:t>Incorporate additional, larger, and more representative data sources beyond the single public dataset.</a:t>
            </a:r>
            <a:endParaRPr lang="en-US" sz="1300" dirty="0"/>
          </a:p>
        </p:txBody>
      </p:sp>
      <p:sp>
        <p:nvSpPr>
          <p:cNvPr id="8" name="Shape 5"/>
          <p:cNvSpPr/>
          <p:nvPr/>
        </p:nvSpPr>
        <p:spPr>
          <a:xfrm>
            <a:off x="617220" y="2811780"/>
            <a:ext cx="502920" cy="502920"/>
          </a:xfrm>
          <a:prstGeom prst="ellipse">
            <a:avLst/>
          </a:prstGeom>
          <a:solidFill>
            <a:srgbClr val="1F3A63"/>
          </a:solidFill>
          <a:ln/>
        </p:spPr>
      </p:sp>
      <p:pic>
        <p:nvPicPr>
          <p:cNvPr id="9" name="Image 1" descr="preencoded.png">    </p:cNvPr>
          <p:cNvPicPr>
            <a:picLocks noChangeAspect="1"/>
          </p:cNvPicPr>
          <p:nvPr/>
        </p:nvPicPr>
        <p:blipFill>
          <a:blip r:embed="rId2"/>
          <a:stretch>
            <a:fillRect/>
          </a:stretch>
        </p:blipFill>
        <p:spPr>
          <a:xfrm>
            <a:off x="742950" y="2937510"/>
            <a:ext cx="251460" cy="251460"/>
          </a:xfrm>
          <a:prstGeom prst="rect">
            <a:avLst/>
          </a:prstGeom>
        </p:spPr>
      </p:pic>
      <p:sp>
        <p:nvSpPr>
          <p:cNvPr id="10" name="Text 6"/>
          <p:cNvSpPr/>
          <p:nvPr/>
        </p:nvSpPr>
        <p:spPr>
          <a:xfrm>
            <a:off x="1371600" y="2743200"/>
            <a:ext cx="6126480" cy="685800"/>
          </a:xfrm>
          <a:prstGeom prst="rect">
            <a:avLst/>
          </a:prstGeom>
          <a:noFill/>
          <a:ln/>
        </p:spPr>
        <p:txBody>
          <a:bodyPr wrap="square" lIns="0" tIns="0" rIns="0" bIns="0" rtlCol="0" anchor="ctr"/>
          <a:lstStyle/>
          <a:p>
            <a:pPr indent="0" marL="0">
              <a:lnSpc>
                <a:spcPct val="120000"/>
              </a:lnSpc>
              <a:buNone/>
            </a:pPr>
            <a:r>
              <a:rPr lang="en-US" sz="1300" dirty="0">
                <a:solidFill>
                  <a:srgbClr val="E5EAF5"/>
                </a:solidFill>
                <a:latin typeface="Calibri" pitchFamily="34" charset="0"/>
                <a:ea typeface="Calibri" pitchFamily="34" charset="-122"/>
                <a:cs typeface="Calibri" pitchFamily="34" charset="-120"/>
              </a:rPr>
              <a:t>Explore alternative methods and model architectures, including calibrated ensembles and fairness-aware training.</a:t>
            </a:r>
            <a:endParaRPr lang="en-US" sz="1300" dirty="0"/>
          </a:p>
        </p:txBody>
      </p:sp>
      <p:sp>
        <p:nvSpPr>
          <p:cNvPr id="11" name="Shape 7"/>
          <p:cNvSpPr/>
          <p:nvPr/>
        </p:nvSpPr>
        <p:spPr>
          <a:xfrm>
            <a:off x="617220" y="3680460"/>
            <a:ext cx="502920" cy="502920"/>
          </a:xfrm>
          <a:prstGeom prst="ellipse">
            <a:avLst/>
          </a:prstGeom>
          <a:solidFill>
            <a:srgbClr val="1F3A63"/>
          </a:solidFill>
          <a:ln/>
        </p:spPr>
      </p:sp>
      <p:pic>
        <p:nvPicPr>
          <p:cNvPr id="12" name="Image 2" descr="preencoded.png">    </p:cNvPr>
          <p:cNvPicPr>
            <a:picLocks noChangeAspect="1"/>
          </p:cNvPicPr>
          <p:nvPr/>
        </p:nvPicPr>
        <p:blipFill>
          <a:blip r:embed="rId3"/>
          <a:stretch>
            <a:fillRect/>
          </a:stretch>
        </p:blipFill>
        <p:spPr>
          <a:xfrm>
            <a:off x="742950" y="3806190"/>
            <a:ext cx="251460" cy="251460"/>
          </a:xfrm>
          <a:prstGeom prst="rect">
            <a:avLst/>
          </a:prstGeom>
        </p:spPr>
      </p:pic>
      <p:sp>
        <p:nvSpPr>
          <p:cNvPr id="13" name="Text 8"/>
          <p:cNvSpPr/>
          <p:nvPr/>
        </p:nvSpPr>
        <p:spPr>
          <a:xfrm>
            <a:off x="1371600" y="3611880"/>
            <a:ext cx="6126480" cy="685800"/>
          </a:xfrm>
          <a:prstGeom prst="rect">
            <a:avLst/>
          </a:prstGeom>
          <a:noFill/>
          <a:ln/>
        </p:spPr>
        <p:txBody>
          <a:bodyPr wrap="square" lIns="0" tIns="0" rIns="0" bIns="0" rtlCol="0" anchor="ctr"/>
          <a:lstStyle/>
          <a:p>
            <a:pPr indent="0" marL="0">
              <a:lnSpc>
                <a:spcPct val="120000"/>
              </a:lnSpc>
              <a:buNone/>
            </a:pPr>
            <a:r>
              <a:rPr lang="en-US" sz="1300" dirty="0">
                <a:solidFill>
                  <a:srgbClr val="E5EAF5"/>
                </a:solidFill>
                <a:latin typeface="Calibri" pitchFamily="34" charset="0"/>
                <a:ea typeface="Calibri" pitchFamily="34" charset="-122"/>
                <a:cs typeface="Calibri" pitchFamily="34" charset="-120"/>
              </a:rPr>
              <a:t>Define a deployment and real-world testing plan, including authentication, PII controls, and staged rollout.</a:t>
            </a:r>
            <a:endParaRPr lang="en-US" sz="1300" dirty="0"/>
          </a:p>
        </p:txBody>
      </p:sp>
      <p:sp>
        <p:nvSpPr>
          <p:cNvPr id="14" name="Shape 9"/>
          <p:cNvSpPr/>
          <p:nvPr/>
        </p:nvSpPr>
        <p:spPr>
          <a:xfrm>
            <a:off x="8321040" y="2011680"/>
            <a:ext cx="2834640" cy="2834640"/>
          </a:xfrm>
          <a:prstGeom prst="ellipse">
            <a:avLst/>
          </a:prstGeom>
          <a:solidFill>
            <a:srgbClr val="1F3A63"/>
          </a:solidFill>
          <a:ln w="25400">
            <a:solidFill>
              <a:srgbClr val="E8A33D"/>
            </a:solidFill>
            <a:prstDash val="solid"/>
          </a:ln>
        </p:spPr>
      </p:sp>
      <p:sp>
        <p:nvSpPr>
          <p:cNvPr id="15" name="Text 10"/>
          <p:cNvSpPr/>
          <p:nvPr/>
        </p:nvSpPr>
        <p:spPr>
          <a:xfrm>
            <a:off x="8321040" y="2011680"/>
            <a:ext cx="2834640" cy="28346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Q &amp; A</a:t>
            </a:r>
            <a:endParaRPr lang="en-US" sz="2600" dirty="0"/>
          </a:p>
        </p:txBody>
      </p:sp>
      <p:sp>
        <p:nvSpPr>
          <p:cNvPr id="16" name="Text 11"/>
          <p:cNvSpPr/>
          <p:nvPr/>
        </p:nvSpPr>
        <p:spPr>
          <a:xfrm>
            <a:off x="548640" y="5943600"/>
            <a:ext cx="7315200" cy="457200"/>
          </a:xfrm>
          <a:prstGeom prst="rect">
            <a:avLst/>
          </a:prstGeom>
          <a:noFill/>
          <a:ln/>
        </p:spPr>
        <p:txBody>
          <a:bodyPr wrap="square" lIns="0" tIns="0" rIns="0" bIns="0" rtlCol="0" anchor="ctr"/>
          <a:lstStyle/>
          <a:p>
            <a:pPr indent="0" marL="0">
              <a:buNone/>
            </a:pPr>
            <a:r>
              <a:rPr lang="en-US" sz="1500" i="1" dirty="0">
                <a:solidFill>
                  <a:srgbClr val="C7D2E8"/>
                </a:solidFill>
                <a:latin typeface="Calibri" pitchFamily="34" charset="0"/>
                <a:ea typeface="Calibri" pitchFamily="34" charset="-122"/>
                <a:cs typeface="Calibri" pitchFamily="34" charset="-120"/>
              </a:rPr>
              <a:t>Thank you for your attention.</a:t>
            </a:r>
            <a:endParaRPr lang="en-US" sz="1500" dirty="0"/>
          </a:p>
        </p:txBody>
      </p:sp>
      <p:sp>
        <p:nvSpPr>
          <p:cNvPr id="17" name="Text 12"/>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8092B5"/>
                </a:solidFill>
                <a:latin typeface="Calibri" pitchFamily="34" charset="0"/>
                <a:ea typeface="Calibri" pitchFamily="34" charset="-122"/>
                <a:cs typeface="Calibri" pitchFamily="34" charset="-120"/>
              </a:rPr>
              <a:t>RESPONSIBLE AI FOR PREDICTIVE UNDERWRITING</a:t>
            </a:r>
            <a:endParaRPr lang="en-US" sz="800" dirty="0"/>
          </a:p>
        </p:txBody>
      </p:sp>
      <p:sp>
        <p:nvSpPr>
          <p:cNvPr id="18" name="Text 13"/>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8092B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9692640" y="-1371600"/>
            <a:ext cx="5029200" cy="5029200"/>
          </a:xfrm>
          <a:prstGeom prst="ellipse">
            <a:avLst/>
          </a:prstGeom>
          <a:solidFill>
            <a:srgbClr val="1F3A63">
              <a:alpha val="55000"/>
            </a:srgbClr>
          </a:solidFill>
          <a:ln/>
        </p:spPr>
      </p:sp>
      <p:sp>
        <p:nvSpPr>
          <p:cNvPr id="3" name="Shape 1"/>
          <p:cNvSpPr/>
          <p:nvPr/>
        </p:nvSpPr>
        <p:spPr>
          <a:xfrm>
            <a:off x="1417320" y="2834640"/>
            <a:ext cx="1188720" cy="1188720"/>
          </a:xfrm>
          <a:prstGeom prst="ellipse">
            <a:avLst/>
          </a:prstGeom>
          <a:solidFill>
            <a:srgbClr val="1F3A63"/>
          </a:solidFill>
          <a:ln/>
        </p:spPr>
      </p:sp>
      <p:pic>
        <p:nvPicPr>
          <p:cNvPr id="4" name="Image 0" descr="preencoded.png">    </p:cNvPr>
          <p:cNvPicPr>
            <a:picLocks noChangeAspect="1"/>
          </p:cNvPicPr>
          <p:nvPr/>
        </p:nvPicPr>
        <p:blipFill>
          <a:blip r:embed="rId1"/>
          <a:stretch>
            <a:fillRect/>
          </a:stretch>
        </p:blipFill>
        <p:spPr>
          <a:xfrm>
            <a:off x="1714500" y="3131820"/>
            <a:ext cx="594360" cy="594360"/>
          </a:xfrm>
          <a:prstGeom prst="rect">
            <a:avLst/>
          </a:prstGeom>
        </p:spPr>
      </p:pic>
      <p:sp>
        <p:nvSpPr>
          <p:cNvPr id="5" name="Text 2"/>
          <p:cNvSpPr/>
          <p:nvPr/>
        </p:nvSpPr>
        <p:spPr>
          <a:xfrm>
            <a:off x="2834640" y="2788920"/>
            <a:ext cx="73152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APPENDIX</a:t>
            </a:r>
            <a:endParaRPr lang="en-US" sz="1300" dirty="0"/>
          </a:p>
        </p:txBody>
      </p:sp>
      <p:sp>
        <p:nvSpPr>
          <p:cNvPr id="6" name="Text 3"/>
          <p:cNvSpPr/>
          <p:nvPr/>
        </p:nvSpPr>
        <p:spPr>
          <a:xfrm>
            <a:off x="2834640" y="3108960"/>
            <a:ext cx="8229600" cy="914400"/>
          </a:xfrm>
          <a:prstGeom prst="rect">
            <a:avLst/>
          </a:prstGeom>
          <a:noFill/>
          <a:ln/>
        </p:spPr>
        <p:txBody>
          <a:bodyPr wrap="square" lIns="0" tIns="0" rIns="0" bIns="0" rtlCol="0" anchor="ctr"/>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Supporting Q&amp;A — Methodology, Fairness &amp; Governance</a:t>
            </a:r>
            <a:endParaRPr lang="en-US" sz="2400" dirty="0"/>
          </a:p>
        </p:txBody>
      </p:sp>
      <p:sp>
        <p:nvSpPr>
          <p:cNvPr id="7" name="Text 4"/>
          <p:cNvSpPr/>
          <p:nvPr/>
        </p:nvSpPr>
        <p:spPr>
          <a:xfrm>
            <a:off x="2834640" y="3886200"/>
            <a:ext cx="7772400" cy="365760"/>
          </a:xfrm>
          <a:prstGeom prst="rect">
            <a:avLst/>
          </a:prstGeom>
          <a:noFill/>
          <a:ln/>
        </p:spPr>
        <p:txBody>
          <a:bodyPr wrap="square" lIns="0" tIns="0" rIns="0" bIns="0" rtlCol="0" anchor="ctr"/>
          <a:lstStyle/>
          <a:p>
            <a:pPr indent="0" marL="0">
              <a:buNone/>
            </a:pPr>
            <a:r>
              <a:rPr lang="en-US" sz="1300" i="1" dirty="0">
                <a:solidFill>
                  <a:srgbClr val="C7D2E8"/>
                </a:solidFill>
                <a:latin typeface="Calibri" pitchFamily="34" charset="0"/>
                <a:ea typeface="Calibri" pitchFamily="34" charset="-122"/>
                <a:cs typeface="Calibri" pitchFamily="34" charset="-120"/>
              </a:rPr>
              <a:t>A condensed reference for anticipated audit and defense questions.</a:t>
            </a:r>
            <a:endParaRPr lang="en-US" sz="1300" dirty="0"/>
          </a:p>
        </p:txBody>
      </p:sp>
      <p:sp>
        <p:nvSpPr>
          <p:cNvPr id="8" name="Text 5"/>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8092B5"/>
                </a:solidFill>
                <a:latin typeface="Calibri" pitchFamily="34" charset="0"/>
                <a:ea typeface="Calibri" pitchFamily="34" charset="-122"/>
                <a:cs typeface="Calibri" pitchFamily="34" charset="-120"/>
              </a:rPr>
              <a:t>RESPONSIBLE AI FOR PREDICTIVE UNDERWRITING</a:t>
            </a:r>
            <a:endParaRPr lang="en-US" sz="800" dirty="0"/>
          </a:p>
        </p:txBody>
      </p:sp>
      <p:sp>
        <p:nvSpPr>
          <p:cNvPr id="9" name="Text 6"/>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8092B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APPENDIX — CATEGORY 1</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Model Design &amp; Methodology</a:t>
            </a:r>
            <a:endParaRPr lang="en-US" sz="3000" dirty="0"/>
          </a:p>
        </p:txBody>
      </p:sp>
      <p:sp>
        <p:nvSpPr>
          <p:cNvPr id="4" name="Shape 2"/>
          <p:cNvSpPr/>
          <p:nvPr/>
        </p:nvSpPr>
        <p:spPr>
          <a:xfrm>
            <a:off x="548640" y="1508760"/>
            <a:ext cx="11091672" cy="1088136"/>
          </a:xfrm>
          <a:prstGeom prst="roundRect">
            <a:avLst>
              <a:gd name="adj" fmla="val 5882"/>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886968" y="1824228"/>
            <a:ext cx="457200" cy="457200"/>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1001268" y="1938528"/>
            <a:ext cx="228600" cy="228600"/>
          </a:xfrm>
          <a:prstGeom prst="rect">
            <a:avLst/>
          </a:prstGeom>
        </p:spPr>
      </p:pic>
      <p:sp>
        <p:nvSpPr>
          <p:cNvPr id="7" name="Text 4"/>
          <p:cNvSpPr/>
          <p:nvPr/>
        </p:nvSpPr>
        <p:spPr>
          <a:xfrm>
            <a:off x="1508760" y="1600200"/>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Why XGBoost, and what was the accuracy/interpretability trade-off?</a:t>
            </a:r>
            <a:endParaRPr lang="en-US" sz="1150" dirty="0"/>
          </a:p>
        </p:txBody>
      </p:sp>
      <p:sp>
        <p:nvSpPr>
          <p:cNvPr id="8" name="Text 5"/>
          <p:cNvSpPr/>
          <p:nvPr/>
        </p:nvSpPr>
        <p:spPr>
          <a:xfrm>
            <a:off x="1508760" y="1892808"/>
            <a:ext cx="9902952" cy="630936"/>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XGBoost was the champion architecture (~95% accuracy, 0.95 F1) over a Logistic Regression baseline. To resolve its interpretability penalty, the ensemble was wrapped with SHAP for post-hoc local and global explanations.</a:t>
            </a:r>
            <a:endParaRPr lang="en-US" sz="1150" dirty="0"/>
          </a:p>
        </p:txBody>
      </p:sp>
      <p:sp>
        <p:nvSpPr>
          <p:cNvPr id="9" name="Shape 6"/>
          <p:cNvSpPr/>
          <p:nvPr/>
        </p:nvSpPr>
        <p:spPr>
          <a:xfrm>
            <a:off x="548640" y="2761488"/>
            <a:ext cx="11091672" cy="1088136"/>
          </a:xfrm>
          <a:prstGeom prst="roundRect">
            <a:avLst>
              <a:gd name="adj" fmla="val 5882"/>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886968" y="3076956"/>
            <a:ext cx="457200" cy="457200"/>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1001268" y="3191256"/>
            <a:ext cx="228600" cy="228600"/>
          </a:xfrm>
          <a:prstGeom prst="rect">
            <a:avLst/>
          </a:prstGeom>
        </p:spPr>
      </p:pic>
      <p:sp>
        <p:nvSpPr>
          <p:cNvPr id="12" name="Text 8"/>
          <p:cNvSpPr/>
          <p:nvPr/>
        </p:nvSpPr>
        <p:spPr>
          <a:xfrm>
            <a:off x="1508760" y="2852928"/>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How was class imbalance handled?</a:t>
            </a:r>
            <a:endParaRPr lang="en-US" sz="1150" dirty="0"/>
          </a:p>
        </p:txBody>
      </p:sp>
      <p:sp>
        <p:nvSpPr>
          <p:cNvPr id="13" name="Text 9"/>
          <p:cNvSpPr/>
          <p:nvPr/>
        </p:nvSpPr>
        <p:spPr>
          <a:xfrm>
            <a:off x="1508760" y="3145536"/>
            <a:ext cx="9902952" cy="630936"/>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Claims/defaults were treated as minority events. A cost-sensitive scale_pos_weight adjustment scaled gradient updates, and stratified splitting/cross-validation preserved class distribution across folds — avoiding an inflated, majority-biased F1-score.</a:t>
            </a:r>
            <a:endParaRPr lang="en-US" sz="1150" dirty="0"/>
          </a:p>
        </p:txBody>
      </p:sp>
      <p:sp>
        <p:nvSpPr>
          <p:cNvPr id="14" name="Shape 10"/>
          <p:cNvSpPr/>
          <p:nvPr/>
        </p:nvSpPr>
        <p:spPr>
          <a:xfrm>
            <a:off x="548640" y="4014216"/>
            <a:ext cx="11091672" cy="1088136"/>
          </a:xfrm>
          <a:prstGeom prst="roundRect">
            <a:avLst>
              <a:gd name="adj" fmla="val 5882"/>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886968" y="4329684"/>
            <a:ext cx="457200" cy="457200"/>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1001268" y="4443984"/>
            <a:ext cx="228600" cy="228600"/>
          </a:xfrm>
          <a:prstGeom prst="rect">
            <a:avLst/>
          </a:prstGeom>
        </p:spPr>
      </p:pic>
      <p:sp>
        <p:nvSpPr>
          <p:cNvPr id="17" name="Text 12"/>
          <p:cNvSpPr/>
          <p:nvPr/>
        </p:nvSpPr>
        <p:spPr>
          <a:xfrm>
            <a:off x="1508760" y="4105656"/>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How was model calibration addressed?</a:t>
            </a:r>
            <a:endParaRPr lang="en-US" sz="1150" dirty="0"/>
          </a:p>
        </p:txBody>
      </p:sp>
      <p:sp>
        <p:nvSpPr>
          <p:cNvPr id="18" name="Text 13"/>
          <p:cNvSpPr/>
          <p:nvPr/>
        </p:nvSpPr>
        <p:spPr>
          <a:xfrm>
            <a:off x="1508760" y="4398264"/>
            <a:ext cx="9902952" cy="630936"/>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The XGBoost pipeline exhibited clustered, overly conservative probabilities typical of tree ensembles. Isotonic Regression (via CalibratedClassifierCV) was evaluated to align raw scores with true underwriting frequencies.</a:t>
            </a:r>
            <a:endParaRPr lang="en-US" sz="1150" dirty="0"/>
          </a:p>
        </p:txBody>
      </p:sp>
      <p:sp>
        <p:nvSpPr>
          <p:cNvPr id="19" name="Shape 14"/>
          <p:cNvSpPr/>
          <p:nvPr/>
        </p:nvSpPr>
        <p:spPr>
          <a:xfrm>
            <a:off x="548640" y="5266944"/>
            <a:ext cx="11091672" cy="1088136"/>
          </a:xfrm>
          <a:prstGeom prst="roundRect">
            <a:avLst>
              <a:gd name="adj" fmla="val 5882"/>
            </a:avLst>
          </a:prstGeom>
          <a:solidFill>
            <a:srgbClr val="F7FAFD"/>
          </a:solidFill>
          <a:ln/>
          <a:effectLst>
            <a:outerShdw sx="100000" sy="100000" kx="0" ky="0" algn="bl" rotWithShape="0" blurRad="127000" dist="38100" dir="5400000">
              <a:srgbClr val="14213D">
                <a:alpha val="12000"/>
              </a:srgbClr>
            </a:outerShdw>
          </a:effectLst>
        </p:spPr>
      </p:sp>
      <p:sp>
        <p:nvSpPr>
          <p:cNvPr id="20" name="Shape 15"/>
          <p:cNvSpPr/>
          <p:nvPr/>
        </p:nvSpPr>
        <p:spPr>
          <a:xfrm>
            <a:off x="886968" y="5582412"/>
            <a:ext cx="457200" cy="457200"/>
          </a:xfrm>
          <a:prstGeom prst="ellipse">
            <a:avLst/>
          </a:prstGeom>
          <a:solidFill>
            <a:srgbClr val="14213D"/>
          </a:solidFill>
          <a:ln/>
        </p:spPr>
      </p:sp>
      <p:pic>
        <p:nvPicPr>
          <p:cNvPr id="21" name="Image 3" descr="preencoded.png">    </p:cNvPr>
          <p:cNvPicPr>
            <a:picLocks noChangeAspect="1"/>
          </p:cNvPicPr>
          <p:nvPr/>
        </p:nvPicPr>
        <p:blipFill>
          <a:blip r:embed="rId4"/>
          <a:stretch>
            <a:fillRect/>
          </a:stretch>
        </p:blipFill>
        <p:spPr>
          <a:xfrm>
            <a:off x="1001268" y="5696712"/>
            <a:ext cx="228600" cy="228600"/>
          </a:xfrm>
          <a:prstGeom prst="rect">
            <a:avLst/>
          </a:prstGeom>
        </p:spPr>
      </p:pic>
      <p:sp>
        <p:nvSpPr>
          <p:cNvPr id="22" name="Text 16"/>
          <p:cNvSpPr/>
          <p:nvPr/>
        </p:nvSpPr>
        <p:spPr>
          <a:xfrm>
            <a:off x="1508760" y="5358384"/>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How was data leakage / overfitting prevented?</a:t>
            </a:r>
            <a:endParaRPr lang="en-US" sz="1150" dirty="0"/>
          </a:p>
        </p:txBody>
      </p:sp>
      <p:sp>
        <p:nvSpPr>
          <p:cNvPr id="23" name="Text 17"/>
          <p:cNvSpPr/>
          <p:nvPr/>
        </p:nvSpPr>
        <p:spPr>
          <a:xfrm>
            <a:off x="1508760" y="5650992"/>
            <a:ext cx="9902952" cy="630936"/>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A Stratified K-Fold schema inside a unified scikit-learn pipeline ensured all encoders and scalers were fit only on active training folds, keeping Good/Bad Risk proportions uniform across folds.</a:t>
            </a:r>
            <a:endParaRPr lang="en-US" sz="1150" dirty="0"/>
          </a:p>
        </p:txBody>
      </p:sp>
      <p:sp>
        <p:nvSpPr>
          <p:cNvPr id="24" name="Text 18"/>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5" name="Text 19"/>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APPENDIX — CATEGORY 2</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Fairness &amp; Bias Auditing</a:t>
            </a:r>
            <a:endParaRPr lang="en-US" sz="3000" dirty="0"/>
          </a:p>
        </p:txBody>
      </p:sp>
      <p:sp>
        <p:nvSpPr>
          <p:cNvPr id="4" name="Shape 2"/>
          <p:cNvSpPr/>
          <p:nvPr/>
        </p:nvSpPr>
        <p:spPr>
          <a:xfrm>
            <a:off x="548640" y="1508760"/>
            <a:ext cx="11091672" cy="1088136"/>
          </a:xfrm>
          <a:prstGeom prst="roundRect">
            <a:avLst>
              <a:gd name="adj" fmla="val 5882"/>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886968" y="1824228"/>
            <a:ext cx="457200" cy="457200"/>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1001268" y="1938528"/>
            <a:ext cx="228600" cy="228600"/>
          </a:xfrm>
          <a:prstGeom prst="rect">
            <a:avLst/>
          </a:prstGeom>
        </p:spPr>
      </p:pic>
      <p:sp>
        <p:nvSpPr>
          <p:cNvPr id="7" name="Text 4"/>
          <p:cNvSpPr/>
          <p:nvPr/>
        </p:nvSpPr>
        <p:spPr>
          <a:xfrm>
            <a:off x="1508760" y="1600200"/>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What protected attributes and fairness metrics were tested?</a:t>
            </a:r>
            <a:endParaRPr lang="en-US" sz="1150" dirty="0"/>
          </a:p>
        </p:txBody>
      </p:sp>
      <p:sp>
        <p:nvSpPr>
          <p:cNvPr id="8" name="Text 5"/>
          <p:cNvSpPr/>
          <p:nvPr/>
        </p:nvSpPr>
        <p:spPr>
          <a:xfrm>
            <a:off x="1508760" y="1892808"/>
            <a:ext cx="9902952" cy="630936"/>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Sex/Gender was the primary protected attribute, evaluated with Demographic Parity Ratio (selection-rate independence) and Equal Opportunity Ratio (true-positive-rate separation).</a:t>
            </a:r>
            <a:endParaRPr lang="en-US" sz="1150" dirty="0"/>
          </a:p>
        </p:txBody>
      </p:sp>
      <p:sp>
        <p:nvSpPr>
          <p:cNvPr id="9" name="Shape 6"/>
          <p:cNvSpPr/>
          <p:nvPr/>
        </p:nvSpPr>
        <p:spPr>
          <a:xfrm>
            <a:off x="548640" y="2761488"/>
            <a:ext cx="11091672" cy="1088136"/>
          </a:xfrm>
          <a:prstGeom prst="roundRect">
            <a:avLst>
              <a:gd name="adj" fmla="val 5882"/>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886968" y="3076956"/>
            <a:ext cx="457200" cy="457200"/>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1001268" y="3191256"/>
            <a:ext cx="228600" cy="228600"/>
          </a:xfrm>
          <a:prstGeom prst="rect">
            <a:avLst/>
          </a:prstGeom>
        </p:spPr>
      </p:pic>
      <p:sp>
        <p:nvSpPr>
          <p:cNvPr id="12" name="Text 8"/>
          <p:cNvSpPr/>
          <p:nvPr/>
        </p:nvSpPr>
        <p:spPr>
          <a:xfrm>
            <a:off x="1508760" y="2852928"/>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What mitigation techniques were applied?</a:t>
            </a:r>
            <a:endParaRPr lang="en-US" sz="1150" dirty="0"/>
          </a:p>
        </p:txBody>
      </p:sp>
      <p:sp>
        <p:nvSpPr>
          <p:cNvPr id="13" name="Text 9"/>
          <p:cNvSpPr/>
          <p:nvPr/>
        </p:nvSpPr>
        <p:spPr>
          <a:xfrm>
            <a:off x="1508760" y="3145536"/>
            <a:ext cx="9902952" cy="630936"/>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Baseline gender metrics were already compliant (Selection Rate Ratio ~0.91; TPR Ratio ~0.95), satisfying the industry-standard 80% rule, so no post-processing threshold shift was needed for gender.</a:t>
            </a:r>
            <a:endParaRPr lang="en-US" sz="1150" dirty="0"/>
          </a:p>
        </p:txBody>
      </p:sp>
      <p:sp>
        <p:nvSpPr>
          <p:cNvPr id="14" name="Shape 10"/>
          <p:cNvSpPr/>
          <p:nvPr/>
        </p:nvSpPr>
        <p:spPr>
          <a:xfrm>
            <a:off x="548640" y="4014216"/>
            <a:ext cx="11091672" cy="1088136"/>
          </a:xfrm>
          <a:prstGeom prst="roundRect">
            <a:avLst>
              <a:gd name="adj" fmla="val 5882"/>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886968" y="4329684"/>
            <a:ext cx="457200" cy="457200"/>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1001268" y="4443984"/>
            <a:ext cx="228600" cy="228600"/>
          </a:xfrm>
          <a:prstGeom prst="rect">
            <a:avLst/>
          </a:prstGeom>
        </p:spPr>
      </p:pic>
      <p:sp>
        <p:nvSpPr>
          <p:cNvPr id="17" name="Text 12"/>
          <p:cNvSpPr/>
          <p:nvPr/>
        </p:nvSpPr>
        <p:spPr>
          <a:xfrm>
            <a:off x="1508760" y="4105656"/>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How are legitimate risk factors distinguished from protected-class proxies?</a:t>
            </a:r>
            <a:endParaRPr lang="en-US" sz="1150" dirty="0"/>
          </a:p>
        </p:txBody>
      </p:sp>
      <p:sp>
        <p:nvSpPr>
          <p:cNvPr id="18" name="Text 13"/>
          <p:cNvSpPr/>
          <p:nvPr/>
        </p:nvSpPr>
        <p:spPr>
          <a:xfrm>
            <a:off x="1508760" y="4398264"/>
            <a:ext cx="9902952" cy="630936"/>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Smoker status looked like a legitimate actuarial factor, but intersectional analysis showed both female and male smokers received a 0.00% selection rate — the feature acted as an absolute exclusion veto, not a graded risk signal.</a:t>
            </a:r>
            <a:endParaRPr lang="en-US" sz="1150" dirty="0"/>
          </a:p>
        </p:txBody>
      </p:sp>
      <p:sp>
        <p:nvSpPr>
          <p:cNvPr id="19" name="Shape 14"/>
          <p:cNvSpPr/>
          <p:nvPr/>
        </p:nvSpPr>
        <p:spPr>
          <a:xfrm>
            <a:off x="548640" y="5266944"/>
            <a:ext cx="11091672" cy="1088136"/>
          </a:xfrm>
          <a:prstGeom prst="roundRect">
            <a:avLst>
              <a:gd name="adj" fmla="val 5882"/>
            </a:avLst>
          </a:prstGeom>
          <a:solidFill>
            <a:srgbClr val="F7FAFD"/>
          </a:solidFill>
          <a:ln/>
          <a:effectLst>
            <a:outerShdw sx="100000" sy="100000" kx="0" ky="0" algn="bl" rotWithShape="0" blurRad="127000" dist="38100" dir="5400000">
              <a:srgbClr val="14213D">
                <a:alpha val="12000"/>
              </a:srgbClr>
            </a:outerShdw>
          </a:effectLst>
        </p:spPr>
      </p:sp>
      <p:sp>
        <p:nvSpPr>
          <p:cNvPr id="20" name="Shape 15"/>
          <p:cNvSpPr/>
          <p:nvPr/>
        </p:nvSpPr>
        <p:spPr>
          <a:xfrm>
            <a:off x="886968" y="5582412"/>
            <a:ext cx="457200" cy="457200"/>
          </a:xfrm>
          <a:prstGeom prst="ellipse">
            <a:avLst/>
          </a:prstGeom>
          <a:solidFill>
            <a:srgbClr val="14213D"/>
          </a:solidFill>
          <a:ln/>
        </p:spPr>
      </p:sp>
      <p:pic>
        <p:nvPicPr>
          <p:cNvPr id="21" name="Image 3" descr="preencoded.png">    </p:cNvPr>
          <p:cNvPicPr>
            <a:picLocks noChangeAspect="1"/>
          </p:cNvPicPr>
          <p:nvPr/>
        </p:nvPicPr>
        <p:blipFill>
          <a:blip r:embed="rId4"/>
          <a:stretch>
            <a:fillRect/>
          </a:stretch>
        </p:blipFill>
        <p:spPr>
          <a:xfrm>
            <a:off x="1001268" y="5696712"/>
            <a:ext cx="228600" cy="228600"/>
          </a:xfrm>
          <a:prstGeom prst="rect">
            <a:avLst/>
          </a:prstGeom>
        </p:spPr>
      </p:pic>
      <p:sp>
        <p:nvSpPr>
          <p:cNvPr id="22" name="Text 16"/>
          <p:cNvSpPr/>
          <p:nvPr/>
        </p:nvSpPr>
        <p:spPr>
          <a:xfrm>
            <a:off x="1508760" y="5358384"/>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How was intersectional bias (Sex × Smoker) addressed?</a:t>
            </a:r>
            <a:endParaRPr lang="en-US" sz="1150" dirty="0"/>
          </a:p>
        </p:txBody>
      </p:sp>
      <p:sp>
        <p:nvSpPr>
          <p:cNvPr id="23" name="Text 17"/>
          <p:cNvSpPr/>
          <p:nvPr/>
        </p:nvSpPr>
        <p:spPr>
          <a:xfrm>
            <a:off x="1508760" y="5650992"/>
            <a:ext cx="9902952" cy="630936"/>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Isolated gender metrics looked exemplary, but slicing by Sex × Smoker revealed 25 female and 45 male smokers were universally rejected (Intersectional Fairness Ratio: 0.0000) — proving single-attribute audits can mask real discrimination.</a:t>
            </a:r>
            <a:endParaRPr lang="en-US" sz="1150" dirty="0"/>
          </a:p>
        </p:txBody>
      </p:sp>
      <p:sp>
        <p:nvSpPr>
          <p:cNvPr id="24" name="Text 18"/>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5" name="Text 19"/>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APPENDIX — CATEGORY 3</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Explainability &amp; Transparency</a:t>
            </a:r>
            <a:endParaRPr lang="en-US" sz="3000" dirty="0"/>
          </a:p>
        </p:txBody>
      </p:sp>
      <p:sp>
        <p:nvSpPr>
          <p:cNvPr id="4" name="Shape 2"/>
          <p:cNvSpPr/>
          <p:nvPr/>
        </p:nvSpPr>
        <p:spPr>
          <a:xfrm>
            <a:off x="548640" y="1508760"/>
            <a:ext cx="11091672" cy="1505712"/>
          </a:xfrm>
          <a:prstGeom prst="roundRect">
            <a:avLst>
              <a:gd name="adj" fmla="val 4251"/>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886968" y="2033016"/>
            <a:ext cx="457200" cy="457200"/>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1001268" y="2147316"/>
            <a:ext cx="228600" cy="228600"/>
          </a:xfrm>
          <a:prstGeom prst="rect">
            <a:avLst/>
          </a:prstGeom>
        </p:spPr>
      </p:pic>
      <p:sp>
        <p:nvSpPr>
          <p:cNvPr id="7" name="Text 4"/>
          <p:cNvSpPr/>
          <p:nvPr/>
        </p:nvSpPr>
        <p:spPr>
          <a:xfrm>
            <a:off x="1508760" y="1600200"/>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How would an individual denial be explained to an applicant?</a:t>
            </a:r>
            <a:endParaRPr lang="en-US" sz="1150" dirty="0"/>
          </a:p>
        </p:txBody>
      </p:sp>
      <p:sp>
        <p:nvSpPr>
          <p:cNvPr id="8" name="Text 5"/>
          <p:cNvSpPr/>
          <p:nvPr/>
        </p:nvSpPr>
        <p:spPr>
          <a:xfrm>
            <a:off x="1508760" y="1892808"/>
            <a:ext cx="9902952" cy="1048512"/>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SHAP values plus counterfactual explanations generate an itemized list of top denial reasons and the minimum feature change needed to flip the outcome (e.g., “if Smoker Status were ‘No’”), satisfying adverse-action disclosure norms.</a:t>
            </a:r>
            <a:endParaRPr lang="en-US" sz="1150" dirty="0"/>
          </a:p>
        </p:txBody>
      </p:sp>
      <p:sp>
        <p:nvSpPr>
          <p:cNvPr id="9" name="Shape 6"/>
          <p:cNvSpPr/>
          <p:nvPr/>
        </p:nvSpPr>
        <p:spPr>
          <a:xfrm>
            <a:off x="548640" y="3179064"/>
            <a:ext cx="11091672" cy="1505712"/>
          </a:xfrm>
          <a:prstGeom prst="roundRect">
            <a:avLst>
              <a:gd name="adj" fmla="val 4251"/>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886968" y="3703320"/>
            <a:ext cx="457200" cy="457200"/>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1001268" y="3817620"/>
            <a:ext cx="228600" cy="228600"/>
          </a:xfrm>
          <a:prstGeom prst="rect">
            <a:avLst/>
          </a:prstGeom>
        </p:spPr>
      </p:pic>
      <p:sp>
        <p:nvSpPr>
          <p:cNvPr id="12" name="Text 8"/>
          <p:cNvSpPr/>
          <p:nvPr/>
        </p:nvSpPr>
        <p:spPr>
          <a:xfrm>
            <a:off x="1508760" y="3270504"/>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How do global and local feature importance reconcile?</a:t>
            </a:r>
            <a:endParaRPr lang="en-US" sz="1150" dirty="0"/>
          </a:p>
        </p:txBody>
      </p:sp>
      <p:sp>
        <p:nvSpPr>
          <p:cNvPr id="13" name="Text 9"/>
          <p:cNvSpPr/>
          <p:nvPr/>
        </p:nvSpPr>
        <p:spPr>
          <a:xfrm>
            <a:off x="1508760" y="3563112"/>
            <a:ext cx="9902952" cy="1048512"/>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Age and Smoker Status dominate globally. Locally, non-smokers show zero marginal push from the smoker feature, while for smokers the local attribution matches the global trend and overrides other positive factors.</a:t>
            </a:r>
            <a:endParaRPr lang="en-US" sz="1150" dirty="0"/>
          </a:p>
        </p:txBody>
      </p:sp>
      <p:sp>
        <p:nvSpPr>
          <p:cNvPr id="14" name="Shape 10"/>
          <p:cNvSpPr/>
          <p:nvPr/>
        </p:nvSpPr>
        <p:spPr>
          <a:xfrm>
            <a:off x="548640" y="4849368"/>
            <a:ext cx="11091672" cy="1505712"/>
          </a:xfrm>
          <a:prstGeom prst="roundRect">
            <a:avLst>
              <a:gd name="adj" fmla="val 4251"/>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886968" y="5373624"/>
            <a:ext cx="457200" cy="457200"/>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1001268" y="5487924"/>
            <a:ext cx="228600" cy="228600"/>
          </a:xfrm>
          <a:prstGeom prst="rect">
            <a:avLst/>
          </a:prstGeom>
        </p:spPr>
      </p:pic>
      <p:sp>
        <p:nvSpPr>
          <p:cNvPr id="17" name="Text 12"/>
          <p:cNvSpPr/>
          <p:nvPr/>
        </p:nvSpPr>
        <p:spPr>
          <a:xfrm>
            <a:off x="1508760" y="4940808"/>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What documentation supports model-risk review?</a:t>
            </a:r>
            <a:endParaRPr lang="en-US" sz="1150" dirty="0"/>
          </a:p>
        </p:txBody>
      </p:sp>
      <p:sp>
        <p:nvSpPr>
          <p:cNvPr id="18" name="Text 13"/>
          <p:cNvSpPr/>
          <p:nvPr/>
        </p:nvSpPr>
        <p:spPr>
          <a:xfrm>
            <a:off x="1508760" y="5233416"/>
            <a:ext cx="9902952" cy="1048512"/>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An institutional Model Card was compiled: model details, intended use, quantitative performance, fairness audit logs (Demographic Parity 0.91, Equal Opportunity 0.95, Intersectional 0.0000), and SHAP attribution mapping.</a:t>
            </a:r>
            <a:endParaRPr lang="en-US" sz="1150" dirty="0"/>
          </a:p>
        </p:txBody>
      </p:sp>
      <p:sp>
        <p:nvSpPr>
          <p:cNvPr id="19" name="Text 14"/>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0" name="Text 15"/>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rgbClr val="C97B1F"/>
                </a:solidFill>
                <a:latin typeface="Calibri" pitchFamily="34" charset="0"/>
                <a:ea typeface="Calibri" pitchFamily="34" charset="-122"/>
                <a:cs typeface="Calibri" pitchFamily="34" charset="-120"/>
              </a:rPr>
              <a:t>APPENDIX — CATEGORY 4</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Regulatory, Ethical &amp; Security</a:t>
            </a:r>
            <a:endParaRPr lang="en-US" sz="3000" dirty="0"/>
          </a:p>
        </p:txBody>
      </p:sp>
      <p:sp>
        <p:nvSpPr>
          <p:cNvPr id="4" name="Shape 2"/>
          <p:cNvSpPr/>
          <p:nvPr/>
        </p:nvSpPr>
        <p:spPr>
          <a:xfrm>
            <a:off x="548640" y="1508760"/>
            <a:ext cx="11091672" cy="1505712"/>
          </a:xfrm>
          <a:prstGeom prst="roundRect">
            <a:avLst>
              <a:gd name="adj" fmla="val 4251"/>
            </a:avLst>
          </a:prstGeom>
          <a:solidFill>
            <a:srgbClr val="F7FAFD"/>
          </a:solidFill>
          <a:ln/>
          <a:effectLst>
            <a:outerShdw sx="100000" sy="100000" kx="0" ky="0" algn="bl" rotWithShape="0" blurRad="127000" dist="38100" dir="5400000">
              <a:srgbClr val="14213D">
                <a:alpha val="12000"/>
              </a:srgbClr>
            </a:outerShdw>
          </a:effectLst>
        </p:spPr>
      </p:sp>
      <p:sp>
        <p:nvSpPr>
          <p:cNvPr id="5" name="Shape 3"/>
          <p:cNvSpPr/>
          <p:nvPr/>
        </p:nvSpPr>
        <p:spPr>
          <a:xfrm>
            <a:off x="886968" y="2033016"/>
            <a:ext cx="457200" cy="457200"/>
          </a:xfrm>
          <a:prstGeom prst="ellipse">
            <a:avLst/>
          </a:prstGeom>
          <a:solidFill>
            <a:srgbClr val="14213D"/>
          </a:solidFill>
          <a:ln/>
        </p:spPr>
      </p:sp>
      <p:pic>
        <p:nvPicPr>
          <p:cNvPr id="6" name="Image 0" descr="preencoded.png">    </p:cNvPr>
          <p:cNvPicPr>
            <a:picLocks noChangeAspect="1"/>
          </p:cNvPicPr>
          <p:nvPr/>
        </p:nvPicPr>
        <p:blipFill>
          <a:blip r:embed="rId1"/>
          <a:stretch>
            <a:fillRect/>
          </a:stretch>
        </p:blipFill>
        <p:spPr>
          <a:xfrm>
            <a:off x="1001268" y="2147316"/>
            <a:ext cx="228600" cy="228600"/>
          </a:xfrm>
          <a:prstGeom prst="rect">
            <a:avLst/>
          </a:prstGeom>
        </p:spPr>
      </p:pic>
      <p:sp>
        <p:nvSpPr>
          <p:cNvPr id="7" name="Text 4"/>
          <p:cNvSpPr/>
          <p:nvPr/>
        </p:nvSpPr>
        <p:spPr>
          <a:xfrm>
            <a:off x="1508760" y="1600200"/>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Which regulations informed the underwriting approach?</a:t>
            </a:r>
            <a:endParaRPr lang="en-US" sz="1150" dirty="0"/>
          </a:p>
        </p:txBody>
      </p:sp>
      <p:sp>
        <p:nvSpPr>
          <p:cNvPr id="8" name="Text 5"/>
          <p:cNvSpPr/>
          <p:nvPr/>
        </p:nvSpPr>
        <p:spPr>
          <a:xfrm>
            <a:off x="1508760" y="1892808"/>
            <a:ext cx="9902952" cy="1048512"/>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FCRA adverse-action mandates (met via SHAP/counterfactual logging), state unfair-discrimination statutes (met via the 80% rule audit), and EU AI Act high-risk classifications (met via intersectional auditing) all shaped the design.</a:t>
            </a:r>
            <a:endParaRPr lang="en-US" sz="1150" dirty="0"/>
          </a:p>
        </p:txBody>
      </p:sp>
      <p:sp>
        <p:nvSpPr>
          <p:cNvPr id="9" name="Shape 6"/>
          <p:cNvSpPr/>
          <p:nvPr/>
        </p:nvSpPr>
        <p:spPr>
          <a:xfrm>
            <a:off x="548640" y="3179064"/>
            <a:ext cx="11091672" cy="1505712"/>
          </a:xfrm>
          <a:prstGeom prst="roundRect">
            <a:avLst>
              <a:gd name="adj" fmla="val 4251"/>
            </a:avLst>
          </a:prstGeom>
          <a:solidFill>
            <a:srgbClr val="F7FAFD"/>
          </a:solidFill>
          <a:ln/>
          <a:effectLst>
            <a:outerShdw sx="100000" sy="100000" kx="0" ky="0" algn="bl" rotWithShape="0" blurRad="127000" dist="38100" dir="5400000">
              <a:srgbClr val="14213D">
                <a:alpha val="12000"/>
              </a:srgbClr>
            </a:outerShdw>
          </a:effectLst>
        </p:spPr>
      </p:sp>
      <p:sp>
        <p:nvSpPr>
          <p:cNvPr id="10" name="Shape 7"/>
          <p:cNvSpPr/>
          <p:nvPr/>
        </p:nvSpPr>
        <p:spPr>
          <a:xfrm>
            <a:off x="886968" y="3703320"/>
            <a:ext cx="457200" cy="457200"/>
          </a:xfrm>
          <a:prstGeom prst="ellipse">
            <a:avLst/>
          </a:prstGeom>
          <a:solidFill>
            <a:srgbClr val="14213D"/>
          </a:solidFill>
          <a:ln/>
        </p:spPr>
      </p:sp>
      <p:pic>
        <p:nvPicPr>
          <p:cNvPr id="11" name="Image 1" descr="preencoded.png">    </p:cNvPr>
          <p:cNvPicPr>
            <a:picLocks noChangeAspect="1"/>
          </p:cNvPicPr>
          <p:nvPr/>
        </p:nvPicPr>
        <p:blipFill>
          <a:blip r:embed="rId2"/>
          <a:stretch>
            <a:fillRect/>
          </a:stretch>
        </p:blipFill>
        <p:spPr>
          <a:xfrm>
            <a:off x="1001268" y="3817620"/>
            <a:ext cx="228600" cy="228600"/>
          </a:xfrm>
          <a:prstGeom prst="rect">
            <a:avLst/>
          </a:prstGeom>
        </p:spPr>
      </p:pic>
      <p:sp>
        <p:nvSpPr>
          <p:cNvPr id="12" name="Text 8"/>
          <p:cNvSpPr/>
          <p:nvPr/>
        </p:nvSpPr>
        <p:spPr>
          <a:xfrm>
            <a:off x="1508760" y="3270504"/>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What controls protect the data pipeline from supply-chain risk?</a:t>
            </a:r>
            <a:endParaRPr lang="en-US" sz="1150" dirty="0"/>
          </a:p>
        </p:txBody>
      </p:sp>
      <p:sp>
        <p:nvSpPr>
          <p:cNvPr id="13" name="Text 9"/>
          <p:cNvSpPr/>
          <p:nvPr/>
        </p:nvSpPr>
        <p:spPr>
          <a:xfrm>
            <a:off x="1508760" y="3563112"/>
            <a:ext cx="9902952" cy="1048512"/>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Strict OAuth application governance prevents self-authorized external data loaders; inference is decoupled from core CRM systems via an API gateway with short-lived, scoped tokens and continuous egress telemetry.</a:t>
            </a:r>
            <a:endParaRPr lang="en-US" sz="1150" dirty="0"/>
          </a:p>
        </p:txBody>
      </p:sp>
      <p:sp>
        <p:nvSpPr>
          <p:cNvPr id="14" name="Shape 10"/>
          <p:cNvSpPr/>
          <p:nvPr/>
        </p:nvSpPr>
        <p:spPr>
          <a:xfrm>
            <a:off x="548640" y="4849368"/>
            <a:ext cx="11091672" cy="1505712"/>
          </a:xfrm>
          <a:prstGeom prst="roundRect">
            <a:avLst>
              <a:gd name="adj" fmla="val 4251"/>
            </a:avLst>
          </a:prstGeom>
          <a:solidFill>
            <a:srgbClr val="F7FAFD"/>
          </a:solidFill>
          <a:ln/>
          <a:effectLst>
            <a:outerShdw sx="100000" sy="100000" kx="0" ky="0" algn="bl" rotWithShape="0" blurRad="127000" dist="38100" dir="5400000">
              <a:srgbClr val="14213D">
                <a:alpha val="12000"/>
              </a:srgbClr>
            </a:outerShdw>
          </a:effectLst>
        </p:spPr>
      </p:sp>
      <p:sp>
        <p:nvSpPr>
          <p:cNvPr id="15" name="Shape 11"/>
          <p:cNvSpPr/>
          <p:nvPr/>
        </p:nvSpPr>
        <p:spPr>
          <a:xfrm>
            <a:off x="886968" y="5373624"/>
            <a:ext cx="457200" cy="457200"/>
          </a:xfrm>
          <a:prstGeom prst="ellipse">
            <a:avLst/>
          </a:prstGeom>
          <a:solidFill>
            <a:srgbClr val="14213D"/>
          </a:solidFill>
          <a:ln/>
        </p:spPr>
      </p:sp>
      <p:pic>
        <p:nvPicPr>
          <p:cNvPr id="16" name="Image 2" descr="preencoded.png">    </p:cNvPr>
          <p:cNvPicPr>
            <a:picLocks noChangeAspect="1"/>
          </p:cNvPicPr>
          <p:nvPr/>
        </p:nvPicPr>
        <p:blipFill>
          <a:blip r:embed="rId3"/>
          <a:stretch>
            <a:fillRect/>
          </a:stretch>
        </p:blipFill>
        <p:spPr>
          <a:xfrm>
            <a:off x="1001268" y="5487924"/>
            <a:ext cx="228600" cy="228600"/>
          </a:xfrm>
          <a:prstGeom prst="rect">
            <a:avLst/>
          </a:prstGeom>
        </p:spPr>
      </p:pic>
      <p:sp>
        <p:nvSpPr>
          <p:cNvPr id="17" name="Text 12"/>
          <p:cNvSpPr/>
          <p:nvPr/>
        </p:nvSpPr>
        <p:spPr>
          <a:xfrm>
            <a:off x="1508760" y="4940808"/>
            <a:ext cx="9902952" cy="320040"/>
          </a:xfrm>
          <a:prstGeom prst="rect">
            <a:avLst/>
          </a:prstGeom>
          <a:noFill/>
          <a:ln/>
        </p:spPr>
        <p:txBody>
          <a:bodyPr wrap="square" lIns="0" tIns="0" rIns="0" bIns="0" rtlCol="0" anchor="t"/>
          <a:lstStyle/>
          <a:p>
            <a:pPr indent="0" marL="0">
              <a:buNone/>
            </a:pPr>
            <a:r>
              <a:rPr lang="en-US" sz="1150" b="1" dirty="0">
                <a:solidFill>
                  <a:srgbClr val="C97B1F"/>
                </a:solidFill>
                <a:latin typeface="Calibri" pitchFamily="34" charset="0"/>
                <a:ea typeface="Calibri" pitchFamily="34" charset="-122"/>
                <a:cs typeface="Calibri" pitchFamily="34" charset="-120"/>
              </a:rPr>
              <a:t>What is the overall governance posture?</a:t>
            </a:r>
            <a:endParaRPr lang="en-US" sz="1150" dirty="0"/>
          </a:p>
        </p:txBody>
      </p:sp>
      <p:sp>
        <p:nvSpPr>
          <p:cNvPr id="18" name="Text 13"/>
          <p:cNvSpPr/>
          <p:nvPr/>
        </p:nvSpPr>
        <p:spPr>
          <a:xfrm>
            <a:off x="1508760" y="5233416"/>
            <a:ext cx="9902952" cy="1048512"/>
          </a:xfrm>
          <a:prstGeom prst="rect">
            <a:avLst/>
          </a:prstGeom>
          <a:noFill/>
          <a:ln/>
        </p:spPr>
        <p:txBody>
          <a:bodyPr wrap="square" lIns="0" tIns="0" rIns="0" bIns="0" rtlCol="0" anchor="t"/>
          <a:lstStyle/>
          <a:p>
            <a:pPr indent="0" marL="0">
              <a:lnSpc>
                <a:spcPct val="115000"/>
              </a:lnSpc>
              <a:buNone/>
            </a:pPr>
            <a:r>
              <a:rPr lang="en-US" sz="1150" dirty="0">
                <a:solidFill>
                  <a:srgbClr val="1B2430"/>
                </a:solidFill>
                <a:latin typeface="Calibri" pitchFamily="34" charset="0"/>
                <a:ea typeface="Calibri" pitchFamily="34" charset="-122"/>
                <a:cs typeface="Calibri" pitchFamily="34" charset="-120"/>
              </a:rPr>
              <a:t>Compliance is treated as an active engineering constraint: regulatory language maps to measurable thresholds (e.g., Demographic Parity Ratio), and legal retains veto authority over model activation.</a:t>
            </a:r>
            <a:endParaRPr lang="en-US" sz="1150" dirty="0"/>
          </a:p>
        </p:txBody>
      </p:sp>
      <p:sp>
        <p:nvSpPr>
          <p:cNvPr id="19" name="Text 14"/>
          <p:cNvSpPr/>
          <p:nvPr/>
        </p:nvSpPr>
        <p:spPr>
          <a:xfrm>
            <a:off x="548640" y="6492240"/>
            <a:ext cx="6400800" cy="274320"/>
          </a:xfrm>
          <a:prstGeom prst="rect">
            <a:avLst/>
          </a:prstGeom>
          <a:noFill/>
          <a:ln/>
        </p:spPr>
        <p:txBody>
          <a:bodyPr wrap="square" lIns="0" tIns="0" rIns="0" bIns="0" rtlCol="0" anchor="ctr"/>
          <a:lstStyle/>
          <a:p>
            <a:pPr indent="0" marL="0">
              <a:buNone/>
            </a:pPr>
            <a:r>
              <a:rPr lang="en-US" sz="800" spc="120" kern="0" dirty="0">
                <a:solidFill>
                  <a:srgbClr val="9FADC2"/>
                </a:solidFill>
                <a:latin typeface="Calibri" pitchFamily="34" charset="0"/>
                <a:ea typeface="Calibri" pitchFamily="34" charset="-122"/>
                <a:cs typeface="Calibri" pitchFamily="34" charset="-120"/>
              </a:rPr>
              <a:t>RESPONSIBLE AI FOR PREDICTIVE UNDERWRITING</a:t>
            </a:r>
            <a:endParaRPr lang="en-US" sz="800" dirty="0"/>
          </a:p>
        </p:txBody>
      </p:sp>
      <p:sp>
        <p:nvSpPr>
          <p:cNvPr id="20" name="Text 15"/>
          <p:cNvSpPr/>
          <p:nvPr/>
        </p:nvSpPr>
        <p:spPr>
          <a:xfrm>
            <a:off x="11183112" y="6492240"/>
            <a:ext cx="457200" cy="274320"/>
          </a:xfrm>
          <a:prstGeom prst="rect">
            <a:avLst/>
          </a:prstGeom>
          <a:noFill/>
          <a:ln/>
        </p:spPr>
        <p:txBody>
          <a:bodyPr wrap="square" lIns="0" tIns="0" rIns="0" bIns="0" rtlCol="0" anchor="ctr"/>
          <a:lstStyle/>
          <a:p>
            <a:pPr algn="r" indent="0" marL="0">
              <a:buNone/>
            </a:pPr>
            <a:r>
              <a:rPr lang="en-US" sz="900" dirty="0">
                <a:solidFill>
                  <a:srgbClr val="9FADC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AI for Predictive Underwriting</dc:title>
  <dc:subject>PptxGenJS Presentation</dc:subject>
  <dc:creator>Joazil Giscard, Ziauddin Habibi</dc:creator>
  <cp:lastModifiedBy>Joazil Giscard, Ziauddin Habibi</cp:lastModifiedBy>
  <cp:revision>1</cp:revision>
  <dcterms:created xsi:type="dcterms:W3CDTF">2026-07-03T03:18:06Z</dcterms:created>
  <dcterms:modified xsi:type="dcterms:W3CDTF">2026-07-03T03:18:06Z</dcterms:modified>
</cp:coreProperties>
</file>